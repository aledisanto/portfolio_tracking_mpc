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1" r:id="rId5"/>
    <p:sldId id="262" r:id="rId6"/>
    <p:sldId id="264" r:id="rId7"/>
    <p:sldId id="266" r:id="rId8"/>
    <p:sldId id="267" r:id="rId9"/>
    <p:sldId id="263" r:id="rId10"/>
    <p:sldId id="268" r:id="rId11"/>
    <p:sldId id="269" r:id="rId12"/>
    <p:sldId id="270" r:id="rId13"/>
    <p:sldId id="271" r:id="rId14"/>
    <p:sldId id="272" r:id="rId15"/>
    <p:sldId id="278" r:id="rId16"/>
    <p:sldId id="277" r:id="rId17"/>
    <p:sldId id="273" r:id="rId18"/>
    <p:sldId id="274" r:id="rId19"/>
    <p:sldId id="275" r:id="rId20"/>
    <p:sldId id="276"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6" r:id="rId38"/>
    <p:sldId id="297" r:id="rId39"/>
    <p:sldId id="298" r:id="rId40"/>
    <p:sldId id="299" r:id="rId4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ata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4" Type="http://schemas.openxmlformats.org/officeDocument/2006/relationships/image" Target="../media/image43.svg"/></Relationships>
</file>

<file path=ppt/diagrams/_rels/data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4" Type="http://schemas.openxmlformats.org/officeDocument/2006/relationships/image" Target="../media/image47.svg"/></Relationships>
</file>

<file path=ppt/diagrams/_rels/data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4" Type="http://schemas.openxmlformats.org/officeDocument/2006/relationships/image" Target="../media/image5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4" Type="http://schemas.openxmlformats.org/officeDocument/2006/relationships/image" Target="../media/image43.svg"/></Relationships>
</file>

<file path=ppt/diagrams/_rels/drawing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4" Type="http://schemas.openxmlformats.org/officeDocument/2006/relationships/image" Target="../media/image47.svg"/></Relationships>
</file>

<file path=ppt/diagrams/_rels/drawing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4" Type="http://schemas.openxmlformats.org/officeDocument/2006/relationships/image" Target="../media/image5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2BFA51-D635-4287-A46B-24D6F6838D5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A3D44FB-C1FE-4D0F-B45D-E98E1035AB24}">
      <dgm:prSet/>
      <dgm:spPr/>
      <dgm:t>
        <a:bodyPr/>
        <a:lstStyle/>
        <a:p>
          <a:pPr>
            <a:lnSpc>
              <a:spcPct val="100000"/>
            </a:lnSpc>
          </a:pPr>
          <a:r>
            <a:rPr lang="it-IT" b="1" dirty="0">
              <a:latin typeface="Aptos Narrow" panose="020B0004020202020204" pitchFamily="34" charset="0"/>
            </a:rPr>
            <a:t>Passive Management:</a:t>
          </a:r>
          <a:r>
            <a:rPr lang="it-IT" dirty="0">
              <a:latin typeface="Aptos Narrow" panose="020B0004020202020204" pitchFamily="34" charset="0"/>
            </a:rPr>
            <a:t> </a:t>
          </a:r>
          <a:r>
            <a:rPr lang="en-US" dirty="0">
              <a:latin typeface="Aptos Narrow" panose="020B0004020202020204" pitchFamily="34" charset="0"/>
            </a:rPr>
            <a:t>: starts from the assumption known in finance as the "Efficient Markets Hypothesis", therefore, the goal is </a:t>
          </a:r>
          <a:r>
            <a:rPr lang="en-US" b="1" dirty="0">
              <a:latin typeface="Aptos Narrow" panose="020B0004020202020204" pitchFamily="34" charset="0"/>
            </a:rPr>
            <a:t>tracking a predetermined reference </a:t>
          </a:r>
          <a:endParaRPr lang="it-IT" b="1" dirty="0">
            <a:latin typeface="Aptos Narrow" panose="020B0004020202020204" pitchFamily="34" charset="0"/>
          </a:endParaRPr>
        </a:p>
      </dgm:t>
    </dgm:pt>
    <dgm:pt modelId="{465AD268-45C8-4FBF-B4CD-B47645E5F8D7}" type="parTrans" cxnId="{E91B881C-9318-4FF5-8EE5-B5472CF3F561}">
      <dgm:prSet/>
      <dgm:spPr/>
      <dgm:t>
        <a:bodyPr/>
        <a:lstStyle/>
        <a:p>
          <a:endParaRPr lang="en-US"/>
        </a:p>
      </dgm:t>
    </dgm:pt>
    <dgm:pt modelId="{9BD9140C-B16C-40A9-A274-B5FDA0666781}" type="sibTrans" cxnId="{E91B881C-9318-4FF5-8EE5-B5472CF3F561}">
      <dgm:prSet/>
      <dgm:spPr/>
      <dgm:t>
        <a:bodyPr/>
        <a:lstStyle/>
        <a:p>
          <a:endParaRPr lang="en-US"/>
        </a:p>
      </dgm:t>
    </dgm:pt>
    <dgm:pt modelId="{060B617F-B7B0-4DDB-971F-D60CF1CC6508}">
      <dgm:prSet/>
      <dgm:spPr/>
      <dgm:t>
        <a:bodyPr/>
        <a:lstStyle/>
        <a:p>
          <a:pPr>
            <a:lnSpc>
              <a:spcPct val="100000"/>
            </a:lnSpc>
          </a:pPr>
          <a:r>
            <a:rPr lang="it-IT" b="1" dirty="0">
              <a:latin typeface="Aptos Narrow" panose="020B0004020202020204" pitchFamily="34" charset="0"/>
            </a:rPr>
            <a:t>Active Management: </a:t>
          </a:r>
          <a:r>
            <a:rPr lang="en-US" dirty="0">
              <a:latin typeface="Aptos Narrow" panose="020B0004020202020204" pitchFamily="34" charset="0"/>
            </a:rPr>
            <a:t>starts from the opposite assumption and aims to "beat the market"</a:t>
          </a:r>
          <a:endParaRPr lang="it-IT" dirty="0">
            <a:latin typeface="Aptos Narrow" panose="020B0004020202020204" pitchFamily="34" charset="0"/>
          </a:endParaRPr>
        </a:p>
      </dgm:t>
    </dgm:pt>
    <dgm:pt modelId="{D6011DD9-980B-4DB8-8DB4-902A7DAAF9B1}" type="parTrans" cxnId="{42FC0CFB-DEA3-4ED9-AD95-B7E5C8AE8E99}">
      <dgm:prSet/>
      <dgm:spPr/>
      <dgm:t>
        <a:bodyPr/>
        <a:lstStyle/>
        <a:p>
          <a:endParaRPr lang="en-US"/>
        </a:p>
      </dgm:t>
    </dgm:pt>
    <dgm:pt modelId="{61B2038A-8060-4B5E-B5DF-E7288CEBDE08}" type="sibTrans" cxnId="{42FC0CFB-DEA3-4ED9-AD95-B7E5C8AE8E99}">
      <dgm:prSet/>
      <dgm:spPr/>
      <dgm:t>
        <a:bodyPr/>
        <a:lstStyle/>
        <a:p>
          <a:endParaRPr lang="en-US"/>
        </a:p>
      </dgm:t>
    </dgm:pt>
    <dgm:pt modelId="{9576A913-C003-4A13-93D7-11BFBE1B1DC0}" type="pres">
      <dgm:prSet presAssocID="{E42BFA51-D635-4287-A46B-24D6F6838D5C}" presName="root" presStyleCnt="0">
        <dgm:presLayoutVars>
          <dgm:dir/>
          <dgm:resizeHandles val="exact"/>
        </dgm:presLayoutVars>
      </dgm:prSet>
      <dgm:spPr/>
    </dgm:pt>
    <dgm:pt modelId="{07A67FD6-F8DC-45F9-9783-D6CA5C725655}" type="pres">
      <dgm:prSet presAssocID="{6A3D44FB-C1FE-4D0F-B45D-E98E1035AB24}" presName="compNode" presStyleCnt="0"/>
      <dgm:spPr/>
    </dgm:pt>
    <dgm:pt modelId="{FB12B1C0-19A5-4C5B-8F21-4F762549E20E}" type="pres">
      <dgm:prSet presAssocID="{6A3D44FB-C1FE-4D0F-B45D-E98E1035AB24}" presName="bgRect" presStyleLbl="bgShp" presStyleIdx="0" presStyleCnt="2"/>
      <dgm:spPr/>
    </dgm:pt>
    <dgm:pt modelId="{D99960B2-A0D0-47E5-AFA1-5E20180115BE}" type="pres">
      <dgm:prSet presAssocID="{6A3D44FB-C1FE-4D0F-B45D-E98E1035AB2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enaro"/>
        </a:ext>
      </dgm:extLst>
    </dgm:pt>
    <dgm:pt modelId="{814B847C-ACB5-401F-A86C-2250F905ED23}" type="pres">
      <dgm:prSet presAssocID="{6A3D44FB-C1FE-4D0F-B45D-E98E1035AB24}" presName="spaceRect" presStyleCnt="0"/>
      <dgm:spPr/>
    </dgm:pt>
    <dgm:pt modelId="{2FD1C1EB-9E4E-4716-AE4A-A24A25645481}" type="pres">
      <dgm:prSet presAssocID="{6A3D44FB-C1FE-4D0F-B45D-E98E1035AB24}" presName="parTx" presStyleLbl="revTx" presStyleIdx="0" presStyleCnt="2">
        <dgm:presLayoutVars>
          <dgm:chMax val="0"/>
          <dgm:chPref val="0"/>
        </dgm:presLayoutVars>
      </dgm:prSet>
      <dgm:spPr/>
    </dgm:pt>
    <dgm:pt modelId="{21D74F2A-1A93-472C-8D4B-28BECF01C596}" type="pres">
      <dgm:prSet presAssocID="{9BD9140C-B16C-40A9-A274-B5FDA0666781}" presName="sibTrans" presStyleCnt="0"/>
      <dgm:spPr/>
    </dgm:pt>
    <dgm:pt modelId="{7D9C5F32-B501-40CD-8FAA-C37EE6FAD9FF}" type="pres">
      <dgm:prSet presAssocID="{060B617F-B7B0-4DDB-971F-D60CF1CC6508}" presName="compNode" presStyleCnt="0"/>
      <dgm:spPr/>
    </dgm:pt>
    <dgm:pt modelId="{7987B08F-2E01-45AB-BE1E-DFA83075A55A}" type="pres">
      <dgm:prSet presAssocID="{060B617F-B7B0-4DDB-971F-D60CF1CC6508}" presName="bgRect" presStyleLbl="bgShp" presStyleIdx="1" presStyleCnt="2"/>
      <dgm:spPr/>
    </dgm:pt>
    <dgm:pt modelId="{BB72D215-ACEB-46D2-93A4-6BE7B621E848}" type="pres">
      <dgm:prSet presAssocID="{060B617F-B7B0-4DDB-971F-D60CF1CC650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iro a segno"/>
        </a:ext>
      </dgm:extLst>
    </dgm:pt>
    <dgm:pt modelId="{1BA3C707-04F7-41E1-99C8-0F478CAF27A9}" type="pres">
      <dgm:prSet presAssocID="{060B617F-B7B0-4DDB-971F-D60CF1CC6508}" presName="spaceRect" presStyleCnt="0"/>
      <dgm:spPr/>
    </dgm:pt>
    <dgm:pt modelId="{9B87A5B0-F2E7-4878-B062-ACD3D7BDEA14}" type="pres">
      <dgm:prSet presAssocID="{060B617F-B7B0-4DDB-971F-D60CF1CC6508}" presName="parTx" presStyleLbl="revTx" presStyleIdx="1" presStyleCnt="2">
        <dgm:presLayoutVars>
          <dgm:chMax val="0"/>
          <dgm:chPref val="0"/>
        </dgm:presLayoutVars>
      </dgm:prSet>
      <dgm:spPr/>
    </dgm:pt>
  </dgm:ptLst>
  <dgm:cxnLst>
    <dgm:cxn modelId="{E91B881C-9318-4FF5-8EE5-B5472CF3F561}" srcId="{E42BFA51-D635-4287-A46B-24D6F6838D5C}" destId="{6A3D44FB-C1FE-4D0F-B45D-E98E1035AB24}" srcOrd="0" destOrd="0" parTransId="{465AD268-45C8-4FBF-B4CD-B47645E5F8D7}" sibTransId="{9BD9140C-B16C-40A9-A274-B5FDA0666781}"/>
    <dgm:cxn modelId="{3A55A724-B203-459C-BE34-9D4C9E9A99AE}" type="presOf" srcId="{6A3D44FB-C1FE-4D0F-B45D-E98E1035AB24}" destId="{2FD1C1EB-9E4E-4716-AE4A-A24A25645481}" srcOrd="0" destOrd="0" presId="urn:microsoft.com/office/officeart/2018/2/layout/IconVerticalSolidList"/>
    <dgm:cxn modelId="{53624B70-C1FB-40EB-A3B1-67F25EED071E}" type="presOf" srcId="{E42BFA51-D635-4287-A46B-24D6F6838D5C}" destId="{9576A913-C003-4A13-93D7-11BFBE1B1DC0}" srcOrd="0" destOrd="0" presId="urn:microsoft.com/office/officeart/2018/2/layout/IconVerticalSolidList"/>
    <dgm:cxn modelId="{42FC0CFB-DEA3-4ED9-AD95-B7E5C8AE8E99}" srcId="{E42BFA51-D635-4287-A46B-24D6F6838D5C}" destId="{060B617F-B7B0-4DDB-971F-D60CF1CC6508}" srcOrd="1" destOrd="0" parTransId="{D6011DD9-980B-4DB8-8DB4-902A7DAAF9B1}" sibTransId="{61B2038A-8060-4B5E-B5DF-E7288CEBDE08}"/>
    <dgm:cxn modelId="{0B506BFD-BB58-463F-B881-788F8F2AA86D}" type="presOf" srcId="{060B617F-B7B0-4DDB-971F-D60CF1CC6508}" destId="{9B87A5B0-F2E7-4878-B062-ACD3D7BDEA14}" srcOrd="0" destOrd="0" presId="urn:microsoft.com/office/officeart/2018/2/layout/IconVerticalSolidList"/>
    <dgm:cxn modelId="{2561BC65-DB96-40ED-8917-0A7B9897CA17}" type="presParOf" srcId="{9576A913-C003-4A13-93D7-11BFBE1B1DC0}" destId="{07A67FD6-F8DC-45F9-9783-D6CA5C725655}" srcOrd="0" destOrd="0" presId="urn:microsoft.com/office/officeart/2018/2/layout/IconVerticalSolidList"/>
    <dgm:cxn modelId="{539ED571-225B-4531-BBAE-B92CBF46D2C0}" type="presParOf" srcId="{07A67FD6-F8DC-45F9-9783-D6CA5C725655}" destId="{FB12B1C0-19A5-4C5B-8F21-4F762549E20E}" srcOrd="0" destOrd="0" presId="urn:microsoft.com/office/officeart/2018/2/layout/IconVerticalSolidList"/>
    <dgm:cxn modelId="{C0F2DACE-1116-4100-A3C8-25B1D28D21C6}" type="presParOf" srcId="{07A67FD6-F8DC-45F9-9783-D6CA5C725655}" destId="{D99960B2-A0D0-47E5-AFA1-5E20180115BE}" srcOrd="1" destOrd="0" presId="urn:microsoft.com/office/officeart/2018/2/layout/IconVerticalSolidList"/>
    <dgm:cxn modelId="{93EC60EE-7708-465D-91CF-F1B444810DE5}" type="presParOf" srcId="{07A67FD6-F8DC-45F9-9783-D6CA5C725655}" destId="{814B847C-ACB5-401F-A86C-2250F905ED23}" srcOrd="2" destOrd="0" presId="urn:microsoft.com/office/officeart/2018/2/layout/IconVerticalSolidList"/>
    <dgm:cxn modelId="{F4CBF61A-02F7-464E-9E81-1ABF24383B7E}" type="presParOf" srcId="{07A67FD6-F8DC-45F9-9783-D6CA5C725655}" destId="{2FD1C1EB-9E4E-4716-AE4A-A24A25645481}" srcOrd="3" destOrd="0" presId="urn:microsoft.com/office/officeart/2018/2/layout/IconVerticalSolidList"/>
    <dgm:cxn modelId="{38057CE0-88E0-480F-9EFF-A65BE6CDD472}" type="presParOf" srcId="{9576A913-C003-4A13-93D7-11BFBE1B1DC0}" destId="{21D74F2A-1A93-472C-8D4B-28BECF01C596}" srcOrd="1" destOrd="0" presId="urn:microsoft.com/office/officeart/2018/2/layout/IconVerticalSolidList"/>
    <dgm:cxn modelId="{01F0F84D-2274-4C7F-B84F-1B6BE8420DF0}" type="presParOf" srcId="{9576A913-C003-4A13-93D7-11BFBE1B1DC0}" destId="{7D9C5F32-B501-40CD-8FAA-C37EE6FAD9FF}" srcOrd="2" destOrd="0" presId="urn:microsoft.com/office/officeart/2018/2/layout/IconVerticalSolidList"/>
    <dgm:cxn modelId="{9294AF00-5269-4509-B85C-46259312A321}" type="presParOf" srcId="{7D9C5F32-B501-40CD-8FAA-C37EE6FAD9FF}" destId="{7987B08F-2E01-45AB-BE1E-DFA83075A55A}" srcOrd="0" destOrd="0" presId="urn:microsoft.com/office/officeart/2018/2/layout/IconVerticalSolidList"/>
    <dgm:cxn modelId="{A43BF351-6546-49BE-B2DE-13A5FED0E7B0}" type="presParOf" srcId="{7D9C5F32-B501-40CD-8FAA-C37EE6FAD9FF}" destId="{BB72D215-ACEB-46D2-93A4-6BE7B621E848}" srcOrd="1" destOrd="0" presId="urn:microsoft.com/office/officeart/2018/2/layout/IconVerticalSolidList"/>
    <dgm:cxn modelId="{70CC94A5-D671-408B-935D-1B54104C6170}" type="presParOf" srcId="{7D9C5F32-B501-40CD-8FAA-C37EE6FAD9FF}" destId="{1BA3C707-04F7-41E1-99C8-0F478CAF27A9}" srcOrd="2" destOrd="0" presId="urn:microsoft.com/office/officeart/2018/2/layout/IconVerticalSolidList"/>
    <dgm:cxn modelId="{9847BF41-0083-4461-9285-92D9523AEFAD}" type="presParOf" srcId="{7D9C5F32-B501-40CD-8FAA-C37EE6FAD9FF}" destId="{9B87A5B0-F2E7-4878-B062-ACD3D7BDEA1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CE54CB-A3F6-40F1-A6A7-19B8376727F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9F6B6FE-4A61-4092-9520-5097F1D9BA47}">
      <dgm:prSet custT="1"/>
      <dgm:spPr/>
      <dgm:t>
        <a:bodyPr/>
        <a:lstStyle/>
        <a:p>
          <a:r>
            <a:rPr lang="en-US" sz="2100" dirty="0">
              <a:latin typeface="Aptos Narrow" panose="020B0004020202020204" pitchFamily="34" charset="0"/>
            </a:rPr>
            <a:t>The paper considers </a:t>
          </a:r>
          <a:r>
            <a:rPr lang="en-US" sz="2100" b="1" dirty="0">
              <a:latin typeface="Aptos Narrow" panose="020B0004020202020204" pitchFamily="34" charset="0"/>
            </a:rPr>
            <a:t>Model Predictive Control (MPC) </a:t>
          </a:r>
          <a:r>
            <a:rPr lang="en-US" sz="2100" dirty="0">
              <a:latin typeface="Aptos Narrow" panose="020B0004020202020204" pitchFamily="34" charset="0"/>
            </a:rPr>
            <a:t>to manage investment portfolio monitoring through a passive strategy with an efficient dynamic approach. </a:t>
          </a:r>
          <a:endParaRPr lang="it-IT" sz="2100" dirty="0">
            <a:latin typeface="Aptos Narrow" panose="020B0004020202020204" pitchFamily="34" charset="0"/>
          </a:endParaRPr>
        </a:p>
      </dgm:t>
    </dgm:pt>
    <dgm:pt modelId="{AF945D13-8D2F-4815-8A69-9CA9A026FDB5}" type="parTrans" cxnId="{A5F18011-2C41-400D-95B0-5554DE47ADA6}">
      <dgm:prSet/>
      <dgm:spPr/>
      <dgm:t>
        <a:bodyPr/>
        <a:lstStyle/>
        <a:p>
          <a:endParaRPr lang="en-US"/>
        </a:p>
      </dgm:t>
    </dgm:pt>
    <dgm:pt modelId="{184F5927-BD17-4B0E-9048-87A951679596}" type="sibTrans" cxnId="{A5F18011-2C41-400D-95B0-5554DE47ADA6}">
      <dgm:prSet/>
      <dgm:spPr/>
      <dgm:t>
        <a:bodyPr/>
        <a:lstStyle/>
        <a:p>
          <a:endParaRPr lang="en-US"/>
        </a:p>
      </dgm:t>
    </dgm:pt>
    <dgm:pt modelId="{EC2CFE5E-D2EE-40BE-8601-06B51688C61D}">
      <dgm:prSet custT="1"/>
      <dgm:spPr/>
      <dgm:t>
        <a:bodyPr/>
        <a:lstStyle/>
        <a:p>
          <a:r>
            <a:rPr lang="en-US" sz="2100" dirty="0">
              <a:latin typeface="Aptos Narrow" panose="020B0004020202020204" pitchFamily="34" charset="0"/>
            </a:rPr>
            <a:t>MPC is a method that uses an </a:t>
          </a:r>
          <a:r>
            <a:rPr lang="en-US" sz="2100" b="1" dirty="0">
              <a:latin typeface="Aptos Narrow" panose="020B0004020202020204" pitchFamily="34" charset="0"/>
            </a:rPr>
            <a:t>optimization algorithm </a:t>
          </a:r>
          <a:r>
            <a:rPr lang="en-US" sz="2100" dirty="0">
              <a:latin typeface="Aptos Narrow" panose="020B0004020202020204" pitchFamily="34" charset="0"/>
            </a:rPr>
            <a:t>that works online to obtain a control sequence that can report the desired output, minimizing the cost function. </a:t>
          </a:r>
          <a:endParaRPr lang="it-IT" sz="2100" dirty="0">
            <a:latin typeface="Aptos Narrow" panose="020B0004020202020204" pitchFamily="34" charset="0"/>
          </a:endParaRPr>
        </a:p>
      </dgm:t>
    </dgm:pt>
    <dgm:pt modelId="{9E905087-9EBF-4E79-9CE6-4D09E2F055E5}" type="parTrans" cxnId="{9871FA17-AC71-464E-B966-311CC0BDB824}">
      <dgm:prSet/>
      <dgm:spPr/>
      <dgm:t>
        <a:bodyPr/>
        <a:lstStyle/>
        <a:p>
          <a:endParaRPr lang="en-US"/>
        </a:p>
      </dgm:t>
    </dgm:pt>
    <dgm:pt modelId="{357D121D-3CCD-450B-B6E7-D41372D8A0F4}" type="sibTrans" cxnId="{9871FA17-AC71-464E-B966-311CC0BDB824}">
      <dgm:prSet/>
      <dgm:spPr/>
      <dgm:t>
        <a:bodyPr/>
        <a:lstStyle/>
        <a:p>
          <a:endParaRPr lang="en-US"/>
        </a:p>
      </dgm:t>
    </dgm:pt>
    <dgm:pt modelId="{520223E8-5F63-4E75-86BA-2A9029F97468}">
      <dgm:prSet custT="1"/>
      <dgm:spPr/>
      <dgm:t>
        <a:bodyPr/>
        <a:lstStyle/>
        <a:p>
          <a:r>
            <a:rPr lang="en-US" sz="2100" dirty="0">
              <a:latin typeface="Aptos Narrow" panose="020B0004020202020204" pitchFamily="34" charset="0"/>
            </a:rPr>
            <a:t>To solve an optimal control problem, use the technique of </a:t>
          </a:r>
          <a:r>
            <a:rPr lang="it-IT" sz="2100" b="1" dirty="0" err="1">
              <a:latin typeface="Aptos Narrow" panose="020B0004020202020204" pitchFamily="34" charset="0"/>
            </a:rPr>
            <a:t>Receding</a:t>
          </a:r>
          <a:r>
            <a:rPr lang="it-IT" sz="2100" b="1" dirty="0">
              <a:latin typeface="Aptos Narrow" panose="020B0004020202020204" pitchFamily="34" charset="0"/>
            </a:rPr>
            <a:t> Horizon Control (RHC)</a:t>
          </a:r>
          <a:endParaRPr lang="en-US" sz="2100" dirty="0">
            <a:latin typeface="Aptos Narrow" panose="020B0004020202020204" pitchFamily="34" charset="0"/>
          </a:endParaRPr>
        </a:p>
      </dgm:t>
    </dgm:pt>
    <dgm:pt modelId="{D1364D18-B2F5-411E-862D-7F02696C7D82}" type="parTrans" cxnId="{825FE352-E110-473D-898E-2A43144DC749}">
      <dgm:prSet/>
      <dgm:spPr/>
      <dgm:t>
        <a:bodyPr/>
        <a:lstStyle/>
        <a:p>
          <a:endParaRPr lang="en-US"/>
        </a:p>
      </dgm:t>
    </dgm:pt>
    <dgm:pt modelId="{A7140586-F9F3-4E8A-B8C9-22E113C0B959}" type="sibTrans" cxnId="{825FE352-E110-473D-898E-2A43144DC749}">
      <dgm:prSet/>
      <dgm:spPr/>
      <dgm:t>
        <a:bodyPr/>
        <a:lstStyle/>
        <a:p>
          <a:endParaRPr lang="en-US"/>
        </a:p>
      </dgm:t>
    </dgm:pt>
    <dgm:pt modelId="{5E3FA013-6341-4628-B26D-1E18F025C299}" type="pres">
      <dgm:prSet presAssocID="{45CE54CB-A3F6-40F1-A6A7-19B8376727F1}" presName="root" presStyleCnt="0">
        <dgm:presLayoutVars>
          <dgm:dir/>
          <dgm:resizeHandles val="exact"/>
        </dgm:presLayoutVars>
      </dgm:prSet>
      <dgm:spPr/>
    </dgm:pt>
    <dgm:pt modelId="{AE508E52-E481-4941-B7F1-B79437BE1E12}" type="pres">
      <dgm:prSet presAssocID="{29F6B6FE-4A61-4092-9520-5097F1D9BA47}" presName="compNode" presStyleCnt="0"/>
      <dgm:spPr/>
    </dgm:pt>
    <dgm:pt modelId="{35735709-FCE6-4B65-9E85-DA19CFDC6E8A}" type="pres">
      <dgm:prSet presAssocID="{29F6B6FE-4A61-4092-9520-5097F1D9BA47}" presName="bgRect" presStyleLbl="bgShp" presStyleIdx="0" presStyleCnt="3"/>
      <dgm:spPr/>
    </dgm:pt>
    <dgm:pt modelId="{5F8D97DE-B12C-4FCB-BA36-55DEA106756C}" type="pres">
      <dgm:prSet presAssocID="{29F6B6FE-4A61-4092-9520-5097F1D9BA4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ortafoglio"/>
        </a:ext>
      </dgm:extLst>
    </dgm:pt>
    <dgm:pt modelId="{44E02BF6-D605-4F84-8FBB-6E96098EC6D1}" type="pres">
      <dgm:prSet presAssocID="{29F6B6FE-4A61-4092-9520-5097F1D9BA47}" presName="spaceRect" presStyleCnt="0"/>
      <dgm:spPr/>
    </dgm:pt>
    <dgm:pt modelId="{54A41EFB-D692-4865-8EB3-12A55A9295C4}" type="pres">
      <dgm:prSet presAssocID="{29F6B6FE-4A61-4092-9520-5097F1D9BA47}" presName="parTx" presStyleLbl="revTx" presStyleIdx="0" presStyleCnt="3">
        <dgm:presLayoutVars>
          <dgm:chMax val="0"/>
          <dgm:chPref val="0"/>
        </dgm:presLayoutVars>
      </dgm:prSet>
      <dgm:spPr/>
    </dgm:pt>
    <dgm:pt modelId="{044C490B-440C-45A6-9086-1D73CB031DA9}" type="pres">
      <dgm:prSet presAssocID="{184F5927-BD17-4B0E-9048-87A951679596}" presName="sibTrans" presStyleCnt="0"/>
      <dgm:spPr/>
    </dgm:pt>
    <dgm:pt modelId="{B1E9DBF7-01C8-4BEB-843C-6DA05E273935}" type="pres">
      <dgm:prSet presAssocID="{EC2CFE5E-D2EE-40BE-8601-06B51688C61D}" presName="compNode" presStyleCnt="0"/>
      <dgm:spPr/>
    </dgm:pt>
    <dgm:pt modelId="{10FD03B3-3F3D-4016-BB7F-0CB5523147A4}" type="pres">
      <dgm:prSet presAssocID="{EC2CFE5E-D2EE-40BE-8601-06B51688C61D}" presName="bgRect" presStyleLbl="bgShp" presStyleIdx="1" presStyleCnt="3"/>
      <dgm:spPr/>
    </dgm:pt>
    <dgm:pt modelId="{6F8FE0D8-2E2D-4844-80CA-387265515F5B}" type="pres">
      <dgm:prSet presAssocID="{EC2CFE5E-D2EE-40BE-8601-06B51688C61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ngranaggi"/>
        </a:ext>
      </dgm:extLst>
    </dgm:pt>
    <dgm:pt modelId="{71EFE431-023E-4995-BA97-527F90DBB0D5}" type="pres">
      <dgm:prSet presAssocID="{EC2CFE5E-D2EE-40BE-8601-06B51688C61D}" presName="spaceRect" presStyleCnt="0"/>
      <dgm:spPr/>
    </dgm:pt>
    <dgm:pt modelId="{F482425B-B865-4FCA-B80B-3AD0194E6159}" type="pres">
      <dgm:prSet presAssocID="{EC2CFE5E-D2EE-40BE-8601-06B51688C61D}" presName="parTx" presStyleLbl="revTx" presStyleIdx="1" presStyleCnt="3">
        <dgm:presLayoutVars>
          <dgm:chMax val="0"/>
          <dgm:chPref val="0"/>
        </dgm:presLayoutVars>
      </dgm:prSet>
      <dgm:spPr/>
    </dgm:pt>
    <dgm:pt modelId="{549D2EFA-CD8F-4AF4-A7FF-38B68FC92635}" type="pres">
      <dgm:prSet presAssocID="{357D121D-3CCD-450B-B6E7-D41372D8A0F4}" presName="sibTrans" presStyleCnt="0"/>
      <dgm:spPr/>
    </dgm:pt>
    <dgm:pt modelId="{E4B9EFF4-83F4-4CCE-BA0D-0392B44C6650}" type="pres">
      <dgm:prSet presAssocID="{520223E8-5F63-4E75-86BA-2A9029F97468}" presName="compNode" presStyleCnt="0"/>
      <dgm:spPr/>
    </dgm:pt>
    <dgm:pt modelId="{A62C8E80-D7F0-473A-8C37-4DAA92415923}" type="pres">
      <dgm:prSet presAssocID="{520223E8-5F63-4E75-86BA-2A9029F97468}" presName="bgRect" presStyleLbl="bgShp" presStyleIdx="2" presStyleCnt="3"/>
      <dgm:spPr/>
    </dgm:pt>
    <dgm:pt modelId="{0315B91E-C2DC-4B7B-AD79-2598E72EC537}" type="pres">
      <dgm:prSet presAssocID="{520223E8-5F63-4E75-86BA-2A9029F9746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nching Diagram"/>
        </a:ext>
      </dgm:extLst>
    </dgm:pt>
    <dgm:pt modelId="{5E0644B0-05AA-4378-AB9A-55FEDB026100}" type="pres">
      <dgm:prSet presAssocID="{520223E8-5F63-4E75-86BA-2A9029F97468}" presName="spaceRect" presStyleCnt="0"/>
      <dgm:spPr/>
    </dgm:pt>
    <dgm:pt modelId="{CD0F7136-FF38-4D14-BBB7-6D29E6ADB351}" type="pres">
      <dgm:prSet presAssocID="{520223E8-5F63-4E75-86BA-2A9029F97468}" presName="parTx" presStyleLbl="revTx" presStyleIdx="2" presStyleCnt="3">
        <dgm:presLayoutVars>
          <dgm:chMax val="0"/>
          <dgm:chPref val="0"/>
        </dgm:presLayoutVars>
      </dgm:prSet>
      <dgm:spPr/>
    </dgm:pt>
  </dgm:ptLst>
  <dgm:cxnLst>
    <dgm:cxn modelId="{A5F18011-2C41-400D-95B0-5554DE47ADA6}" srcId="{45CE54CB-A3F6-40F1-A6A7-19B8376727F1}" destId="{29F6B6FE-4A61-4092-9520-5097F1D9BA47}" srcOrd="0" destOrd="0" parTransId="{AF945D13-8D2F-4815-8A69-9CA9A026FDB5}" sibTransId="{184F5927-BD17-4B0E-9048-87A951679596}"/>
    <dgm:cxn modelId="{3B930915-D44A-455E-8D9F-D9BB6E7A0A79}" type="presOf" srcId="{520223E8-5F63-4E75-86BA-2A9029F97468}" destId="{CD0F7136-FF38-4D14-BBB7-6D29E6ADB351}" srcOrd="0" destOrd="0" presId="urn:microsoft.com/office/officeart/2018/2/layout/IconVerticalSolidList"/>
    <dgm:cxn modelId="{9871FA17-AC71-464E-B966-311CC0BDB824}" srcId="{45CE54CB-A3F6-40F1-A6A7-19B8376727F1}" destId="{EC2CFE5E-D2EE-40BE-8601-06B51688C61D}" srcOrd="1" destOrd="0" parTransId="{9E905087-9EBF-4E79-9CE6-4D09E2F055E5}" sibTransId="{357D121D-3CCD-450B-B6E7-D41372D8A0F4}"/>
    <dgm:cxn modelId="{D5158E66-7D94-4AC0-8271-54F685B4684B}" type="presOf" srcId="{EC2CFE5E-D2EE-40BE-8601-06B51688C61D}" destId="{F482425B-B865-4FCA-B80B-3AD0194E6159}" srcOrd="0" destOrd="0" presId="urn:microsoft.com/office/officeart/2018/2/layout/IconVerticalSolidList"/>
    <dgm:cxn modelId="{825FE352-E110-473D-898E-2A43144DC749}" srcId="{45CE54CB-A3F6-40F1-A6A7-19B8376727F1}" destId="{520223E8-5F63-4E75-86BA-2A9029F97468}" srcOrd="2" destOrd="0" parTransId="{D1364D18-B2F5-411E-862D-7F02696C7D82}" sibTransId="{A7140586-F9F3-4E8A-B8C9-22E113C0B959}"/>
    <dgm:cxn modelId="{43AF28E4-1885-4678-AC45-BFDC4C230B26}" type="presOf" srcId="{29F6B6FE-4A61-4092-9520-5097F1D9BA47}" destId="{54A41EFB-D692-4865-8EB3-12A55A9295C4}" srcOrd="0" destOrd="0" presId="urn:microsoft.com/office/officeart/2018/2/layout/IconVerticalSolidList"/>
    <dgm:cxn modelId="{F11AD0E7-B69A-4DC2-B6BA-ED301D33A7F0}" type="presOf" srcId="{45CE54CB-A3F6-40F1-A6A7-19B8376727F1}" destId="{5E3FA013-6341-4628-B26D-1E18F025C299}" srcOrd="0" destOrd="0" presId="urn:microsoft.com/office/officeart/2018/2/layout/IconVerticalSolidList"/>
    <dgm:cxn modelId="{F3A3D13C-9C32-4C0D-8F13-E46A384A5727}" type="presParOf" srcId="{5E3FA013-6341-4628-B26D-1E18F025C299}" destId="{AE508E52-E481-4941-B7F1-B79437BE1E12}" srcOrd="0" destOrd="0" presId="urn:microsoft.com/office/officeart/2018/2/layout/IconVerticalSolidList"/>
    <dgm:cxn modelId="{A9355682-D174-4A2E-8E82-E5F3F58C72C6}" type="presParOf" srcId="{AE508E52-E481-4941-B7F1-B79437BE1E12}" destId="{35735709-FCE6-4B65-9E85-DA19CFDC6E8A}" srcOrd="0" destOrd="0" presId="urn:microsoft.com/office/officeart/2018/2/layout/IconVerticalSolidList"/>
    <dgm:cxn modelId="{3CE80A78-7921-4CB0-9BB8-6C0C3FE1E63C}" type="presParOf" srcId="{AE508E52-E481-4941-B7F1-B79437BE1E12}" destId="{5F8D97DE-B12C-4FCB-BA36-55DEA106756C}" srcOrd="1" destOrd="0" presId="urn:microsoft.com/office/officeart/2018/2/layout/IconVerticalSolidList"/>
    <dgm:cxn modelId="{DCFBEEBE-6A0D-40F9-8EA6-D2030D12C088}" type="presParOf" srcId="{AE508E52-E481-4941-B7F1-B79437BE1E12}" destId="{44E02BF6-D605-4F84-8FBB-6E96098EC6D1}" srcOrd="2" destOrd="0" presId="urn:microsoft.com/office/officeart/2018/2/layout/IconVerticalSolidList"/>
    <dgm:cxn modelId="{2EE41160-50E0-4064-9EDC-488C6104F8F4}" type="presParOf" srcId="{AE508E52-E481-4941-B7F1-B79437BE1E12}" destId="{54A41EFB-D692-4865-8EB3-12A55A9295C4}" srcOrd="3" destOrd="0" presId="urn:microsoft.com/office/officeart/2018/2/layout/IconVerticalSolidList"/>
    <dgm:cxn modelId="{59BBC58D-D965-4F80-AB44-4E6E8F2E79E9}" type="presParOf" srcId="{5E3FA013-6341-4628-B26D-1E18F025C299}" destId="{044C490B-440C-45A6-9086-1D73CB031DA9}" srcOrd="1" destOrd="0" presId="urn:microsoft.com/office/officeart/2018/2/layout/IconVerticalSolidList"/>
    <dgm:cxn modelId="{07ECC267-3B1B-4940-923C-F0CD40FCF797}" type="presParOf" srcId="{5E3FA013-6341-4628-B26D-1E18F025C299}" destId="{B1E9DBF7-01C8-4BEB-843C-6DA05E273935}" srcOrd="2" destOrd="0" presId="urn:microsoft.com/office/officeart/2018/2/layout/IconVerticalSolidList"/>
    <dgm:cxn modelId="{006B69FA-4350-4002-A7BB-54BFDA7B5217}" type="presParOf" srcId="{B1E9DBF7-01C8-4BEB-843C-6DA05E273935}" destId="{10FD03B3-3F3D-4016-BB7F-0CB5523147A4}" srcOrd="0" destOrd="0" presId="urn:microsoft.com/office/officeart/2018/2/layout/IconVerticalSolidList"/>
    <dgm:cxn modelId="{D034D33B-8179-47BA-9538-DB2A0113BE80}" type="presParOf" srcId="{B1E9DBF7-01C8-4BEB-843C-6DA05E273935}" destId="{6F8FE0D8-2E2D-4844-80CA-387265515F5B}" srcOrd="1" destOrd="0" presId="urn:microsoft.com/office/officeart/2018/2/layout/IconVerticalSolidList"/>
    <dgm:cxn modelId="{A5EBF903-8DBB-4832-8070-81AB837797C4}" type="presParOf" srcId="{B1E9DBF7-01C8-4BEB-843C-6DA05E273935}" destId="{71EFE431-023E-4995-BA97-527F90DBB0D5}" srcOrd="2" destOrd="0" presId="urn:microsoft.com/office/officeart/2018/2/layout/IconVerticalSolidList"/>
    <dgm:cxn modelId="{E88CAFEF-7243-413C-AEDE-035910409C8F}" type="presParOf" srcId="{B1E9DBF7-01C8-4BEB-843C-6DA05E273935}" destId="{F482425B-B865-4FCA-B80B-3AD0194E6159}" srcOrd="3" destOrd="0" presId="urn:microsoft.com/office/officeart/2018/2/layout/IconVerticalSolidList"/>
    <dgm:cxn modelId="{A54E1B8D-6C5C-46A2-A574-63369F207F46}" type="presParOf" srcId="{5E3FA013-6341-4628-B26D-1E18F025C299}" destId="{549D2EFA-CD8F-4AF4-A7FF-38B68FC92635}" srcOrd="3" destOrd="0" presId="urn:microsoft.com/office/officeart/2018/2/layout/IconVerticalSolidList"/>
    <dgm:cxn modelId="{948EF1CA-FB4E-41BD-8D6F-8314986E4A37}" type="presParOf" srcId="{5E3FA013-6341-4628-B26D-1E18F025C299}" destId="{E4B9EFF4-83F4-4CCE-BA0D-0392B44C6650}" srcOrd="4" destOrd="0" presId="urn:microsoft.com/office/officeart/2018/2/layout/IconVerticalSolidList"/>
    <dgm:cxn modelId="{9E706DD1-A148-4274-B9F3-8AB92C0D1FC8}" type="presParOf" srcId="{E4B9EFF4-83F4-4CCE-BA0D-0392B44C6650}" destId="{A62C8E80-D7F0-473A-8C37-4DAA92415923}" srcOrd="0" destOrd="0" presId="urn:microsoft.com/office/officeart/2018/2/layout/IconVerticalSolidList"/>
    <dgm:cxn modelId="{680AF30F-6338-438C-89BF-2C4B56E8833F}" type="presParOf" srcId="{E4B9EFF4-83F4-4CCE-BA0D-0392B44C6650}" destId="{0315B91E-C2DC-4B7B-AD79-2598E72EC537}" srcOrd="1" destOrd="0" presId="urn:microsoft.com/office/officeart/2018/2/layout/IconVerticalSolidList"/>
    <dgm:cxn modelId="{F4E669E5-6274-4BB9-B672-A9E0EB037891}" type="presParOf" srcId="{E4B9EFF4-83F4-4CCE-BA0D-0392B44C6650}" destId="{5E0644B0-05AA-4378-AB9A-55FEDB026100}" srcOrd="2" destOrd="0" presId="urn:microsoft.com/office/officeart/2018/2/layout/IconVerticalSolidList"/>
    <dgm:cxn modelId="{DAF73B14-FB07-4CA5-8859-75078E0066A8}" type="presParOf" srcId="{E4B9EFF4-83F4-4CCE-BA0D-0392B44C6650}" destId="{CD0F7136-FF38-4D14-BBB7-6D29E6ADB35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9C88F9-0C65-4E9A-B732-0858821D424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CBF93E7-D1AE-4EE3-BDAE-6543347AB014}">
      <dgm:prSet/>
      <dgm:spPr/>
      <dgm:t>
        <a:bodyPr/>
        <a:lstStyle/>
        <a:p>
          <a:pPr>
            <a:lnSpc>
              <a:spcPct val="100000"/>
            </a:lnSpc>
          </a:pPr>
          <a:r>
            <a:rPr lang="en-US" b="1" dirty="0">
              <a:latin typeface="Aptos Narrow" panose="020B0004020202020204" pitchFamily="34" charset="0"/>
            </a:rPr>
            <a:t>MPC </a:t>
          </a:r>
          <a:r>
            <a:rPr lang="en-US" b="0" dirty="0">
              <a:latin typeface="Aptos Narrow" panose="020B0004020202020204" pitchFamily="34" charset="0"/>
            </a:rPr>
            <a:t>is</a:t>
          </a:r>
          <a:r>
            <a:rPr lang="en-US" b="1" dirty="0">
              <a:latin typeface="Aptos Narrow" panose="020B0004020202020204" pitchFamily="34" charset="0"/>
            </a:rPr>
            <a:t> </a:t>
          </a:r>
          <a:r>
            <a:rPr lang="en-US" b="0" dirty="0">
              <a:latin typeface="Aptos Narrow" panose="020B0004020202020204" pitchFamily="34" charset="0"/>
            </a:rPr>
            <a:t>used to track an</a:t>
          </a:r>
          <a:r>
            <a:rPr lang="en-US" b="1" dirty="0">
              <a:latin typeface="Aptos Narrow" panose="020B0004020202020204" pitchFamily="34" charset="0"/>
            </a:rPr>
            <a:t> investment </a:t>
          </a:r>
          <a:r>
            <a:rPr lang="en-US" b="0" dirty="0">
              <a:latin typeface="Aptos Narrow" panose="020B0004020202020204" pitchFamily="34" charset="0"/>
            </a:rPr>
            <a:t>curve taking into account transaction costs.</a:t>
          </a:r>
          <a:endParaRPr lang="it-IT" b="0" dirty="0">
            <a:latin typeface="Aptos Narrow" panose="020B0004020202020204" pitchFamily="34" charset="0"/>
          </a:endParaRPr>
        </a:p>
      </dgm:t>
    </dgm:pt>
    <dgm:pt modelId="{4ADC35B7-E30F-4C56-B8B1-C4064E78285D}" type="parTrans" cxnId="{9E3AAD8B-E429-4CE2-A6BC-7B86DED08B7F}">
      <dgm:prSet/>
      <dgm:spPr/>
      <dgm:t>
        <a:bodyPr/>
        <a:lstStyle/>
        <a:p>
          <a:endParaRPr lang="en-US"/>
        </a:p>
      </dgm:t>
    </dgm:pt>
    <dgm:pt modelId="{4A5082C3-7BF9-48AF-8929-638CBA73F331}" type="sibTrans" cxnId="{9E3AAD8B-E429-4CE2-A6BC-7B86DED08B7F}">
      <dgm:prSet/>
      <dgm:spPr/>
      <dgm:t>
        <a:bodyPr/>
        <a:lstStyle/>
        <a:p>
          <a:endParaRPr lang="en-US"/>
        </a:p>
      </dgm:t>
    </dgm:pt>
    <dgm:pt modelId="{9997EC1F-27AC-4E49-97B5-4EEB09C7BDAC}">
      <dgm:prSet/>
      <dgm:spPr/>
      <dgm:t>
        <a:bodyPr/>
        <a:lstStyle/>
        <a:p>
          <a:pPr>
            <a:lnSpc>
              <a:spcPct val="100000"/>
            </a:lnSpc>
          </a:pPr>
          <a:r>
            <a:rPr lang="en-US" dirty="0">
              <a:latin typeface="Aptos Narrow" panose="020B0004020202020204" pitchFamily="34" charset="0"/>
            </a:rPr>
            <a:t>Comparison of two methods for choosing the most suitable length for the prediction horizon: </a:t>
          </a:r>
          <a:r>
            <a:rPr lang="en-US" b="1" dirty="0">
              <a:latin typeface="Aptos Narrow" panose="020B0004020202020204" pitchFamily="34" charset="0"/>
            </a:rPr>
            <a:t>VPH-MPC</a:t>
          </a:r>
          <a:r>
            <a:rPr lang="en-US" dirty="0">
              <a:latin typeface="Aptos Narrow" panose="020B0004020202020204" pitchFamily="34" charset="0"/>
            </a:rPr>
            <a:t> and </a:t>
          </a:r>
          <a:r>
            <a:rPr lang="en-US" b="1" dirty="0">
              <a:latin typeface="Aptos Narrow" panose="020B0004020202020204" pitchFamily="34" charset="0"/>
            </a:rPr>
            <a:t>FPH-MPC</a:t>
          </a:r>
          <a:r>
            <a:rPr lang="en-US" dirty="0">
              <a:latin typeface="Aptos Narrow" panose="020B0004020202020204" pitchFamily="34" charset="0"/>
            </a:rPr>
            <a:t> </a:t>
          </a:r>
          <a:endParaRPr lang="it-IT" dirty="0">
            <a:latin typeface="Aptos Narrow" panose="020B0004020202020204" pitchFamily="34" charset="0"/>
          </a:endParaRPr>
        </a:p>
      </dgm:t>
    </dgm:pt>
    <dgm:pt modelId="{F54CF8B0-C09E-4065-919C-10C25B1AB085}" type="parTrans" cxnId="{0A1722B5-BBFC-49D5-AE55-9B2543293D8C}">
      <dgm:prSet/>
      <dgm:spPr/>
      <dgm:t>
        <a:bodyPr/>
        <a:lstStyle/>
        <a:p>
          <a:endParaRPr lang="en-US"/>
        </a:p>
      </dgm:t>
    </dgm:pt>
    <dgm:pt modelId="{924937E1-BF80-4AA5-9125-E13877962165}" type="sibTrans" cxnId="{0A1722B5-BBFC-49D5-AE55-9B2543293D8C}">
      <dgm:prSet/>
      <dgm:spPr/>
      <dgm:t>
        <a:bodyPr/>
        <a:lstStyle/>
        <a:p>
          <a:endParaRPr lang="en-US"/>
        </a:p>
      </dgm:t>
    </dgm:pt>
    <dgm:pt modelId="{486B75D9-C834-4516-97B9-2B07C0A6802F}">
      <dgm:prSet/>
      <dgm:spPr/>
      <dgm:t>
        <a:bodyPr/>
        <a:lstStyle/>
        <a:p>
          <a:pPr>
            <a:lnSpc>
              <a:spcPct val="100000"/>
            </a:lnSpc>
          </a:pPr>
          <a:r>
            <a:rPr lang="en-US" b="0" dirty="0">
              <a:latin typeface="Aptos Narrow" panose="020B0004020202020204" pitchFamily="34" charset="0"/>
            </a:rPr>
            <a:t>Tracking the reference portfolio, through the use of the </a:t>
          </a:r>
          <a:r>
            <a:rPr lang="it-IT" b="1" dirty="0" err="1">
              <a:latin typeface="Aptos Narrow" panose="020B0004020202020204" pitchFamily="34" charset="0"/>
            </a:rPr>
            <a:t>CVaR</a:t>
          </a:r>
          <a:r>
            <a:rPr lang="it-IT" b="1" dirty="0">
              <a:latin typeface="Aptos Narrow" panose="020B0004020202020204" pitchFamily="34" charset="0"/>
            </a:rPr>
            <a:t> (</a:t>
          </a:r>
          <a:r>
            <a:rPr lang="it-IT" b="1" dirty="0" err="1">
              <a:latin typeface="Aptos Narrow" panose="020B0004020202020204" pitchFamily="34" charset="0"/>
            </a:rPr>
            <a:t>Conditional</a:t>
          </a:r>
          <a:r>
            <a:rPr lang="it-IT" b="1" dirty="0">
              <a:latin typeface="Aptos Narrow" panose="020B0004020202020204" pitchFamily="34" charset="0"/>
            </a:rPr>
            <a:t> Value </a:t>
          </a:r>
          <a:r>
            <a:rPr lang="it-IT" b="1" dirty="0" err="1">
              <a:latin typeface="Aptos Narrow" panose="020B0004020202020204" pitchFamily="34" charset="0"/>
            </a:rPr>
            <a:t>at</a:t>
          </a:r>
          <a:r>
            <a:rPr lang="it-IT" b="1" dirty="0">
              <a:latin typeface="Aptos Narrow" panose="020B0004020202020204" pitchFamily="34" charset="0"/>
            </a:rPr>
            <a:t> Risk)</a:t>
          </a:r>
          <a:endParaRPr lang="en-US" dirty="0">
            <a:latin typeface="Aptos Narrow" panose="020B0004020202020204" pitchFamily="34" charset="0"/>
          </a:endParaRPr>
        </a:p>
      </dgm:t>
    </dgm:pt>
    <dgm:pt modelId="{126870BB-E176-4FD3-9416-C3D7CEDC4068}" type="parTrans" cxnId="{8CACBD41-FA35-46F3-BD5E-CA7C4C1FAD03}">
      <dgm:prSet/>
      <dgm:spPr/>
      <dgm:t>
        <a:bodyPr/>
        <a:lstStyle/>
        <a:p>
          <a:endParaRPr lang="en-US"/>
        </a:p>
      </dgm:t>
    </dgm:pt>
    <dgm:pt modelId="{C6FC30FA-E14F-4FF6-8DA8-31CB5C71C9AC}" type="sibTrans" cxnId="{8CACBD41-FA35-46F3-BD5E-CA7C4C1FAD03}">
      <dgm:prSet/>
      <dgm:spPr/>
      <dgm:t>
        <a:bodyPr/>
        <a:lstStyle/>
        <a:p>
          <a:endParaRPr lang="en-US"/>
        </a:p>
      </dgm:t>
    </dgm:pt>
    <dgm:pt modelId="{A65408F3-248D-4A1F-9B64-AB9EFE36815E}" type="pres">
      <dgm:prSet presAssocID="{959C88F9-0C65-4E9A-B732-0858821D4249}" presName="root" presStyleCnt="0">
        <dgm:presLayoutVars>
          <dgm:dir/>
          <dgm:resizeHandles val="exact"/>
        </dgm:presLayoutVars>
      </dgm:prSet>
      <dgm:spPr/>
    </dgm:pt>
    <dgm:pt modelId="{A6FE6427-1051-42B3-A44C-DFF818EBA0D6}" type="pres">
      <dgm:prSet presAssocID="{4CBF93E7-D1AE-4EE3-BDAE-6543347AB014}" presName="compNode" presStyleCnt="0"/>
      <dgm:spPr/>
    </dgm:pt>
    <dgm:pt modelId="{56CCAC0D-C97E-421C-B968-D52EFE913A97}" type="pres">
      <dgm:prSet presAssocID="{4CBF93E7-D1AE-4EE3-BDAE-6543347AB014}" presName="bgRect" presStyleLbl="bgShp" presStyleIdx="0" presStyleCnt="3"/>
      <dgm:spPr/>
    </dgm:pt>
    <dgm:pt modelId="{C9BB2080-05B4-4CCE-A846-FA902F06ECFF}" type="pres">
      <dgm:prSet presAssocID="{4CBF93E7-D1AE-4EE3-BDAE-6543347AB01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llar"/>
        </a:ext>
      </dgm:extLst>
    </dgm:pt>
    <dgm:pt modelId="{B9671194-13D1-4050-9C38-304FE65C61DA}" type="pres">
      <dgm:prSet presAssocID="{4CBF93E7-D1AE-4EE3-BDAE-6543347AB014}" presName="spaceRect" presStyleCnt="0"/>
      <dgm:spPr/>
    </dgm:pt>
    <dgm:pt modelId="{4CB4A0EC-D92A-4BD0-8242-E0F6B1F865FF}" type="pres">
      <dgm:prSet presAssocID="{4CBF93E7-D1AE-4EE3-BDAE-6543347AB014}" presName="parTx" presStyleLbl="revTx" presStyleIdx="0" presStyleCnt="3">
        <dgm:presLayoutVars>
          <dgm:chMax val="0"/>
          <dgm:chPref val="0"/>
        </dgm:presLayoutVars>
      </dgm:prSet>
      <dgm:spPr/>
    </dgm:pt>
    <dgm:pt modelId="{B292544D-A0BF-4848-AFA0-54287F7D7E13}" type="pres">
      <dgm:prSet presAssocID="{4A5082C3-7BF9-48AF-8929-638CBA73F331}" presName="sibTrans" presStyleCnt="0"/>
      <dgm:spPr/>
    </dgm:pt>
    <dgm:pt modelId="{8AF3B048-A55C-4F92-B05A-B17B325DF537}" type="pres">
      <dgm:prSet presAssocID="{9997EC1F-27AC-4E49-97B5-4EEB09C7BDAC}" presName="compNode" presStyleCnt="0"/>
      <dgm:spPr/>
    </dgm:pt>
    <dgm:pt modelId="{E59A055C-76DF-454D-AB32-C7E432BAC02D}" type="pres">
      <dgm:prSet presAssocID="{9997EC1F-27AC-4E49-97B5-4EEB09C7BDAC}" presName="bgRect" presStyleLbl="bgShp" presStyleIdx="1" presStyleCnt="3"/>
      <dgm:spPr/>
    </dgm:pt>
    <dgm:pt modelId="{9A721A96-5E1F-4381-B0D5-36CBB4D0245B}" type="pres">
      <dgm:prSet presAssocID="{9997EC1F-27AC-4E49-97B5-4EEB09C7BDA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egno di spunta"/>
        </a:ext>
      </dgm:extLst>
    </dgm:pt>
    <dgm:pt modelId="{CEFDE218-1BDE-42F8-9BBF-C65CEDCACAD6}" type="pres">
      <dgm:prSet presAssocID="{9997EC1F-27AC-4E49-97B5-4EEB09C7BDAC}" presName="spaceRect" presStyleCnt="0"/>
      <dgm:spPr/>
    </dgm:pt>
    <dgm:pt modelId="{823CDAF8-E5F0-4800-A95C-D16B9B6EF403}" type="pres">
      <dgm:prSet presAssocID="{9997EC1F-27AC-4E49-97B5-4EEB09C7BDAC}" presName="parTx" presStyleLbl="revTx" presStyleIdx="1" presStyleCnt="3">
        <dgm:presLayoutVars>
          <dgm:chMax val="0"/>
          <dgm:chPref val="0"/>
        </dgm:presLayoutVars>
      </dgm:prSet>
      <dgm:spPr/>
    </dgm:pt>
    <dgm:pt modelId="{90FC393D-9D3B-4382-A1EC-5C24D0EE2552}" type="pres">
      <dgm:prSet presAssocID="{924937E1-BF80-4AA5-9125-E13877962165}" presName="sibTrans" presStyleCnt="0"/>
      <dgm:spPr/>
    </dgm:pt>
    <dgm:pt modelId="{D9D75600-35EC-4593-9B61-9FAFDD67E17B}" type="pres">
      <dgm:prSet presAssocID="{486B75D9-C834-4516-97B9-2B07C0A6802F}" presName="compNode" presStyleCnt="0"/>
      <dgm:spPr/>
    </dgm:pt>
    <dgm:pt modelId="{624CA5F8-A750-4B6D-A9D7-0579C5EE4B37}" type="pres">
      <dgm:prSet presAssocID="{486B75D9-C834-4516-97B9-2B07C0A6802F}" presName="bgRect" presStyleLbl="bgShp" presStyleIdx="2" presStyleCnt="3"/>
      <dgm:spPr/>
    </dgm:pt>
    <dgm:pt modelId="{55CC69BE-81C0-4ED7-AE28-60334E74BD22}" type="pres">
      <dgm:prSet presAssocID="{486B75D9-C834-4516-97B9-2B07C0A6802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ortafoglio"/>
        </a:ext>
      </dgm:extLst>
    </dgm:pt>
    <dgm:pt modelId="{D6224A4A-7EA7-4381-8073-47B0DBF7A994}" type="pres">
      <dgm:prSet presAssocID="{486B75D9-C834-4516-97B9-2B07C0A6802F}" presName="spaceRect" presStyleCnt="0"/>
      <dgm:spPr/>
    </dgm:pt>
    <dgm:pt modelId="{BC3EEC58-BE0A-4A40-96C7-A55451FE2171}" type="pres">
      <dgm:prSet presAssocID="{486B75D9-C834-4516-97B9-2B07C0A6802F}" presName="parTx" presStyleLbl="revTx" presStyleIdx="2" presStyleCnt="3">
        <dgm:presLayoutVars>
          <dgm:chMax val="0"/>
          <dgm:chPref val="0"/>
        </dgm:presLayoutVars>
      </dgm:prSet>
      <dgm:spPr/>
    </dgm:pt>
  </dgm:ptLst>
  <dgm:cxnLst>
    <dgm:cxn modelId="{CE11F15C-6053-4CC8-9E95-E9C7AB97F5F8}" type="presOf" srcId="{959C88F9-0C65-4E9A-B732-0858821D4249}" destId="{A65408F3-248D-4A1F-9B64-AB9EFE36815E}" srcOrd="0" destOrd="0" presId="urn:microsoft.com/office/officeart/2018/2/layout/IconVerticalSolidList"/>
    <dgm:cxn modelId="{F139525F-E7A3-403B-8ECE-76EF2C0B4791}" type="presOf" srcId="{9997EC1F-27AC-4E49-97B5-4EEB09C7BDAC}" destId="{823CDAF8-E5F0-4800-A95C-D16B9B6EF403}" srcOrd="0" destOrd="0" presId="urn:microsoft.com/office/officeart/2018/2/layout/IconVerticalSolidList"/>
    <dgm:cxn modelId="{8CACBD41-FA35-46F3-BD5E-CA7C4C1FAD03}" srcId="{959C88F9-0C65-4E9A-B732-0858821D4249}" destId="{486B75D9-C834-4516-97B9-2B07C0A6802F}" srcOrd="2" destOrd="0" parTransId="{126870BB-E176-4FD3-9416-C3D7CEDC4068}" sibTransId="{C6FC30FA-E14F-4FF6-8DA8-31CB5C71C9AC}"/>
    <dgm:cxn modelId="{418C1E79-3EAB-4674-B513-0C220C9330DF}" type="presOf" srcId="{486B75D9-C834-4516-97B9-2B07C0A6802F}" destId="{BC3EEC58-BE0A-4A40-96C7-A55451FE2171}" srcOrd="0" destOrd="0" presId="urn:microsoft.com/office/officeart/2018/2/layout/IconVerticalSolidList"/>
    <dgm:cxn modelId="{9E3AAD8B-E429-4CE2-A6BC-7B86DED08B7F}" srcId="{959C88F9-0C65-4E9A-B732-0858821D4249}" destId="{4CBF93E7-D1AE-4EE3-BDAE-6543347AB014}" srcOrd="0" destOrd="0" parTransId="{4ADC35B7-E30F-4C56-B8B1-C4064E78285D}" sibTransId="{4A5082C3-7BF9-48AF-8929-638CBA73F331}"/>
    <dgm:cxn modelId="{8BEDA7A3-D4CD-406B-9417-17CB0B13E6B1}" type="presOf" srcId="{4CBF93E7-D1AE-4EE3-BDAE-6543347AB014}" destId="{4CB4A0EC-D92A-4BD0-8242-E0F6B1F865FF}" srcOrd="0" destOrd="0" presId="urn:microsoft.com/office/officeart/2018/2/layout/IconVerticalSolidList"/>
    <dgm:cxn modelId="{0A1722B5-BBFC-49D5-AE55-9B2543293D8C}" srcId="{959C88F9-0C65-4E9A-B732-0858821D4249}" destId="{9997EC1F-27AC-4E49-97B5-4EEB09C7BDAC}" srcOrd="1" destOrd="0" parTransId="{F54CF8B0-C09E-4065-919C-10C25B1AB085}" sibTransId="{924937E1-BF80-4AA5-9125-E13877962165}"/>
    <dgm:cxn modelId="{57810153-0076-469B-9D0C-687BF1DFB4A7}" type="presParOf" srcId="{A65408F3-248D-4A1F-9B64-AB9EFE36815E}" destId="{A6FE6427-1051-42B3-A44C-DFF818EBA0D6}" srcOrd="0" destOrd="0" presId="urn:microsoft.com/office/officeart/2018/2/layout/IconVerticalSolidList"/>
    <dgm:cxn modelId="{13D2C37F-1509-426B-B0AC-8BC868E1112F}" type="presParOf" srcId="{A6FE6427-1051-42B3-A44C-DFF818EBA0D6}" destId="{56CCAC0D-C97E-421C-B968-D52EFE913A97}" srcOrd="0" destOrd="0" presId="urn:microsoft.com/office/officeart/2018/2/layout/IconVerticalSolidList"/>
    <dgm:cxn modelId="{D2DC18E5-B308-499B-88BF-9A83A75769FB}" type="presParOf" srcId="{A6FE6427-1051-42B3-A44C-DFF818EBA0D6}" destId="{C9BB2080-05B4-4CCE-A846-FA902F06ECFF}" srcOrd="1" destOrd="0" presId="urn:microsoft.com/office/officeart/2018/2/layout/IconVerticalSolidList"/>
    <dgm:cxn modelId="{5C5FF85E-A568-46F8-A4A9-874484D27311}" type="presParOf" srcId="{A6FE6427-1051-42B3-A44C-DFF818EBA0D6}" destId="{B9671194-13D1-4050-9C38-304FE65C61DA}" srcOrd="2" destOrd="0" presId="urn:microsoft.com/office/officeart/2018/2/layout/IconVerticalSolidList"/>
    <dgm:cxn modelId="{5B6286F0-EA0F-413C-8242-470C490FCAFE}" type="presParOf" srcId="{A6FE6427-1051-42B3-A44C-DFF818EBA0D6}" destId="{4CB4A0EC-D92A-4BD0-8242-E0F6B1F865FF}" srcOrd="3" destOrd="0" presId="urn:microsoft.com/office/officeart/2018/2/layout/IconVerticalSolidList"/>
    <dgm:cxn modelId="{60C0FE53-A45B-4233-BE28-887D2904030C}" type="presParOf" srcId="{A65408F3-248D-4A1F-9B64-AB9EFE36815E}" destId="{B292544D-A0BF-4848-AFA0-54287F7D7E13}" srcOrd="1" destOrd="0" presId="urn:microsoft.com/office/officeart/2018/2/layout/IconVerticalSolidList"/>
    <dgm:cxn modelId="{DC0E6E6F-87E7-4EDC-B65F-2547E0DC8CBC}" type="presParOf" srcId="{A65408F3-248D-4A1F-9B64-AB9EFE36815E}" destId="{8AF3B048-A55C-4F92-B05A-B17B325DF537}" srcOrd="2" destOrd="0" presId="urn:microsoft.com/office/officeart/2018/2/layout/IconVerticalSolidList"/>
    <dgm:cxn modelId="{7EB4FD40-974A-4B90-8BA9-37FE2DDA8AA8}" type="presParOf" srcId="{8AF3B048-A55C-4F92-B05A-B17B325DF537}" destId="{E59A055C-76DF-454D-AB32-C7E432BAC02D}" srcOrd="0" destOrd="0" presId="urn:microsoft.com/office/officeart/2018/2/layout/IconVerticalSolidList"/>
    <dgm:cxn modelId="{2FAE7C92-CB2F-482D-A4A0-F79CA792FD47}" type="presParOf" srcId="{8AF3B048-A55C-4F92-B05A-B17B325DF537}" destId="{9A721A96-5E1F-4381-B0D5-36CBB4D0245B}" srcOrd="1" destOrd="0" presId="urn:microsoft.com/office/officeart/2018/2/layout/IconVerticalSolidList"/>
    <dgm:cxn modelId="{6E239359-05C9-4339-9253-402EDD8E8FC8}" type="presParOf" srcId="{8AF3B048-A55C-4F92-B05A-B17B325DF537}" destId="{CEFDE218-1BDE-42F8-9BBF-C65CEDCACAD6}" srcOrd="2" destOrd="0" presId="urn:microsoft.com/office/officeart/2018/2/layout/IconVerticalSolidList"/>
    <dgm:cxn modelId="{AC988544-790F-4B07-8D71-095E165FBF89}" type="presParOf" srcId="{8AF3B048-A55C-4F92-B05A-B17B325DF537}" destId="{823CDAF8-E5F0-4800-A95C-D16B9B6EF403}" srcOrd="3" destOrd="0" presId="urn:microsoft.com/office/officeart/2018/2/layout/IconVerticalSolidList"/>
    <dgm:cxn modelId="{53BDBD23-DAC9-49B1-9155-AF15EC13F652}" type="presParOf" srcId="{A65408F3-248D-4A1F-9B64-AB9EFE36815E}" destId="{90FC393D-9D3B-4382-A1EC-5C24D0EE2552}" srcOrd="3" destOrd="0" presId="urn:microsoft.com/office/officeart/2018/2/layout/IconVerticalSolidList"/>
    <dgm:cxn modelId="{9FA7FC4B-EE78-4E96-A435-BE36F838F24B}" type="presParOf" srcId="{A65408F3-248D-4A1F-9B64-AB9EFE36815E}" destId="{D9D75600-35EC-4593-9B61-9FAFDD67E17B}" srcOrd="4" destOrd="0" presId="urn:microsoft.com/office/officeart/2018/2/layout/IconVerticalSolidList"/>
    <dgm:cxn modelId="{DFE4D9CD-2FBD-4A31-8DFA-FFFA6218E5CC}" type="presParOf" srcId="{D9D75600-35EC-4593-9B61-9FAFDD67E17B}" destId="{624CA5F8-A750-4B6D-A9D7-0579C5EE4B37}" srcOrd="0" destOrd="0" presId="urn:microsoft.com/office/officeart/2018/2/layout/IconVerticalSolidList"/>
    <dgm:cxn modelId="{612CC158-DD07-404C-974C-18DF177089E0}" type="presParOf" srcId="{D9D75600-35EC-4593-9B61-9FAFDD67E17B}" destId="{55CC69BE-81C0-4ED7-AE28-60334E74BD22}" srcOrd="1" destOrd="0" presId="urn:microsoft.com/office/officeart/2018/2/layout/IconVerticalSolidList"/>
    <dgm:cxn modelId="{EDE1BF42-1F1C-42B5-9DF2-2EF43F15297A}" type="presParOf" srcId="{D9D75600-35EC-4593-9B61-9FAFDD67E17B}" destId="{D6224A4A-7EA7-4381-8073-47B0DBF7A994}" srcOrd="2" destOrd="0" presId="urn:microsoft.com/office/officeart/2018/2/layout/IconVerticalSolidList"/>
    <dgm:cxn modelId="{C94303B5-D1E8-4215-8904-35A75B5CE0AE}" type="presParOf" srcId="{D9D75600-35EC-4593-9B61-9FAFDD67E17B}" destId="{BC3EEC58-BE0A-4A40-96C7-A55451FE217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56A6885-C9C3-4CE7-A271-DAC70E2A282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CBBD676-117E-47D0-BF58-3A3625A64874}">
      <dgm:prSet/>
      <dgm:spPr/>
      <dgm:t>
        <a:bodyPr/>
        <a:lstStyle/>
        <a:p>
          <a:r>
            <a:rPr lang="en-US" b="1">
              <a:latin typeface="Aptos Narrow" panose="020B0004020202020204" pitchFamily="34" charset="0"/>
            </a:rPr>
            <a:t>Monte Carlo </a:t>
          </a:r>
          <a:r>
            <a:rPr lang="en-US">
              <a:latin typeface="Aptos Narrow" panose="020B0004020202020204" pitchFamily="34" charset="0"/>
            </a:rPr>
            <a:t>is a method based on the statistical principle called the “</a:t>
          </a:r>
          <a:r>
            <a:rPr lang="en-US" i="1">
              <a:latin typeface="Aptos Narrow" panose="020B0004020202020204" pitchFamily="34" charset="0"/>
            </a:rPr>
            <a:t>Law of Large Numbers”</a:t>
          </a:r>
          <a:r>
            <a:rPr lang="en-US">
              <a:latin typeface="Aptos Narrow" panose="020B0004020202020204" pitchFamily="34" charset="0"/>
            </a:rPr>
            <a:t>:</a:t>
          </a:r>
        </a:p>
      </dgm:t>
    </dgm:pt>
    <dgm:pt modelId="{CDE2E215-DBF9-4CD6-8F8A-E88013099D42}" type="parTrans" cxnId="{025AAB25-B785-4B67-A9FD-4E140700FF4F}">
      <dgm:prSet/>
      <dgm:spPr/>
      <dgm:t>
        <a:bodyPr/>
        <a:lstStyle/>
        <a:p>
          <a:endParaRPr lang="en-US"/>
        </a:p>
      </dgm:t>
    </dgm:pt>
    <dgm:pt modelId="{E4B3FE71-A9AD-43CE-B393-CDB4E8C88ECD}" type="sibTrans" cxnId="{025AAB25-B785-4B67-A9FD-4E140700FF4F}">
      <dgm:prSet/>
      <dgm:spPr/>
      <dgm:t>
        <a:bodyPr/>
        <a:lstStyle/>
        <a:p>
          <a:endParaRPr lang="en-US"/>
        </a:p>
      </dgm:t>
    </dgm:pt>
    <dgm:pt modelId="{01ACFA66-CC0B-4A2E-A2ED-953A652A8859}">
      <dgm:prSet/>
      <dgm:spPr/>
      <dgm:t>
        <a:bodyPr/>
        <a:lstStyle/>
        <a:p>
          <a:r>
            <a:rPr lang="en-US" b="1">
              <a:latin typeface="Aptos Narrow" panose="020B0004020202020204" pitchFamily="34" charset="0"/>
            </a:rPr>
            <a:t>Learning-Based Control</a:t>
          </a:r>
          <a:r>
            <a:rPr lang="en-US">
              <a:latin typeface="Aptos Narrow" panose="020B0004020202020204" pitchFamily="34" charset="0"/>
            </a:rPr>
            <a:t>: We used Monte Carlo when we were unaware of the system dynamics</a:t>
          </a:r>
        </a:p>
      </dgm:t>
    </dgm:pt>
    <dgm:pt modelId="{C4657783-8720-4E65-B807-D81B79E53101}" type="parTrans" cxnId="{EE709FC6-A0C1-4804-AFFC-FAD6F46D88B1}">
      <dgm:prSet/>
      <dgm:spPr/>
      <dgm:t>
        <a:bodyPr/>
        <a:lstStyle/>
        <a:p>
          <a:endParaRPr lang="en-US"/>
        </a:p>
      </dgm:t>
    </dgm:pt>
    <dgm:pt modelId="{7DF9E88A-1879-452E-B2CA-E202030C2256}" type="sibTrans" cxnId="{EE709FC6-A0C1-4804-AFFC-FAD6F46D88B1}">
      <dgm:prSet/>
      <dgm:spPr/>
      <dgm:t>
        <a:bodyPr/>
        <a:lstStyle/>
        <a:p>
          <a:endParaRPr lang="en-US"/>
        </a:p>
      </dgm:t>
    </dgm:pt>
    <dgm:pt modelId="{5F9A6284-610D-43FE-A209-2EBC88E76B10}">
      <dgm:prSet/>
      <dgm:spPr/>
      <dgm:t>
        <a:bodyPr/>
        <a:lstStyle/>
        <a:p>
          <a:r>
            <a:rPr lang="en-US" b="1">
              <a:latin typeface="Aptos Narrow" panose="020B0004020202020204" pitchFamily="34" charset="0"/>
            </a:rPr>
            <a:t>Paper</a:t>
          </a:r>
          <a:r>
            <a:rPr lang="en-US">
              <a:latin typeface="Aptos Narrow" panose="020B0004020202020204" pitchFamily="34" charset="0"/>
            </a:rPr>
            <a:t>: Monte Carlo is used to implement CVaR, as it is a complex integral to be calculated over ten assets.</a:t>
          </a:r>
        </a:p>
      </dgm:t>
    </dgm:pt>
    <dgm:pt modelId="{3CF134E9-C87D-40F4-87FF-625EE67FC6A0}" type="parTrans" cxnId="{1D91DAB7-E7F6-404C-B13B-72BA2AE92446}">
      <dgm:prSet/>
      <dgm:spPr/>
      <dgm:t>
        <a:bodyPr/>
        <a:lstStyle/>
        <a:p>
          <a:endParaRPr lang="en-US"/>
        </a:p>
      </dgm:t>
    </dgm:pt>
    <dgm:pt modelId="{49D5F99C-0BF9-4CF1-A267-CF661574DE2E}" type="sibTrans" cxnId="{1D91DAB7-E7F6-404C-B13B-72BA2AE92446}">
      <dgm:prSet/>
      <dgm:spPr/>
      <dgm:t>
        <a:bodyPr/>
        <a:lstStyle/>
        <a:p>
          <a:endParaRPr lang="en-US"/>
        </a:p>
      </dgm:t>
    </dgm:pt>
    <dgm:pt modelId="{331E367A-CF77-4EE6-B695-2A901AB446DB}" type="pres">
      <dgm:prSet presAssocID="{756A6885-C9C3-4CE7-A271-DAC70E2A2825}" presName="root" presStyleCnt="0">
        <dgm:presLayoutVars>
          <dgm:dir/>
          <dgm:resizeHandles val="exact"/>
        </dgm:presLayoutVars>
      </dgm:prSet>
      <dgm:spPr/>
    </dgm:pt>
    <dgm:pt modelId="{4A3BDD92-9050-4B68-8448-F23025980A63}" type="pres">
      <dgm:prSet presAssocID="{3CBBD676-117E-47D0-BF58-3A3625A64874}" presName="compNode" presStyleCnt="0"/>
      <dgm:spPr/>
    </dgm:pt>
    <dgm:pt modelId="{04146E93-29A8-4CCA-9AFE-2592C319D6A7}" type="pres">
      <dgm:prSet presAssocID="{3CBBD676-117E-47D0-BF58-3A3625A64874}" presName="bgRect" presStyleLbl="bgShp" presStyleIdx="0" presStyleCnt="3"/>
      <dgm:spPr/>
    </dgm:pt>
    <dgm:pt modelId="{27F595D1-1116-4E63-9B92-D4C163C04FD7}" type="pres">
      <dgm:prSet presAssocID="{3CBBD676-117E-47D0-BF58-3A3625A6487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DE0D21DE-5781-406F-B713-1EA5BCF786FD}" type="pres">
      <dgm:prSet presAssocID="{3CBBD676-117E-47D0-BF58-3A3625A64874}" presName="spaceRect" presStyleCnt="0"/>
      <dgm:spPr/>
    </dgm:pt>
    <dgm:pt modelId="{A4D80D52-C296-4B56-B2C6-7BA8A032483B}" type="pres">
      <dgm:prSet presAssocID="{3CBBD676-117E-47D0-BF58-3A3625A64874}" presName="parTx" presStyleLbl="revTx" presStyleIdx="0" presStyleCnt="3">
        <dgm:presLayoutVars>
          <dgm:chMax val="0"/>
          <dgm:chPref val="0"/>
        </dgm:presLayoutVars>
      </dgm:prSet>
      <dgm:spPr/>
    </dgm:pt>
    <dgm:pt modelId="{97D7116B-F136-49F9-BACE-102D7B01F3E5}" type="pres">
      <dgm:prSet presAssocID="{E4B3FE71-A9AD-43CE-B393-CDB4E8C88ECD}" presName="sibTrans" presStyleCnt="0"/>
      <dgm:spPr/>
    </dgm:pt>
    <dgm:pt modelId="{D3ED8FBA-22F7-4E93-8BD8-37D3D2739315}" type="pres">
      <dgm:prSet presAssocID="{01ACFA66-CC0B-4A2E-A2ED-953A652A8859}" presName="compNode" presStyleCnt="0"/>
      <dgm:spPr/>
    </dgm:pt>
    <dgm:pt modelId="{950A74ED-8C98-4F8D-9ADD-94A9D9400219}" type="pres">
      <dgm:prSet presAssocID="{01ACFA66-CC0B-4A2E-A2ED-953A652A8859}" presName="bgRect" presStyleLbl="bgShp" presStyleIdx="1" presStyleCnt="3" custLinFactNeighborX="0" custLinFactNeighborY="-2281"/>
      <dgm:spPr/>
    </dgm:pt>
    <dgm:pt modelId="{913C95DC-6765-437E-A5CF-0D6673C0D33A}" type="pres">
      <dgm:prSet presAssocID="{01ACFA66-CC0B-4A2E-A2ED-953A652A885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rawing Compass"/>
        </a:ext>
      </dgm:extLst>
    </dgm:pt>
    <dgm:pt modelId="{D9F66D9C-F7B6-4101-A1CE-D3CB26241F68}" type="pres">
      <dgm:prSet presAssocID="{01ACFA66-CC0B-4A2E-A2ED-953A652A8859}" presName="spaceRect" presStyleCnt="0"/>
      <dgm:spPr/>
    </dgm:pt>
    <dgm:pt modelId="{200B973F-919F-4E45-AE32-79D6499E4F43}" type="pres">
      <dgm:prSet presAssocID="{01ACFA66-CC0B-4A2E-A2ED-953A652A8859}" presName="parTx" presStyleLbl="revTx" presStyleIdx="1" presStyleCnt="3">
        <dgm:presLayoutVars>
          <dgm:chMax val="0"/>
          <dgm:chPref val="0"/>
        </dgm:presLayoutVars>
      </dgm:prSet>
      <dgm:spPr/>
    </dgm:pt>
    <dgm:pt modelId="{7D2CFBBC-CBD1-4EA2-B087-86042650A496}" type="pres">
      <dgm:prSet presAssocID="{7DF9E88A-1879-452E-B2CA-E202030C2256}" presName="sibTrans" presStyleCnt="0"/>
      <dgm:spPr/>
    </dgm:pt>
    <dgm:pt modelId="{DAFB2217-0010-4468-838A-CB9CAC45D730}" type="pres">
      <dgm:prSet presAssocID="{5F9A6284-610D-43FE-A209-2EBC88E76B10}" presName="compNode" presStyleCnt="0"/>
      <dgm:spPr/>
    </dgm:pt>
    <dgm:pt modelId="{50CF1EBE-2F15-4BEA-8833-388D1A40D701}" type="pres">
      <dgm:prSet presAssocID="{5F9A6284-610D-43FE-A209-2EBC88E76B10}" presName="bgRect" presStyleLbl="bgShp" presStyleIdx="2" presStyleCnt="3"/>
      <dgm:spPr/>
    </dgm:pt>
    <dgm:pt modelId="{63FE90C2-F5A7-432A-B7D5-93BEB0B9066A}" type="pres">
      <dgm:prSet presAssocID="{5F9A6284-610D-43FE-A209-2EBC88E76B1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lcolatrice"/>
        </a:ext>
      </dgm:extLst>
    </dgm:pt>
    <dgm:pt modelId="{F83F1A93-8F26-4CFF-AA34-B4A8C71DA6AB}" type="pres">
      <dgm:prSet presAssocID="{5F9A6284-610D-43FE-A209-2EBC88E76B10}" presName="spaceRect" presStyleCnt="0"/>
      <dgm:spPr/>
    </dgm:pt>
    <dgm:pt modelId="{C674F70D-DC8D-4741-8A10-4F58EB2DB89D}" type="pres">
      <dgm:prSet presAssocID="{5F9A6284-610D-43FE-A209-2EBC88E76B10}" presName="parTx" presStyleLbl="revTx" presStyleIdx="2" presStyleCnt="3">
        <dgm:presLayoutVars>
          <dgm:chMax val="0"/>
          <dgm:chPref val="0"/>
        </dgm:presLayoutVars>
      </dgm:prSet>
      <dgm:spPr/>
    </dgm:pt>
  </dgm:ptLst>
  <dgm:cxnLst>
    <dgm:cxn modelId="{025AAB25-B785-4B67-A9FD-4E140700FF4F}" srcId="{756A6885-C9C3-4CE7-A271-DAC70E2A2825}" destId="{3CBBD676-117E-47D0-BF58-3A3625A64874}" srcOrd="0" destOrd="0" parTransId="{CDE2E215-DBF9-4CD6-8F8A-E88013099D42}" sibTransId="{E4B3FE71-A9AD-43CE-B393-CDB4E8C88ECD}"/>
    <dgm:cxn modelId="{3CD92446-4DE4-44F7-B766-3C8EC4222615}" type="presOf" srcId="{3CBBD676-117E-47D0-BF58-3A3625A64874}" destId="{A4D80D52-C296-4B56-B2C6-7BA8A032483B}" srcOrd="0" destOrd="0" presId="urn:microsoft.com/office/officeart/2018/2/layout/IconVerticalSolidList"/>
    <dgm:cxn modelId="{2D0B4596-05BE-41A1-8BDD-5F9FAEE53284}" type="presOf" srcId="{01ACFA66-CC0B-4A2E-A2ED-953A652A8859}" destId="{200B973F-919F-4E45-AE32-79D6499E4F43}" srcOrd="0" destOrd="0" presId="urn:microsoft.com/office/officeart/2018/2/layout/IconVerticalSolidList"/>
    <dgm:cxn modelId="{1D91DAB7-E7F6-404C-B13B-72BA2AE92446}" srcId="{756A6885-C9C3-4CE7-A271-DAC70E2A2825}" destId="{5F9A6284-610D-43FE-A209-2EBC88E76B10}" srcOrd="2" destOrd="0" parTransId="{3CF134E9-C87D-40F4-87FF-625EE67FC6A0}" sibTransId="{49D5F99C-0BF9-4CF1-A267-CF661574DE2E}"/>
    <dgm:cxn modelId="{EE709FC6-A0C1-4804-AFFC-FAD6F46D88B1}" srcId="{756A6885-C9C3-4CE7-A271-DAC70E2A2825}" destId="{01ACFA66-CC0B-4A2E-A2ED-953A652A8859}" srcOrd="1" destOrd="0" parTransId="{C4657783-8720-4E65-B807-D81B79E53101}" sibTransId="{7DF9E88A-1879-452E-B2CA-E202030C2256}"/>
    <dgm:cxn modelId="{1E24DBEE-7D71-4F65-ABBA-0D3C1BCC43E0}" type="presOf" srcId="{5F9A6284-610D-43FE-A209-2EBC88E76B10}" destId="{C674F70D-DC8D-4741-8A10-4F58EB2DB89D}" srcOrd="0" destOrd="0" presId="urn:microsoft.com/office/officeart/2018/2/layout/IconVerticalSolidList"/>
    <dgm:cxn modelId="{738889F4-F5FF-4B2B-8656-5F95C883F56E}" type="presOf" srcId="{756A6885-C9C3-4CE7-A271-DAC70E2A2825}" destId="{331E367A-CF77-4EE6-B695-2A901AB446DB}" srcOrd="0" destOrd="0" presId="urn:microsoft.com/office/officeart/2018/2/layout/IconVerticalSolidList"/>
    <dgm:cxn modelId="{AB33DBED-329B-4B5D-8F55-CDF3CABF6983}" type="presParOf" srcId="{331E367A-CF77-4EE6-B695-2A901AB446DB}" destId="{4A3BDD92-9050-4B68-8448-F23025980A63}" srcOrd="0" destOrd="0" presId="urn:microsoft.com/office/officeart/2018/2/layout/IconVerticalSolidList"/>
    <dgm:cxn modelId="{60CD78F2-261C-4D54-B98D-19A4E5C2C59E}" type="presParOf" srcId="{4A3BDD92-9050-4B68-8448-F23025980A63}" destId="{04146E93-29A8-4CCA-9AFE-2592C319D6A7}" srcOrd="0" destOrd="0" presId="urn:microsoft.com/office/officeart/2018/2/layout/IconVerticalSolidList"/>
    <dgm:cxn modelId="{84C3B4DD-15E3-4AFB-AFE9-021E27A42023}" type="presParOf" srcId="{4A3BDD92-9050-4B68-8448-F23025980A63}" destId="{27F595D1-1116-4E63-9B92-D4C163C04FD7}" srcOrd="1" destOrd="0" presId="urn:microsoft.com/office/officeart/2018/2/layout/IconVerticalSolidList"/>
    <dgm:cxn modelId="{2A7089DF-09CD-47CB-BD47-5FE1BEBCA326}" type="presParOf" srcId="{4A3BDD92-9050-4B68-8448-F23025980A63}" destId="{DE0D21DE-5781-406F-B713-1EA5BCF786FD}" srcOrd="2" destOrd="0" presId="urn:microsoft.com/office/officeart/2018/2/layout/IconVerticalSolidList"/>
    <dgm:cxn modelId="{3F5CBA83-83A7-436D-B5D6-4CF6239DD994}" type="presParOf" srcId="{4A3BDD92-9050-4B68-8448-F23025980A63}" destId="{A4D80D52-C296-4B56-B2C6-7BA8A032483B}" srcOrd="3" destOrd="0" presId="urn:microsoft.com/office/officeart/2018/2/layout/IconVerticalSolidList"/>
    <dgm:cxn modelId="{C4F78DB4-BC3E-43FA-AAF6-BF343E2BFA28}" type="presParOf" srcId="{331E367A-CF77-4EE6-B695-2A901AB446DB}" destId="{97D7116B-F136-49F9-BACE-102D7B01F3E5}" srcOrd="1" destOrd="0" presId="urn:microsoft.com/office/officeart/2018/2/layout/IconVerticalSolidList"/>
    <dgm:cxn modelId="{B2B0BDB5-D2D3-4A00-93E9-594178B94477}" type="presParOf" srcId="{331E367A-CF77-4EE6-B695-2A901AB446DB}" destId="{D3ED8FBA-22F7-4E93-8BD8-37D3D2739315}" srcOrd="2" destOrd="0" presId="urn:microsoft.com/office/officeart/2018/2/layout/IconVerticalSolidList"/>
    <dgm:cxn modelId="{F8F5DE15-9C0E-481D-977F-EEE40784BF3C}" type="presParOf" srcId="{D3ED8FBA-22F7-4E93-8BD8-37D3D2739315}" destId="{950A74ED-8C98-4F8D-9ADD-94A9D9400219}" srcOrd="0" destOrd="0" presId="urn:microsoft.com/office/officeart/2018/2/layout/IconVerticalSolidList"/>
    <dgm:cxn modelId="{736BF7D9-A6CB-40C3-8398-7A2616593BF4}" type="presParOf" srcId="{D3ED8FBA-22F7-4E93-8BD8-37D3D2739315}" destId="{913C95DC-6765-437E-A5CF-0D6673C0D33A}" srcOrd="1" destOrd="0" presId="urn:microsoft.com/office/officeart/2018/2/layout/IconVerticalSolidList"/>
    <dgm:cxn modelId="{692E9390-3439-4FD3-BE30-966894D0744D}" type="presParOf" srcId="{D3ED8FBA-22F7-4E93-8BD8-37D3D2739315}" destId="{D9F66D9C-F7B6-4101-A1CE-D3CB26241F68}" srcOrd="2" destOrd="0" presId="urn:microsoft.com/office/officeart/2018/2/layout/IconVerticalSolidList"/>
    <dgm:cxn modelId="{B1017619-8C70-4528-9989-BA107EAACA9F}" type="presParOf" srcId="{D3ED8FBA-22F7-4E93-8BD8-37D3D2739315}" destId="{200B973F-919F-4E45-AE32-79D6499E4F43}" srcOrd="3" destOrd="0" presId="urn:microsoft.com/office/officeart/2018/2/layout/IconVerticalSolidList"/>
    <dgm:cxn modelId="{13C3CF03-EF9A-48A3-84CB-53A90C5A059F}" type="presParOf" srcId="{331E367A-CF77-4EE6-B695-2A901AB446DB}" destId="{7D2CFBBC-CBD1-4EA2-B087-86042650A496}" srcOrd="3" destOrd="0" presId="urn:microsoft.com/office/officeart/2018/2/layout/IconVerticalSolidList"/>
    <dgm:cxn modelId="{931FEB92-6E28-4923-9030-072FB937020C}" type="presParOf" srcId="{331E367A-CF77-4EE6-B695-2A901AB446DB}" destId="{DAFB2217-0010-4468-838A-CB9CAC45D730}" srcOrd="4" destOrd="0" presId="urn:microsoft.com/office/officeart/2018/2/layout/IconVerticalSolidList"/>
    <dgm:cxn modelId="{30000794-3F28-4F9C-A648-36C20DBA2F8F}" type="presParOf" srcId="{DAFB2217-0010-4468-838A-CB9CAC45D730}" destId="{50CF1EBE-2F15-4BEA-8833-388D1A40D701}" srcOrd="0" destOrd="0" presId="urn:microsoft.com/office/officeart/2018/2/layout/IconVerticalSolidList"/>
    <dgm:cxn modelId="{FC7074EF-804E-4228-B2ED-785801FC275F}" type="presParOf" srcId="{DAFB2217-0010-4468-838A-CB9CAC45D730}" destId="{63FE90C2-F5A7-432A-B7D5-93BEB0B9066A}" srcOrd="1" destOrd="0" presId="urn:microsoft.com/office/officeart/2018/2/layout/IconVerticalSolidList"/>
    <dgm:cxn modelId="{75A853B5-73D9-440B-BFAA-396A49B84C2A}" type="presParOf" srcId="{DAFB2217-0010-4468-838A-CB9CAC45D730}" destId="{F83F1A93-8F26-4CFF-AA34-B4A8C71DA6AB}" srcOrd="2" destOrd="0" presId="urn:microsoft.com/office/officeart/2018/2/layout/IconVerticalSolidList"/>
    <dgm:cxn modelId="{56C398AB-3803-460A-8E08-55368F62A10F}" type="presParOf" srcId="{DAFB2217-0010-4468-838A-CB9CAC45D730}" destId="{C674F70D-DC8D-4741-8A10-4F58EB2DB89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6CA0450-5903-4157-BACD-FCD7F2831C4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B56A78F-6378-4F6A-95E3-93C450DC9680}">
      <dgm:prSet/>
      <dgm:spPr/>
      <dgm:t>
        <a:bodyPr/>
        <a:lstStyle/>
        <a:p>
          <a:pPr>
            <a:lnSpc>
              <a:spcPct val="100000"/>
            </a:lnSpc>
          </a:pPr>
          <a:r>
            <a:rPr lang="en-US" dirty="0">
              <a:latin typeface="Aptos Narrow" panose="020B0004020202020204" pitchFamily="34" charset="0"/>
            </a:rPr>
            <a:t>The first </a:t>
          </a:r>
          <a:r>
            <a:rPr lang="en-US" b="1" dirty="0">
              <a:latin typeface="Aptos Narrow" panose="020B0004020202020204" pitchFamily="34" charset="0"/>
            </a:rPr>
            <a:t>OCP (standard MPC tracking) </a:t>
          </a:r>
          <a:r>
            <a:rPr lang="en-US" dirty="0">
              <a:latin typeface="Aptos Narrow" panose="020B0004020202020204" pitchFamily="34" charset="0"/>
            </a:rPr>
            <a:t>aims to minimize tracking error and transaction costs using a classical optimization method</a:t>
          </a:r>
        </a:p>
      </dgm:t>
    </dgm:pt>
    <dgm:pt modelId="{8765C856-27CB-40A3-A3AC-3F4C20D90152}" type="parTrans" cxnId="{471D1345-265E-46BB-888D-14FCC7C29AD7}">
      <dgm:prSet/>
      <dgm:spPr/>
      <dgm:t>
        <a:bodyPr/>
        <a:lstStyle/>
        <a:p>
          <a:endParaRPr lang="en-US"/>
        </a:p>
      </dgm:t>
    </dgm:pt>
    <dgm:pt modelId="{0F831C0F-BB80-42CD-B980-E3E694F93FD6}" type="sibTrans" cxnId="{471D1345-265E-46BB-888D-14FCC7C29AD7}">
      <dgm:prSet/>
      <dgm:spPr/>
      <dgm:t>
        <a:bodyPr/>
        <a:lstStyle/>
        <a:p>
          <a:endParaRPr lang="en-US"/>
        </a:p>
      </dgm:t>
    </dgm:pt>
    <dgm:pt modelId="{D340EDBB-51E1-455A-8C2B-93084464291D}">
      <dgm:prSet/>
      <dgm:spPr/>
      <dgm:t>
        <a:bodyPr/>
        <a:lstStyle/>
        <a:p>
          <a:pPr>
            <a:lnSpc>
              <a:spcPct val="100000"/>
            </a:lnSpc>
          </a:pPr>
          <a:r>
            <a:rPr lang="en-US" dirty="0">
              <a:latin typeface="Aptos Narrow" panose="020B0004020202020204" pitchFamily="34" charset="0"/>
            </a:rPr>
            <a:t>The second formulation of </a:t>
          </a:r>
          <a:r>
            <a:rPr lang="en-US" b="1" dirty="0">
              <a:latin typeface="Aptos Narrow" panose="020B0004020202020204" pitchFamily="34" charset="0"/>
            </a:rPr>
            <a:t>OCP (CVaR-based MPC tracking)</a:t>
          </a:r>
          <a:r>
            <a:rPr lang="en-US" dirty="0">
              <a:latin typeface="Aptos Narrow" panose="020B0004020202020204" pitchFamily="34" charset="0"/>
            </a:rPr>
            <a:t> aims to minimize tracking error and transaction costs with the strategy of focusing on worst-case scenarios for the objective function</a:t>
          </a:r>
        </a:p>
      </dgm:t>
    </dgm:pt>
    <dgm:pt modelId="{824F2D59-0604-4F4A-BABA-D5578242099E}" type="parTrans" cxnId="{92F99C5F-8F76-4E53-941D-97E94EE00C72}">
      <dgm:prSet/>
      <dgm:spPr/>
      <dgm:t>
        <a:bodyPr/>
        <a:lstStyle/>
        <a:p>
          <a:endParaRPr lang="en-US"/>
        </a:p>
      </dgm:t>
    </dgm:pt>
    <dgm:pt modelId="{E1A812B5-6BB1-4FC8-9592-7C8DDD4C4956}" type="sibTrans" cxnId="{92F99C5F-8F76-4E53-941D-97E94EE00C72}">
      <dgm:prSet/>
      <dgm:spPr/>
      <dgm:t>
        <a:bodyPr/>
        <a:lstStyle/>
        <a:p>
          <a:endParaRPr lang="en-US"/>
        </a:p>
      </dgm:t>
    </dgm:pt>
    <dgm:pt modelId="{3574FEFE-C5F8-4537-B1C2-C238986F022B}" type="pres">
      <dgm:prSet presAssocID="{B6CA0450-5903-4157-BACD-FCD7F2831C48}" presName="root" presStyleCnt="0">
        <dgm:presLayoutVars>
          <dgm:dir/>
          <dgm:resizeHandles val="exact"/>
        </dgm:presLayoutVars>
      </dgm:prSet>
      <dgm:spPr/>
    </dgm:pt>
    <dgm:pt modelId="{61714BA9-E067-4722-B4DC-66118832260C}" type="pres">
      <dgm:prSet presAssocID="{BB56A78F-6378-4F6A-95E3-93C450DC9680}" presName="compNode" presStyleCnt="0"/>
      <dgm:spPr/>
    </dgm:pt>
    <dgm:pt modelId="{0A6259A0-E8CF-4C66-8880-FB5AD524717D}" type="pres">
      <dgm:prSet presAssocID="{BB56A78F-6378-4F6A-95E3-93C450DC9680}" presName="bgRect" presStyleLbl="bgShp" presStyleIdx="0" presStyleCnt="2"/>
      <dgm:spPr/>
    </dgm:pt>
    <dgm:pt modelId="{52DFBE39-5CD0-45B9-8B42-BA36CD996294}" type="pres">
      <dgm:prSet presAssocID="{BB56A78F-6378-4F6A-95E3-93C450DC968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Ingranaggi"/>
        </a:ext>
      </dgm:extLst>
    </dgm:pt>
    <dgm:pt modelId="{A00987AF-87C2-404E-A8BD-9E209CAD30A2}" type="pres">
      <dgm:prSet presAssocID="{BB56A78F-6378-4F6A-95E3-93C450DC9680}" presName="spaceRect" presStyleCnt="0"/>
      <dgm:spPr/>
    </dgm:pt>
    <dgm:pt modelId="{875AD5D3-B057-4CDF-A9E5-3D8E1AC4D447}" type="pres">
      <dgm:prSet presAssocID="{BB56A78F-6378-4F6A-95E3-93C450DC9680}" presName="parTx" presStyleLbl="revTx" presStyleIdx="0" presStyleCnt="2">
        <dgm:presLayoutVars>
          <dgm:chMax val="0"/>
          <dgm:chPref val="0"/>
        </dgm:presLayoutVars>
      </dgm:prSet>
      <dgm:spPr/>
    </dgm:pt>
    <dgm:pt modelId="{3C4CE352-79AD-4C00-920A-4C4C3A64CBD1}" type="pres">
      <dgm:prSet presAssocID="{0F831C0F-BB80-42CD-B980-E3E694F93FD6}" presName="sibTrans" presStyleCnt="0"/>
      <dgm:spPr/>
    </dgm:pt>
    <dgm:pt modelId="{90DB456A-9C48-408F-80CE-B1D265AAC6AA}" type="pres">
      <dgm:prSet presAssocID="{D340EDBB-51E1-455A-8C2B-93084464291D}" presName="compNode" presStyleCnt="0"/>
      <dgm:spPr/>
    </dgm:pt>
    <dgm:pt modelId="{BAC5D49D-FE5F-4FAB-AFEB-709C9D3964A0}" type="pres">
      <dgm:prSet presAssocID="{D340EDBB-51E1-455A-8C2B-93084464291D}" presName="bgRect" presStyleLbl="bgShp" presStyleIdx="1" presStyleCnt="2"/>
      <dgm:spPr/>
    </dgm:pt>
    <dgm:pt modelId="{EFFEEA2B-7138-403C-AB01-321E3C607FAF}" type="pres">
      <dgm:prSet presAssocID="{D340EDBB-51E1-455A-8C2B-93084464291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icerca"/>
        </a:ext>
      </dgm:extLst>
    </dgm:pt>
    <dgm:pt modelId="{56E8BA85-552C-4476-B9E9-A5FBB351CB50}" type="pres">
      <dgm:prSet presAssocID="{D340EDBB-51E1-455A-8C2B-93084464291D}" presName="spaceRect" presStyleCnt="0"/>
      <dgm:spPr/>
    </dgm:pt>
    <dgm:pt modelId="{7A62FCAE-759A-4D13-9A4F-4932F8DB8BF4}" type="pres">
      <dgm:prSet presAssocID="{D340EDBB-51E1-455A-8C2B-93084464291D}" presName="parTx" presStyleLbl="revTx" presStyleIdx="1" presStyleCnt="2">
        <dgm:presLayoutVars>
          <dgm:chMax val="0"/>
          <dgm:chPref val="0"/>
        </dgm:presLayoutVars>
      </dgm:prSet>
      <dgm:spPr/>
    </dgm:pt>
  </dgm:ptLst>
  <dgm:cxnLst>
    <dgm:cxn modelId="{644A1716-69BF-49B3-B231-89AF00A095E9}" type="presOf" srcId="{BB56A78F-6378-4F6A-95E3-93C450DC9680}" destId="{875AD5D3-B057-4CDF-A9E5-3D8E1AC4D447}" srcOrd="0" destOrd="0" presId="urn:microsoft.com/office/officeart/2018/2/layout/IconVerticalSolidList"/>
    <dgm:cxn modelId="{92F99C5F-8F76-4E53-941D-97E94EE00C72}" srcId="{B6CA0450-5903-4157-BACD-FCD7F2831C48}" destId="{D340EDBB-51E1-455A-8C2B-93084464291D}" srcOrd="1" destOrd="0" parTransId="{824F2D59-0604-4F4A-BABA-D5578242099E}" sibTransId="{E1A812B5-6BB1-4FC8-9592-7C8DDD4C4956}"/>
    <dgm:cxn modelId="{471D1345-265E-46BB-888D-14FCC7C29AD7}" srcId="{B6CA0450-5903-4157-BACD-FCD7F2831C48}" destId="{BB56A78F-6378-4F6A-95E3-93C450DC9680}" srcOrd="0" destOrd="0" parTransId="{8765C856-27CB-40A3-A3AC-3F4C20D90152}" sibTransId="{0F831C0F-BB80-42CD-B980-E3E694F93FD6}"/>
    <dgm:cxn modelId="{96FD3DBB-64BC-4E8C-8EEA-812D1694E7E3}" type="presOf" srcId="{D340EDBB-51E1-455A-8C2B-93084464291D}" destId="{7A62FCAE-759A-4D13-9A4F-4932F8DB8BF4}" srcOrd="0" destOrd="0" presId="urn:microsoft.com/office/officeart/2018/2/layout/IconVerticalSolidList"/>
    <dgm:cxn modelId="{06A71BDD-D206-4A75-BE07-8C91296D9090}" type="presOf" srcId="{B6CA0450-5903-4157-BACD-FCD7F2831C48}" destId="{3574FEFE-C5F8-4537-B1C2-C238986F022B}" srcOrd="0" destOrd="0" presId="urn:microsoft.com/office/officeart/2018/2/layout/IconVerticalSolidList"/>
    <dgm:cxn modelId="{E924639D-AE40-4CBA-9151-A4B1007257AF}" type="presParOf" srcId="{3574FEFE-C5F8-4537-B1C2-C238986F022B}" destId="{61714BA9-E067-4722-B4DC-66118832260C}" srcOrd="0" destOrd="0" presId="urn:microsoft.com/office/officeart/2018/2/layout/IconVerticalSolidList"/>
    <dgm:cxn modelId="{5EB42902-BC83-44B0-A309-E362DB5BE657}" type="presParOf" srcId="{61714BA9-E067-4722-B4DC-66118832260C}" destId="{0A6259A0-E8CF-4C66-8880-FB5AD524717D}" srcOrd="0" destOrd="0" presId="urn:microsoft.com/office/officeart/2018/2/layout/IconVerticalSolidList"/>
    <dgm:cxn modelId="{B0F30E7F-08DC-4F89-8C5D-7A49456F62D8}" type="presParOf" srcId="{61714BA9-E067-4722-B4DC-66118832260C}" destId="{52DFBE39-5CD0-45B9-8B42-BA36CD996294}" srcOrd="1" destOrd="0" presId="urn:microsoft.com/office/officeart/2018/2/layout/IconVerticalSolidList"/>
    <dgm:cxn modelId="{7CEE7ADD-5E92-4949-BE90-6FDA9E5BC43D}" type="presParOf" srcId="{61714BA9-E067-4722-B4DC-66118832260C}" destId="{A00987AF-87C2-404E-A8BD-9E209CAD30A2}" srcOrd="2" destOrd="0" presId="urn:microsoft.com/office/officeart/2018/2/layout/IconVerticalSolidList"/>
    <dgm:cxn modelId="{CC83E861-3285-4AA2-8500-2CA34911451A}" type="presParOf" srcId="{61714BA9-E067-4722-B4DC-66118832260C}" destId="{875AD5D3-B057-4CDF-A9E5-3D8E1AC4D447}" srcOrd="3" destOrd="0" presId="urn:microsoft.com/office/officeart/2018/2/layout/IconVerticalSolidList"/>
    <dgm:cxn modelId="{CF59A4DD-F25B-493B-8DA1-0FFBA40DF979}" type="presParOf" srcId="{3574FEFE-C5F8-4537-B1C2-C238986F022B}" destId="{3C4CE352-79AD-4C00-920A-4C4C3A64CBD1}" srcOrd="1" destOrd="0" presId="urn:microsoft.com/office/officeart/2018/2/layout/IconVerticalSolidList"/>
    <dgm:cxn modelId="{28B6022C-2513-4749-BBCD-524670B284FE}" type="presParOf" srcId="{3574FEFE-C5F8-4537-B1C2-C238986F022B}" destId="{90DB456A-9C48-408F-80CE-B1D265AAC6AA}" srcOrd="2" destOrd="0" presId="urn:microsoft.com/office/officeart/2018/2/layout/IconVerticalSolidList"/>
    <dgm:cxn modelId="{DBB7C14F-3489-41E9-A817-05ECBE22E7B2}" type="presParOf" srcId="{90DB456A-9C48-408F-80CE-B1D265AAC6AA}" destId="{BAC5D49D-FE5F-4FAB-AFEB-709C9D3964A0}" srcOrd="0" destOrd="0" presId="urn:microsoft.com/office/officeart/2018/2/layout/IconVerticalSolidList"/>
    <dgm:cxn modelId="{00D49AC0-83B6-44FF-997C-2C98FFC8DAA3}" type="presParOf" srcId="{90DB456A-9C48-408F-80CE-B1D265AAC6AA}" destId="{EFFEEA2B-7138-403C-AB01-321E3C607FAF}" srcOrd="1" destOrd="0" presId="urn:microsoft.com/office/officeart/2018/2/layout/IconVerticalSolidList"/>
    <dgm:cxn modelId="{703EEFD1-0FD6-42DB-AE48-BCEC528ADBF2}" type="presParOf" srcId="{90DB456A-9C48-408F-80CE-B1D265AAC6AA}" destId="{56E8BA85-552C-4476-B9E9-A5FBB351CB50}" srcOrd="2" destOrd="0" presId="urn:microsoft.com/office/officeart/2018/2/layout/IconVerticalSolidList"/>
    <dgm:cxn modelId="{07E881CD-43D4-485C-B40F-4B86E7B03839}" type="presParOf" srcId="{90DB456A-9C48-408F-80CE-B1D265AAC6AA}" destId="{7A62FCAE-759A-4D13-9A4F-4932F8DB8BF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8B46182-ED07-4D45-8D47-56B16A8792B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7F423BA-2EB7-43DD-A30B-B885FB6D18AE}">
      <dgm:prSet/>
      <dgm:spPr/>
      <dgm:t>
        <a:bodyPr/>
        <a:lstStyle/>
        <a:p>
          <a:pPr>
            <a:lnSpc>
              <a:spcPct val="100000"/>
            </a:lnSpc>
          </a:pPr>
          <a:r>
            <a:rPr lang="en-US" dirty="0">
              <a:latin typeface="Aptos Narrow" panose="020B0004020202020204" pitchFamily="34" charset="0"/>
            </a:rPr>
            <a:t>The proposed MPC strategy is implemented in MATLAB. the authors to solve the optimization problem rely on the </a:t>
          </a:r>
          <a:r>
            <a:rPr lang="en-US" dirty="0" err="1">
              <a:latin typeface="Cascadia Code ExtraLight" panose="020B0609020000020004" pitchFamily="49" charset="0"/>
              <a:ea typeface="Cascadia Code ExtraLight" panose="020B0609020000020004" pitchFamily="49" charset="0"/>
              <a:cs typeface="Cascadia Code ExtraLight" panose="020B0609020000020004" pitchFamily="49" charset="0"/>
            </a:rPr>
            <a:t>fmincon</a:t>
          </a:r>
          <a:r>
            <a:rPr lang="en-US" dirty="0">
              <a:latin typeface="Aptos Narrow" panose="020B0004020202020204" pitchFamily="34" charset="0"/>
            </a:rPr>
            <a:t> function: it is the most widely used solver for constrained nonlinear optimization problems.</a:t>
          </a:r>
        </a:p>
      </dgm:t>
    </dgm:pt>
    <dgm:pt modelId="{DD084CC6-406B-4CB0-A0C9-8AD2F9D3A141}" type="parTrans" cxnId="{753F0CD8-47DF-4D94-AA9A-375DF0385F48}">
      <dgm:prSet/>
      <dgm:spPr/>
      <dgm:t>
        <a:bodyPr/>
        <a:lstStyle/>
        <a:p>
          <a:endParaRPr lang="en-US"/>
        </a:p>
      </dgm:t>
    </dgm:pt>
    <dgm:pt modelId="{8CD7C42A-F3B0-431A-B368-1F75C62F220E}" type="sibTrans" cxnId="{753F0CD8-47DF-4D94-AA9A-375DF0385F48}">
      <dgm:prSet/>
      <dgm:spPr/>
      <dgm:t>
        <a:bodyPr/>
        <a:lstStyle/>
        <a:p>
          <a:endParaRPr lang="en-US"/>
        </a:p>
      </dgm:t>
    </dgm:pt>
    <dgm:pt modelId="{5852920B-E71F-4253-A805-1C93D65EBBEF}">
      <dgm:prSet/>
      <dgm:spPr/>
      <dgm:t>
        <a:bodyPr/>
        <a:lstStyle/>
        <a:p>
          <a:pPr>
            <a:lnSpc>
              <a:spcPct val="100000"/>
            </a:lnSpc>
          </a:pPr>
          <a:r>
            <a:rPr lang="en-US" dirty="0">
              <a:latin typeface="Aptos Narrow" panose="020B0004020202020204" pitchFamily="34" charset="0"/>
            </a:rPr>
            <a:t>The mathematical model on which </a:t>
          </a:r>
          <a:r>
            <a:rPr lang="en-US" dirty="0" err="1">
              <a:latin typeface="Cascadia Code ExtraLight" panose="020B0609020000020004" pitchFamily="49" charset="0"/>
              <a:ea typeface="Cascadia Code ExtraLight" panose="020B0609020000020004" pitchFamily="49" charset="0"/>
              <a:cs typeface="Cascadia Code ExtraLight" panose="020B0609020000020004" pitchFamily="49" charset="0"/>
            </a:rPr>
            <a:t>fmincon</a:t>
          </a:r>
          <a:r>
            <a:rPr lang="en-US" dirty="0">
              <a:latin typeface="Aptos Narrow" panose="020B0004020202020204" pitchFamily="34" charset="0"/>
            </a:rPr>
            <a:t> is based is </a:t>
          </a:r>
          <a:r>
            <a:rPr lang="en-US" b="1" dirty="0">
              <a:latin typeface="Aptos Narrow" panose="020B0004020202020204" pitchFamily="34" charset="0"/>
            </a:rPr>
            <a:t>Sequential Quadratic Programming (SQP)</a:t>
          </a:r>
          <a:r>
            <a:rPr lang="en-US" dirty="0">
              <a:latin typeface="Aptos Narrow" panose="020B0004020202020204" pitchFamily="34" charset="0"/>
            </a:rPr>
            <a:t>, considered one of the most precise methods for medium-scale nonlinear problems, especially when the constraints are stringent</a:t>
          </a:r>
          <a:r>
            <a:rPr lang="it-IT" dirty="0">
              <a:latin typeface="Aptos Narrow" panose="020B0004020202020204" pitchFamily="34" charset="0"/>
            </a:rPr>
            <a:t>.</a:t>
          </a:r>
          <a:endParaRPr lang="en-US" dirty="0">
            <a:latin typeface="Aptos Narrow" panose="020B0004020202020204" pitchFamily="34" charset="0"/>
          </a:endParaRPr>
        </a:p>
      </dgm:t>
    </dgm:pt>
    <dgm:pt modelId="{8C04B5E5-CA3C-4A33-8837-340076A60CC6}" type="parTrans" cxnId="{C31B978D-DA97-4391-9080-A003401E48BD}">
      <dgm:prSet/>
      <dgm:spPr/>
      <dgm:t>
        <a:bodyPr/>
        <a:lstStyle/>
        <a:p>
          <a:endParaRPr lang="en-US"/>
        </a:p>
      </dgm:t>
    </dgm:pt>
    <dgm:pt modelId="{5AAD8A18-7C9E-4F5C-9D12-C8A8D7AE5C45}" type="sibTrans" cxnId="{C31B978D-DA97-4391-9080-A003401E48BD}">
      <dgm:prSet/>
      <dgm:spPr/>
      <dgm:t>
        <a:bodyPr/>
        <a:lstStyle/>
        <a:p>
          <a:endParaRPr lang="en-US"/>
        </a:p>
      </dgm:t>
    </dgm:pt>
    <dgm:pt modelId="{BC71D255-12F0-4F94-852E-CA0D0B92D620}" type="pres">
      <dgm:prSet presAssocID="{48B46182-ED07-4D45-8D47-56B16A8792BC}" presName="root" presStyleCnt="0">
        <dgm:presLayoutVars>
          <dgm:dir/>
          <dgm:resizeHandles val="exact"/>
        </dgm:presLayoutVars>
      </dgm:prSet>
      <dgm:spPr/>
    </dgm:pt>
    <dgm:pt modelId="{DBC14DC2-8AFF-45DD-90CE-9B3E369548C1}" type="pres">
      <dgm:prSet presAssocID="{27F423BA-2EB7-43DD-A30B-B885FB6D18AE}" presName="compNode" presStyleCnt="0"/>
      <dgm:spPr/>
    </dgm:pt>
    <dgm:pt modelId="{FBDB59B4-7BDD-493A-8A2D-209711A219F5}" type="pres">
      <dgm:prSet presAssocID="{27F423BA-2EB7-43DD-A30B-B885FB6D18AE}" presName="bgRect" presStyleLbl="bgShp" presStyleIdx="0" presStyleCnt="2"/>
      <dgm:spPr/>
    </dgm:pt>
    <dgm:pt modelId="{35B618CF-17A4-448A-98AA-398AC0DA886E}" type="pres">
      <dgm:prSet presAssocID="{27F423BA-2EB7-43DD-A30B-B885FB6D18A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Design"/>
        </a:ext>
      </dgm:extLst>
    </dgm:pt>
    <dgm:pt modelId="{75ACA740-2511-4453-BDBB-87077F2A0651}" type="pres">
      <dgm:prSet presAssocID="{27F423BA-2EB7-43DD-A30B-B885FB6D18AE}" presName="spaceRect" presStyleCnt="0"/>
      <dgm:spPr/>
    </dgm:pt>
    <dgm:pt modelId="{CB1F867F-2C72-4EDD-B0A9-0F147E6650D2}" type="pres">
      <dgm:prSet presAssocID="{27F423BA-2EB7-43DD-A30B-B885FB6D18AE}" presName="parTx" presStyleLbl="revTx" presStyleIdx="0" presStyleCnt="2">
        <dgm:presLayoutVars>
          <dgm:chMax val="0"/>
          <dgm:chPref val="0"/>
        </dgm:presLayoutVars>
      </dgm:prSet>
      <dgm:spPr/>
    </dgm:pt>
    <dgm:pt modelId="{D7CFC465-22C5-4851-9A83-9F1C9D3D408C}" type="pres">
      <dgm:prSet presAssocID="{8CD7C42A-F3B0-431A-B368-1F75C62F220E}" presName="sibTrans" presStyleCnt="0"/>
      <dgm:spPr/>
    </dgm:pt>
    <dgm:pt modelId="{E322E6F6-037A-4B9E-98D6-9C86CAE8DDAD}" type="pres">
      <dgm:prSet presAssocID="{5852920B-E71F-4253-A805-1C93D65EBBEF}" presName="compNode" presStyleCnt="0"/>
      <dgm:spPr/>
    </dgm:pt>
    <dgm:pt modelId="{1F7FC66B-9945-46C2-8B94-E4DEA7436AE4}" type="pres">
      <dgm:prSet presAssocID="{5852920B-E71F-4253-A805-1C93D65EBBEF}" presName="bgRect" presStyleLbl="bgShp" presStyleIdx="1" presStyleCnt="2"/>
      <dgm:spPr/>
    </dgm:pt>
    <dgm:pt modelId="{503495B6-DA90-4CED-A9A2-B745ABDBC832}" type="pres">
      <dgm:prSet presAssocID="{5852920B-E71F-4253-A805-1C93D65EBBE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iagramma di flusso"/>
        </a:ext>
      </dgm:extLst>
    </dgm:pt>
    <dgm:pt modelId="{C9C039AC-BCA5-4C90-9200-74B019A2E79F}" type="pres">
      <dgm:prSet presAssocID="{5852920B-E71F-4253-A805-1C93D65EBBEF}" presName="spaceRect" presStyleCnt="0"/>
      <dgm:spPr/>
    </dgm:pt>
    <dgm:pt modelId="{059703E0-04D2-47D9-B28D-FCDCDF4C6C2F}" type="pres">
      <dgm:prSet presAssocID="{5852920B-E71F-4253-A805-1C93D65EBBEF}" presName="parTx" presStyleLbl="revTx" presStyleIdx="1" presStyleCnt="2">
        <dgm:presLayoutVars>
          <dgm:chMax val="0"/>
          <dgm:chPref val="0"/>
        </dgm:presLayoutVars>
      </dgm:prSet>
      <dgm:spPr/>
    </dgm:pt>
  </dgm:ptLst>
  <dgm:cxnLst>
    <dgm:cxn modelId="{3B223638-409D-4ECF-A80C-11EF37420A9C}" type="presOf" srcId="{27F423BA-2EB7-43DD-A30B-B885FB6D18AE}" destId="{CB1F867F-2C72-4EDD-B0A9-0F147E6650D2}" srcOrd="0" destOrd="0" presId="urn:microsoft.com/office/officeart/2018/2/layout/IconVerticalSolidList"/>
    <dgm:cxn modelId="{F50CDD8A-3D9D-4822-A923-F521BA4B80C6}" type="presOf" srcId="{5852920B-E71F-4253-A805-1C93D65EBBEF}" destId="{059703E0-04D2-47D9-B28D-FCDCDF4C6C2F}" srcOrd="0" destOrd="0" presId="urn:microsoft.com/office/officeart/2018/2/layout/IconVerticalSolidList"/>
    <dgm:cxn modelId="{C31B978D-DA97-4391-9080-A003401E48BD}" srcId="{48B46182-ED07-4D45-8D47-56B16A8792BC}" destId="{5852920B-E71F-4253-A805-1C93D65EBBEF}" srcOrd="1" destOrd="0" parTransId="{8C04B5E5-CA3C-4A33-8837-340076A60CC6}" sibTransId="{5AAD8A18-7C9E-4F5C-9D12-C8A8D7AE5C45}"/>
    <dgm:cxn modelId="{66DB51C7-8290-4904-89DD-0B71F9CEC7B1}" type="presOf" srcId="{48B46182-ED07-4D45-8D47-56B16A8792BC}" destId="{BC71D255-12F0-4F94-852E-CA0D0B92D620}" srcOrd="0" destOrd="0" presId="urn:microsoft.com/office/officeart/2018/2/layout/IconVerticalSolidList"/>
    <dgm:cxn modelId="{753F0CD8-47DF-4D94-AA9A-375DF0385F48}" srcId="{48B46182-ED07-4D45-8D47-56B16A8792BC}" destId="{27F423BA-2EB7-43DD-A30B-B885FB6D18AE}" srcOrd="0" destOrd="0" parTransId="{DD084CC6-406B-4CB0-A0C9-8AD2F9D3A141}" sibTransId="{8CD7C42A-F3B0-431A-B368-1F75C62F220E}"/>
    <dgm:cxn modelId="{9A386126-8ED4-47FE-9993-58F6390D4CBD}" type="presParOf" srcId="{BC71D255-12F0-4F94-852E-CA0D0B92D620}" destId="{DBC14DC2-8AFF-45DD-90CE-9B3E369548C1}" srcOrd="0" destOrd="0" presId="urn:microsoft.com/office/officeart/2018/2/layout/IconVerticalSolidList"/>
    <dgm:cxn modelId="{B0AC8373-992A-419C-9650-283F61765F18}" type="presParOf" srcId="{DBC14DC2-8AFF-45DD-90CE-9B3E369548C1}" destId="{FBDB59B4-7BDD-493A-8A2D-209711A219F5}" srcOrd="0" destOrd="0" presId="urn:microsoft.com/office/officeart/2018/2/layout/IconVerticalSolidList"/>
    <dgm:cxn modelId="{CA808616-954C-4B95-A1A7-2485BA77BE34}" type="presParOf" srcId="{DBC14DC2-8AFF-45DD-90CE-9B3E369548C1}" destId="{35B618CF-17A4-448A-98AA-398AC0DA886E}" srcOrd="1" destOrd="0" presId="urn:microsoft.com/office/officeart/2018/2/layout/IconVerticalSolidList"/>
    <dgm:cxn modelId="{C96CB0C5-E5BD-4817-AAD3-417BA71ECE97}" type="presParOf" srcId="{DBC14DC2-8AFF-45DD-90CE-9B3E369548C1}" destId="{75ACA740-2511-4453-BDBB-87077F2A0651}" srcOrd="2" destOrd="0" presId="urn:microsoft.com/office/officeart/2018/2/layout/IconVerticalSolidList"/>
    <dgm:cxn modelId="{1E6DF814-745F-4A00-BE7B-8C907805979E}" type="presParOf" srcId="{DBC14DC2-8AFF-45DD-90CE-9B3E369548C1}" destId="{CB1F867F-2C72-4EDD-B0A9-0F147E6650D2}" srcOrd="3" destOrd="0" presId="urn:microsoft.com/office/officeart/2018/2/layout/IconVerticalSolidList"/>
    <dgm:cxn modelId="{6621EB5C-688F-4AEF-881A-B38F27000606}" type="presParOf" srcId="{BC71D255-12F0-4F94-852E-CA0D0B92D620}" destId="{D7CFC465-22C5-4851-9A83-9F1C9D3D408C}" srcOrd="1" destOrd="0" presId="urn:microsoft.com/office/officeart/2018/2/layout/IconVerticalSolidList"/>
    <dgm:cxn modelId="{EB3B6142-FB5E-4912-9B87-09C9C2B77DFF}" type="presParOf" srcId="{BC71D255-12F0-4F94-852E-CA0D0B92D620}" destId="{E322E6F6-037A-4B9E-98D6-9C86CAE8DDAD}" srcOrd="2" destOrd="0" presId="urn:microsoft.com/office/officeart/2018/2/layout/IconVerticalSolidList"/>
    <dgm:cxn modelId="{9FC8F49B-A7E5-4F1B-B4D4-E1139E3866C3}" type="presParOf" srcId="{E322E6F6-037A-4B9E-98D6-9C86CAE8DDAD}" destId="{1F7FC66B-9945-46C2-8B94-E4DEA7436AE4}" srcOrd="0" destOrd="0" presId="urn:microsoft.com/office/officeart/2018/2/layout/IconVerticalSolidList"/>
    <dgm:cxn modelId="{E2D4B248-2007-4F82-BD51-2B64A9438581}" type="presParOf" srcId="{E322E6F6-037A-4B9E-98D6-9C86CAE8DDAD}" destId="{503495B6-DA90-4CED-A9A2-B745ABDBC832}" srcOrd="1" destOrd="0" presId="urn:microsoft.com/office/officeart/2018/2/layout/IconVerticalSolidList"/>
    <dgm:cxn modelId="{1CB8C1BF-35A8-4C5E-B757-C2C03EBFDEA8}" type="presParOf" srcId="{E322E6F6-037A-4B9E-98D6-9C86CAE8DDAD}" destId="{C9C039AC-BCA5-4C90-9200-74B019A2E79F}" srcOrd="2" destOrd="0" presId="urn:microsoft.com/office/officeart/2018/2/layout/IconVerticalSolidList"/>
    <dgm:cxn modelId="{F7E2E8E6-4DDF-4DEA-AD6C-5BA6F4F7E98D}" type="presParOf" srcId="{E322E6F6-037A-4B9E-98D6-9C86CAE8DDAD}" destId="{059703E0-04D2-47D9-B28D-FCDCDF4C6C2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FD46F04-AE82-403D-9735-BB737AC888A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D067553-5C2F-4EE1-800C-662CD607AF72}">
      <dgm:prSet/>
      <dgm:spPr/>
      <dgm:t>
        <a:bodyPr/>
        <a:lstStyle/>
        <a:p>
          <a:pPr>
            <a:lnSpc>
              <a:spcPct val="100000"/>
            </a:lnSpc>
          </a:pPr>
          <a:r>
            <a:rPr lang="en-US" dirty="0">
              <a:latin typeface="Aptos Narrow" panose="020B0004020202020204" pitchFamily="34" charset="0"/>
            </a:rPr>
            <a:t>Since, in addition to the closing prices of the above-mentioned assets, we also need to know the official interest rate of the Central Bank of Brazil, the </a:t>
          </a:r>
          <a:r>
            <a:rPr lang="en-US" b="1" dirty="0">
              <a:latin typeface="Aptos Narrow" panose="020B0004020202020204" pitchFamily="34" charset="0"/>
            </a:rPr>
            <a:t>SELIC rate</a:t>
          </a:r>
          <a:r>
            <a:rPr lang="en-US" dirty="0">
              <a:latin typeface="Aptos Narrow" panose="020B0004020202020204" pitchFamily="34" charset="0"/>
            </a:rPr>
            <a:t>, to implement the </a:t>
          </a:r>
          <a:r>
            <a:rPr lang="en-US" b="1" dirty="0">
              <a:latin typeface="Aptos Narrow" panose="020B0004020202020204" pitchFamily="34" charset="0"/>
            </a:rPr>
            <a:t>risk-free asset</a:t>
          </a:r>
          <a:r>
            <a:rPr lang="en-US" dirty="0">
              <a:latin typeface="Aptos Narrow" panose="020B0004020202020204" pitchFamily="34" charset="0"/>
            </a:rPr>
            <a:t>, as the authors do.</a:t>
          </a:r>
        </a:p>
      </dgm:t>
    </dgm:pt>
    <dgm:pt modelId="{DCB1834E-6CA3-4560-8454-CEBB6B68B58F}" type="parTrans" cxnId="{D69963F1-5EB0-4C15-A623-CCD97FE75FBA}">
      <dgm:prSet/>
      <dgm:spPr/>
      <dgm:t>
        <a:bodyPr/>
        <a:lstStyle/>
        <a:p>
          <a:endParaRPr lang="en-US"/>
        </a:p>
      </dgm:t>
    </dgm:pt>
    <dgm:pt modelId="{EFDC4F45-9664-4360-97D0-1DC155E7FC38}" type="sibTrans" cxnId="{D69963F1-5EB0-4C15-A623-CCD97FE75FBA}">
      <dgm:prSet/>
      <dgm:spPr/>
      <dgm:t>
        <a:bodyPr/>
        <a:lstStyle/>
        <a:p>
          <a:endParaRPr lang="en-US"/>
        </a:p>
      </dgm:t>
    </dgm:pt>
    <dgm:pt modelId="{AC415D84-C2A2-494A-B42B-7D9C9DC89B24}">
      <dgm:prSet/>
      <dgm:spPr/>
      <dgm:t>
        <a:bodyPr/>
        <a:lstStyle/>
        <a:p>
          <a:pPr>
            <a:lnSpc>
              <a:spcPct val="100000"/>
            </a:lnSpc>
          </a:pPr>
          <a:r>
            <a:rPr lang="en-US" dirty="0">
              <a:latin typeface="Aptos Narrow" panose="020B0004020202020204" pitchFamily="34" charset="0"/>
            </a:rPr>
            <a:t>We downloaded his historian on the portal of the Central Bank of Brazil, called SGS.</a:t>
          </a:r>
        </a:p>
      </dgm:t>
    </dgm:pt>
    <dgm:pt modelId="{0BF15915-975C-452A-9769-B4D5BA39DFBC}" type="parTrans" cxnId="{2C40E87E-0C8F-460B-A10F-599F820F8CF1}">
      <dgm:prSet/>
      <dgm:spPr/>
      <dgm:t>
        <a:bodyPr/>
        <a:lstStyle/>
        <a:p>
          <a:endParaRPr lang="en-US"/>
        </a:p>
      </dgm:t>
    </dgm:pt>
    <dgm:pt modelId="{D6CF1360-2436-4A71-B964-B943142BCD8B}" type="sibTrans" cxnId="{2C40E87E-0C8F-460B-A10F-599F820F8CF1}">
      <dgm:prSet/>
      <dgm:spPr/>
      <dgm:t>
        <a:bodyPr/>
        <a:lstStyle/>
        <a:p>
          <a:endParaRPr lang="en-US"/>
        </a:p>
      </dgm:t>
    </dgm:pt>
    <dgm:pt modelId="{C9DDF705-82A6-4D97-9E9A-5AD0729BEA29}" type="pres">
      <dgm:prSet presAssocID="{AFD46F04-AE82-403D-9735-BB737AC888AD}" presName="root" presStyleCnt="0">
        <dgm:presLayoutVars>
          <dgm:dir/>
          <dgm:resizeHandles val="exact"/>
        </dgm:presLayoutVars>
      </dgm:prSet>
      <dgm:spPr/>
    </dgm:pt>
    <dgm:pt modelId="{06D02FCA-2582-4433-9545-3286BB0E2BBB}" type="pres">
      <dgm:prSet presAssocID="{BD067553-5C2F-4EE1-800C-662CD607AF72}" presName="compNode" presStyleCnt="0"/>
      <dgm:spPr/>
    </dgm:pt>
    <dgm:pt modelId="{0C1D6044-9441-4CE4-AC1E-BB537CD0E40C}" type="pres">
      <dgm:prSet presAssocID="{BD067553-5C2F-4EE1-800C-662CD607AF72}" presName="bgRect" presStyleLbl="bgShp" presStyleIdx="0" presStyleCnt="2"/>
      <dgm:spPr/>
    </dgm:pt>
    <dgm:pt modelId="{B3387D83-BF2E-45E5-84E3-FE867EB8F9E3}" type="pres">
      <dgm:prSet presAssocID="{BD067553-5C2F-4EE1-800C-662CD607AF7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llaro"/>
        </a:ext>
      </dgm:extLst>
    </dgm:pt>
    <dgm:pt modelId="{17BC9A44-6E2E-4B04-9739-844CF45B21CC}" type="pres">
      <dgm:prSet presAssocID="{BD067553-5C2F-4EE1-800C-662CD607AF72}" presName="spaceRect" presStyleCnt="0"/>
      <dgm:spPr/>
    </dgm:pt>
    <dgm:pt modelId="{5D2CD7EB-4989-46EB-9D6B-6917004FB487}" type="pres">
      <dgm:prSet presAssocID="{BD067553-5C2F-4EE1-800C-662CD607AF72}" presName="parTx" presStyleLbl="revTx" presStyleIdx="0" presStyleCnt="2">
        <dgm:presLayoutVars>
          <dgm:chMax val="0"/>
          <dgm:chPref val="0"/>
        </dgm:presLayoutVars>
      </dgm:prSet>
      <dgm:spPr/>
    </dgm:pt>
    <dgm:pt modelId="{849A48E5-AB70-4F0E-9819-EDDCC06976D9}" type="pres">
      <dgm:prSet presAssocID="{EFDC4F45-9664-4360-97D0-1DC155E7FC38}" presName="sibTrans" presStyleCnt="0"/>
      <dgm:spPr/>
    </dgm:pt>
    <dgm:pt modelId="{0E75D4C4-7F80-4E97-8D0A-D6F1409A713F}" type="pres">
      <dgm:prSet presAssocID="{AC415D84-C2A2-494A-B42B-7D9C9DC89B24}" presName="compNode" presStyleCnt="0"/>
      <dgm:spPr/>
    </dgm:pt>
    <dgm:pt modelId="{BA26B48B-6CB4-4D7C-8355-A96156F94FDD}" type="pres">
      <dgm:prSet presAssocID="{AC415D84-C2A2-494A-B42B-7D9C9DC89B24}" presName="bgRect" presStyleLbl="bgShp" presStyleIdx="1" presStyleCnt="2"/>
      <dgm:spPr/>
    </dgm:pt>
    <dgm:pt modelId="{0D56A013-85DA-4C31-AB65-E4B337442CC4}" type="pres">
      <dgm:prSet presAssocID="{AC415D84-C2A2-494A-B42B-7D9C9DC89B2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nca"/>
        </a:ext>
      </dgm:extLst>
    </dgm:pt>
    <dgm:pt modelId="{D6E00909-4B4A-48BC-A679-F28356B3386F}" type="pres">
      <dgm:prSet presAssocID="{AC415D84-C2A2-494A-B42B-7D9C9DC89B24}" presName="spaceRect" presStyleCnt="0"/>
      <dgm:spPr/>
    </dgm:pt>
    <dgm:pt modelId="{DA95B110-0076-42B2-A632-ADCD65549B0D}" type="pres">
      <dgm:prSet presAssocID="{AC415D84-C2A2-494A-B42B-7D9C9DC89B24}" presName="parTx" presStyleLbl="revTx" presStyleIdx="1" presStyleCnt="2">
        <dgm:presLayoutVars>
          <dgm:chMax val="0"/>
          <dgm:chPref val="0"/>
        </dgm:presLayoutVars>
      </dgm:prSet>
      <dgm:spPr/>
    </dgm:pt>
  </dgm:ptLst>
  <dgm:cxnLst>
    <dgm:cxn modelId="{53D24446-E2B1-4ED9-B7C9-18F4DE30F2B7}" type="presOf" srcId="{BD067553-5C2F-4EE1-800C-662CD607AF72}" destId="{5D2CD7EB-4989-46EB-9D6B-6917004FB487}" srcOrd="0" destOrd="0" presId="urn:microsoft.com/office/officeart/2018/2/layout/IconVerticalSolidList"/>
    <dgm:cxn modelId="{2C40E87E-0C8F-460B-A10F-599F820F8CF1}" srcId="{AFD46F04-AE82-403D-9735-BB737AC888AD}" destId="{AC415D84-C2A2-494A-B42B-7D9C9DC89B24}" srcOrd="1" destOrd="0" parTransId="{0BF15915-975C-452A-9769-B4D5BA39DFBC}" sibTransId="{D6CF1360-2436-4A71-B964-B943142BCD8B}"/>
    <dgm:cxn modelId="{7C3B6895-A3E6-40FD-8F9B-882FEF61C8AE}" type="presOf" srcId="{AFD46F04-AE82-403D-9735-BB737AC888AD}" destId="{C9DDF705-82A6-4D97-9E9A-5AD0729BEA29}" srcOrd="0" destOrd="0" presId="urn:microsoft.com/office/officeart/2018/2/layout/IconVerticalSolidList"/>
    <dgm:cxn modelId="{C6FE8C95-1BB3-446F-8D14-0AF1F421D97E}" type="presOf" srcId="{AC415D84-C2A2-494A-B42B-7D9C9DC89B24}" destId="{DA95B110-0076-42B2-A632-ADCD65549B0D}" srcOrd="0" destOrd="0" presId="urn:microsoft.com/office/officeart/2018/2/layout/IconVerticalSolidList"/>
    <dgm:cxn modelId="{D69963F1-5EB0-4C15-A623-CCD97FE75FBA}" srcId="{AFD46F04-AE82-403D-9735-BB737AC888AD}" destId="{BD067553-5C2F-4EE1-800C-662CD607AF72}" srcOrd="0" destOrd="0" parTransId="{DCB1834E-6CA3-4560-8454-CEBB6B68B58F}" sibTransId="{EFDC4F45-9664-4360-97D0-1DC155E7FC38}"/>
    <dgm:cxn modelId="{D3FD374B-9D0D-466F-B8F1-288E6B4D87AA}" type="presParOf" srcId="{C9DDF705-82A6-4D97-9E9A-5AD0729BEA29}" destId="{06D02FCA-2582-4433-9545-3286BB0E2BBB}" srcOrd="0" destOrd="0" presId="urn:microsoft.com/office/officeart/2018/2/layout/IconVerticalSolidList"/>
    <dgm:cxn modelId="{26506F2C-2A27-40A4-9A44-E80221E93C05}" type="presParOf" srcId="{06D02FCA-2582-4433-9545-3286BB0E2BBB}" destId="{0C1D6044-9441-4CE4-AC1E-BB537CD0E40C}" srcOrd="0" destOrd="0" presId="urn:microsoft.com/office/officeart/2018/2/layout/IconVerticalSolidList"/>
    <dgm:cxn modelId="{08DF2B79-30F8-4AED-84D4-FB3B011EA56A}" type="presParOf" srcId="{06D02FCA-2582-4433-9545-3286BB0E2BBB}" destId="{B3387D83-BF2E-45E5-84E3-FE867EB8F9E3}" srcOrd="1" destOrd="0" presId="urn:microsoft.com/office/officeart/2018/2/layout/IconVerticalSolidList"/>
    <dgm:cxn modelId="{25FDCFE7-F482-4A9D-AA49-5008399B087A}" type="presParOf" srcId="{06D02FCA-2582-4433-9545-3286BB0E2BBB}" destId="{17BC9A44-6E2E-4B04-9739-844CF45B21CC}" srcOrd="2" destOrd="0" presId="urn:microsoft.com/office/officeart/2018/2/layout/IconVerticalSolidList"/>
    <dgm:cxn modelId="{33E9C967-C4BA-4058-97A7-D7C06241C2B1}" type="presParOf" srcId="{06D02FCA-2582-4433-9545-3286BB0E2BBB}" destId="{5D2CD7EB-4989-46EB-9D6B-6917004FB487}" srcOrd="3" destOrd="0" presId="urn:microsoft.com/office/officeart/2018/2/layout/IconVerticalSolidList"/>
    <dgm:cxn modelId="{7AE621CB-41F8-430F-9667-AEDE49B5C7D8}" type="presParOf" srcId="{C9DDF705-82A6-4D97-9E9A-5AD0729BEA29}" destId="{849A48E5-AB70-4F0E-9819-EDDCC06976D9}" srcOrd="1" destOrd="0" presId="urn:microsoft.com/office/officeart/2018/2/layout/IconVerticalSolidList"/>
    <dgm:cxn modelId="{4010016A-9F41-403D-B937-1D1DEC6659C9}" type="presParOf" srcId="{C9DDF705-82A6-4D97-9E9A-5AD0729BEA29}" destId="{0E75D4C4-7F80-4E97-8D0A-D6F1409A713F}" srcOrd="2" destOrd="0" presId="urn:microsoft.com/office/officeart/2018/2/layout/IconVerticalSolidList"/>
    <dgm:cxn modelId="{2350EA80-5CB2-4911-98F4-9F824FFE4F13}" type="presParOf" srcId="{0E75D4C4-7F80-4E97-8D0A-D6F1409A713F}" destId="{BA26B48B-6CB4-4D7C-8355-A96156F94FDD}" srcOrd="0" destOrd="0" presId="urn:microsoft.com/office/officeart/2018/2/layout/IconVerticalSolidList"/>
    <dgm:cxn modelId="{4963D775-D3A2-4180-8F31-73CF3E129535}" type="presParOf" srcId="{0E75D4C4-7F80-4E97-8D0A-D6F1409A713F}" destId="{0D56A013-85DA-4C31-AB65-E4B337442CC4}" srcOrd="1" destOrd="0" presId="urn:microsoft.com/office/officeart/2018/2/layout/IconVerticalSolidList"/>
    <dgm:cxn modelId="{B7DF001B-9179-4F2A-9B88-BF696798EE50}" type="presParOf" srcId="{0E75D4C4-7F80-4E97-8D0A-D6F1409A713F}" destId="{D6E00909-4B4A-48BC-A679-F28356B3386F}" srcOrd="2" destOrd="0" presId="urn:microsoft.com/office/officeart/2018/2/layout/IconVerticalSolidList"/>
    <dgm:cxn modelId="{4E09396E-790C-416B-957A-4143687CB3BB}" type="presParOf" srcId="{0E75D4C4-7F80-4E97-8D0A-D6F1409A713F}" destId="{DA95B110-0076-42B2-A632-ADCD65549B0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12B1C0-19A5-4C5B-8F21-4F762549E20E}">
      <dsp:nvSpPr>
        <dsp:cNvPr id="0" name=""/>
        <dsp:cNvSpPr/>
      </dsp:nvSpPr>
      <dsp:spPr>
        <a:xfrm>
          <a:off x="0" y="562236"/>
          <a:ext cx="10969753" cy="10379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9960B2-A0D0-47E5-AFA1-5E20180115BE}">
      <dsp:nvSpPr>
        <dsp:cNvPr id="0" name=""/>
        <dsp:cNvSpPr/>
      </dsp:nvSpPr>
      <dsp:spPr>
        <a:xfrm>
          <a:off x="313987" y="795781"/>
          <a:ext cx="570886" cy="5708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D1C1EB-9E4E-4716-AE4A-A24A25645481}">
      <dsp:nvSpPr>
        <dsp:cNvPr id="0" name=""/>
        <dsp:cNvSpPr/>
      </dsp:nvSpPr>
      <dsp:spPr>
        <a:xfrm>
          <a:off x="1198862" y="562236"/>
          <a:ext cx="9770890" cy="1037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852" tIns="109852" rIns="109852" bIns="109852" numCol="1" spcCol="1270" anchor="ctr" anchorCtr="0">
          <a:noAutofit/>
        </a:bodyPr>
        <a:lstStyle/>
        <a:p>
          <a:pPr marL="0" lvl="0" indent="0" algn="l" defTabSz="977900">
            <a:lnSpc>
              <a:spcPct val="100000"/>
            </a:lnSpc>
            <a:spcBef>
              <a:spcPct val="0"/>
            </a:spcBef>
            <a:spcAft>
              <a:spcPct val="35000"/>
            </a:spcAft>
            <a:buNone/>
          </a:pPr>
          <a:r>
            <a:rPr lang="it-IT" sz="2200" b="1" kern="1200" dirty="0">
              <a:latin typeface="Aptos Narrow" panose="020B0004020202020204" pitchFamily="34" charset="0"/>
            </a:rPr>
            <a:t>Passive Management:</a:t>
          </a:r>
          <a:r>
            <a:rPr lang="it-IT" sz="2200" kern="1200" dirty="0">
              <a:latin typeface="Aptos Narrow" panose="020B0004020202020204" pitchFamily="34" charset="0"/>
            </a:rPr>
            <a:t> </a:t>
          </a:r>
          <a:r>
            <a:rPr lang="en-US" sz="2200" kern="1200" dirty="0">
              <a:latin typeface="Aptos Narrow" panose="020B0004020202020204" pitchFamily="34" charset="0"/>
            </a:rPr>
            <a:t>: starts from the assumption known in finance as the "Efficient Markets Hypothesis", therefore, the goal is </a:t>
          </a:r>
          <a:r>
            <a:rPr lang="en-US" sz="2200" b="1" kern="1200" dirty="0">
              <a:latin typeface="Aptos Narrow" panose="020B0004020202020204" pitchFamily="34" charset="0"/>
            </a:rPr>
            <a:t>tracking a predetermined reference </a:t>
          </a:r>
          <a:endParaRPr lang="it-IT" sz="2200" b="1" kern="1200" dirty="0">
            <a:latin typeface="Aptos Narrow" panose="020B0004020202020204" pitchFamily="34" charset="0"/>
          </a:endParaRPr>
        </a:p>
      </dsp:txBody>
      <dsp:txXfrm>
        <a:off x="1198862" y="562236"/>
        <a:ext cx="9770890" cy="1037976"/>
      </dsp:txXfrm>
    </dsp:sp>
    <dsp:sp modelId="{7987B08F-2E01-45AB-BE1E-DFA83075A55A}">
      <dsp:nvSpPr>
        <dsp:cNvPr id="0" name=""/>
        <dsp:cNvSpPr/>
      </dsp:nvSpPr>
      <dsp:spPr>
        <a:xfrm>
          <a:off x="0" y="1859707"/>
          <a:ext cx="10969753" cy="10379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72D215-ACEB-46D2-93A4-6BE7B621E848}">
      <dsp:nvSpPr>
        <dsp:cNvPr id="0" name=""/>
        <dsp:cNvSpPr/>
      </dsp:nvSpPr>
      <dsp:spPr>
        <a:xfrm>
          <a:off x="313987" y="2093251"/>
          <a:ext cx="570886" cy="5708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87A5B0-F2E7-4878-B062-ACD3D7BDEA14}">
      <dsp:nvSpPr>
        <dsp:cNvPr id="0" name=""/>
        <dsp:cNvSpPr/>
      </dsp:nvSpPr>
      <dsp:spPr>
        <a:xfrm>
          <a:off x="1198862" y="1859707"/>
          <a:ext cx="9770890" cy="10379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852" tIns="109852" rIns="109852" bIns="109852" numCol="1" spcCol="1270" anchor="ctr" anchorCtr="0">
          <a:noAutofit/>
        </a:bodyPr>
        <a:lstStyle/>
        <a:p>
          <a:pPr marL="0" lvl="0" indent="0" algn="l" defTabSz="977900">
            <a:lnSpc>
              <a:spcPct val="100000"/>
            </a:lnSpc>
            <a:spcBef>
              <a:spcPct val="0"/>
            </a:spcBef>
            <a:spcAft>
              <a:spcPct val="35000"/>
            </a:spcAft>
            <a:buNone/>
          </a:pPr>
          <a:r>
            <a:rPr lang="it-IT" sz="2200" b="1" kern="1200" dirty="0">
              <a:latin typeface="Aptos Narrow" panose="020B0004020202020204" pitchFamily="34" charset="0"/>
            </a:rPr>
            <a:t>Active Management: </a:t>
          </a:r>
          <a:r>
            <a:rPr lang="en-US" sz="2200" kern="1200" dirty="0">
              <a:latin typeface="Aptos Narrow" panose="020B0004020202020204" pitchFamily="34" charset="0"/>
            </a:rPr>
            <a:t>starts from the opposite assumption and aims to "beat the market"</a:t>
          </a:r>
          <a:endParaRPr lang="it-IT" sz="2200" kern="1200" dirty="0">
            <a:latin typeface="Aptos Narrow" panose="020B0004020202020204" pitchFamily="34" charset="0"/>
          </a:endParaRPr>
        </a:p>
      </dsp:txBody>
      <dsp:txXfrm>
        <a:off x="1198862" y="1859707"/>
        <a:ext cx="9770890" cy="10379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735709-FCE6-4B65-9E85-DA19CFDC6E8A}">
      <dsp:nvSpPr>
        <dsp:cNvPr id="0" name=""/>
        <dsp:cNvSpPr/>
      </dsp:nvSpPr>
      <dsp:spPr>
        <a:xfrm>
          <a:off x="0" y="538"/>
          <a:ext cx="10945037" cy="12609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8D97DE-B12C-4FCB-BA36-55DEA106756C}">
      <dsp:nvSpPr>
        <dsp:cNvPr id="0" name=""/>
        <dsp:cNvSpPr/>
      </dsp:nvSpPr>
      <dsp:spPr>
        <a:xfrm>
          <a:off x="381433" y="284249"/>
          <a:ext cx="693514" cy="6935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A41EFB-D692-4865-8EB3-12A55A9295C4}">
      <dsp:nvSpPr>
        <dsp:cNvPr id="0" name=""/>
        <dsp:cNvSpPr/>
      </dsp:nvSpPr>
      <dsp:spPr>
        <a:xfrm>
          <a:off x="1456381" y="538"/>
          <a:ext cx="9488655" cy="1260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49" tIns="133449" rIns="133449" bIns="133449" numCol="1" spcCol="1270" anchor="ctr" anchorCtr="0">
          <a:noAutofit/>
        </a:bodyPr>
        <a:lstStyle/>
        <a:p>
          <a:pPr marL="0" lvl="0" indent="0" algn="l" defTabSz="933450">
            <a:lnSpc>
              <a:spcPct val="90000"/>
            </a:lnSpc>
            <a:spcBef>
              <a:spcPct val="0"/>
            </a:spcBef>
            <a:spcAft>
              <a:spcPct val="35000"/>
            </a:spcAft>
            <a:buNone/>
          </a:pPr>
          <a:r>
            <a:rPr lang="en-US" sz="2100" kern="1200" dirty="0">
              <a:latin typeface="Aptos Narrow" panose="020B0004020202020204" pitchFamily="34" charset="0"/>
            </a:rPr>
            <a:t>The paper considers </a:t>
          </a:r>
          <a:r>
            <a:rPr lang="en-US" sz="2100" b="1" kern="1200" dirty="0">
              <a:latin typeface="Aptos Narrow" panose="020B0004020202020204" pitchFamily="34" charset="0"/>
            </a:rPr>
            <a:t>Model Predictive Control (MPC) </a:t>
          </a:r>
          <a:r>
            <a:rPr lang="en-US" sz="2100" kern="1200" dirty="0">
              <a:latin typeface="Aptos Narrow" panose="020B0004020202020204" pitchFamily="34" charset="0"/>
            </a:rPr>
            <a:t>to manage investment portfolio monitoring through a passive strategy with an efficient dynamic approach. </a:t>
          </a:r>
          <a:endParaRPr lang="it-IT" sz="2100" kern="1200" dirty="0">
            <a:latin typeface="Aptos Narrow" panose="020B0004020202020204" pitchFamily="34" charset="0"/>
          </a:endParaRPr>
        </a:p>
      </dsp:txBody>
      <dsp:txXfrm>
        <a:off x="1456381" y="538"/>
        <a:ext cx="9488655" cy="1260936"/>
      </dsp:txXfrm>
    </dsp:sp>
    <dsp:sp modelId="{10FD03B3-3F3D-4016-BB7F-0CB5523147A4}">
      <dsp:nvSpPr>
        <dsp:cNvPr id="0" name=""/>
        <dsp:cNvSpPr/>
      </dsp:nvSpPr>
      <dsp:spPr>
        <a:xfrm>
          <a:off x="0" y="1576708"/>
          <a:ext cx="10945037" cy="12609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8FE0D8-2E2D-4844-80CA-387265515F5B}">
      <dsp:nvSpPr>
        <dsp:cNvPr id="0" name=""/>
        <dsp:cNvSpPr/>
      </dsp:nvSpPr>
      <dsp:spPr>
        <a:xfrm>
          <a:off x="381433" y="1860419"/>
          <a:ext cx="693514" cy="6935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82425B-B865-4FCA-B80B-3AD0194E6159}">
      <dsp:nvSpPr>
        <dsp:cNvPr id="0" name=""/>
        <dsp:cNvSpPr/>
      </dsp:nvSpPr>
      <dsp:spPr>
        <a:xfrm>
          <a:off x="1456381" y="1576708"/>
          <a:ext cx="9488655" cy="1260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49" tIns="133449" rIns="133449" bIns="133449" numCol="1" spcCol="1270" anchor="ctr" anchorCtr="0">
          <a:noAutofit/>
        </a:bodyPr>
        <a:lstStyle/>
        <a:p>
          <a:pPr marL="0" lvl="0" indent="0" algn="l" defTabSz="933450">
            <a:lnSpc>
              <a:spcPct val="90000"/>
            </a:lnSpc>
            <a:spcBef>
              <a:spcPct val="0"/>
            </a:spcBef>
            <a:spcAft>
              <a:spcPct val="35000"/>
            </a:spcAft>
            <a:buNone/>
          </a:pPr>
          <a:r>
            <a:rPr lang="en-US" sz="2100" kern="1200" dirty="0">
              <a:latin typeface="Aptos Narrow" panose="020B0004020202020204" pitchFamily="34" charset="0"/>
            </a:rPr>
            <a:t>MPC is a method that uses an </a:t>
          </a:r>
          <a:r>
            <a:rPr lang="en-US" sz="2100" b="1" kern="1200" dirty="0">
              <a:latin typeface="Aptos Narrow" panose="020B0004020202020204" pitchFamily="34" charset="0"/>
            </a:rPr>
            <a:t>optimization algorithm </a:t>
          </a:r>
          <a:r>
            <a:rPr lang="en-US" sz="2100" kern="1200" dirty="0">
              <a:latin typeface="Aptos Narrow" panose="020B0004020202020204" pitchFamily="34" charset="0"/>
            </a:rPr>
            <a:t>that works online to obtain a control sequence that can report the desired output, minimizing the cost function. </a:t>
          </a:r>
          <a:endParaRPr lang="it-IT" sz="2100" kern="1200" dirty="0">
            <a:latin typeface="Aptos Narrow" panose="020B0004020202020204" pitchFamily="34" charset="0"/>
          </a:endParaRPr>
        </a:p>
      </dsp:txBody>
      <dsp:txXfrm>
        <a:off x="1456381" y="1576708"/>
        <a:ext cx="9488655" cy="1260936"/>
      </dsp:txXfrm>
    </dsp:sp>
    <dsp:sp modelId="{A62C8E80-D7F0-473A-8C37-4DAA92415923}">
      <dsp:nvSpPr>
        <dsp:cNvPr id="0" name=""/>
        <dsp:cNvSpPr/>
      </dsp:nvSpPr>
      <dsp:spPr>
        <a:xfrm>
          <a:off x="0" y="3152879"/>
          <a:ext cx="10945037" cy="12609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15B91E-C2DC-4B7B-AD79-2598E72EC537}">
      <dsp:nvSpPr>
        <dsp:cNvPr id="0" name=""/>
        <dsp:cNvSpPr/>
      </dsp:nvSpPr>
      <dsp:spPr>
        <a:xfrm>
          <a:off x="381433" y="3436589"/>
          <a:ext cx="693514" cy="6935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0F7136-FF38-4D14-BBB7-6D29E6ADB351}">
      <dsp:nvSpPr>
        <dsp:cNvPr id="0" name=""/>
        <dsp:cNvSpPr/>
      </dsp:nvSpPr>
      <dsp:spPr>
        <a:xfrm>
          <a:off x="1456381" y="3152879"/>
          <a:ext cx="9488655" cy="1260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49" tIns="133449" rIns="133449" bIns="133449" numCol="1" spcCol="1270" anchor="ctr" anchorCtr="0">
          <a:noAutofit/>
        </a:bodyPr>
        <a:lstStyle/>
        <a:p>
          <a:pPr marL="0" lvl="0" indent="0" algn="l" defTabSz="933450">
            <a:lnSpc>
              <a:spcPct val="90000"/>
            </a:lnSpc>
            <a:spcBef>
              <a:spcPct val="0"/>
            </a:spcBef>
            <a:spcAft>
              <a:spcPct val="35000"/>
            </a:spcAft>
            <a:buNone/>
          </a:pPr>
          <a:r>
            <a:rPr lang="en-US" sz="2100" kern="1200" dirty="0">
              <a:latin typeface="Aptos Narrow" panose="020B0004020202020204" pitchFamily="34" charset="0"/>
            </a:rPr>
            <a:t>To solve an optimal control problem, use the technique of </a:t>
          </a:r>
          <a:r>
            <a:rPr lang="it-IT" sz="2100" b="1" kern="1200" dirty="0" err="1">
              <a:latin typeface="Aptos Narrow" panose="020B0004020202020204" pitchFamily="34" charset="0"/>
            </a:rPr>
            <a:t>Receding</a:t>
          </a:r>
          <a:r>
            <a:rPr lang="it-IT" sz="2100" b="1" kern="1200" dirty="0">
              <a:latin typeface="Aptos Narrow" panose="020B0004020202020204" pitchFamily="34" charset="0"/>
            </a:rPr>
            <a:t> Horizon Control (RHC)</a:t>
          </a:r>
          <a:endParaRPr lang="en-US" sz="2100" kern="1200" dirty="0">
            <a:latin typeface="Aptos Narrow" panose="020B0004020202020204" pitchFamily="34" charset="0"/>
          </a:endParaRPr>
        </a:p>
      </dsp:txBody>
      <dsp:txXfrm>
        <a:off x="1456381" y="3152879"/>
        <a:ext cx="9488655" cy="12609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CCAC0D-C97E-421C-B968-D52EFE913A97}">
      <dsp:nvSpPr>
        <dsp:cNvPr id="0" name=""/>
        <dsp:cNvSpPr/>
      </dsp:nvSpPr>
      <dsp:spPr>
        <a:xfrm>
          <a:off x="0" y="560"/>
          <a:ext cx="10653579" cy="13122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BB2080-05B4-4CCE-A846-FA902F06ECFF}">
      <dsp:nvSpPr>
        <dsp:cNvPr id="0" name=""/>
        <dsp:cNvSpPr/>
      </dsp:nvSpPr>
      <dsp:spPr>
        <a:xfrm>
          <a:off x="396941" y="295806"/>
          <a:ext cx="721711" cy="7217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B4A0EC-D92A-4BD0-8242-E0F6B1F865FF}">
      <dsp:nvSpPr>
        <dsp:cNvPr id="0" name=""/>
        <dsp:cNvSpPr/>
      </dsp:nvSpPr>
      <dsp:spPr>
        <a:xfrm>
          <a:off x="1515593" y="560"/>
          <a:ext cx="9137985" cy="1312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875" tIns="138875" rIns="138875" bIns="138875" numCol="1" spcCol="1270" anchor="ctr" anchorCtr="0">
          <a:noAutofit/>
        </a:bodyPr>
        <a:lstStyle/>
        <a:p>
          <a:pPr marL="0" lvl="0" indent="0" algn="l" defTabSz="1111250">
            <a:lnSpc>
              <a:spcPct val="100000"/>
            </a:lnSpc>
            <a:spcBef>
              <a:spcPct val="0"/>
            </a:spcBef>
            <a:spcAft>
              <a:spcPct val="35000"/>
            </a:spcAft>
            <a:buNone/>
          </a:pPr>
          <a:r>
            <a:rPr lang="en-US" sz="2500" b="1" kern="1200" dirty="0">
              <a:latin typeface="Aptos Narrow" panose="020B0004020202020204" pitchFamily="34" charset="0"/>
            </a:rPr>
            <a:t>MPC </a:t>
          </a:r>
          <a:r>
            <a:rPr lang="en-US" sz="2500" b="0" kern="1200" dirty="0">
              <a:latin typeface="Aptos Narrow" panose="020B0004020202020204" pitchFamily="34" charset="0"/>
            </a:rPr>
            <a:t>is</a:t>
          </a:r>
          <a:r>
            <a:rPr lang="en-US" sz="2500" b="1" kern="1200" dirty="0">
              <a:latin typeface="Aptos Narrow" panose="020B0004020202020204" pitchFamily="34" charset="0"/>
            </a:rPr>
            <a:t> </a:t>
          </a:r>
          <a:r>
            <a:rPr lang="en-US" sz="2500" b="0" kern="1200" dirty="0">
              <a:latin typeface="Aptos Narrow" panose="020B0004020202020204" pitchFamily="34" charset="0"/>
            </a:rPr>
            <a:t>used to track an</a:t>
          </a:r>
          <a:r>
            <a:rPr lang="en-US" sz="2500" b="1" kern="1200" dirty="0">
              <a:latin typeface="Aptos Narrow" panose="020B0004020202020204" pitchFamily="34" charset="0"/>
            </a:rPr>
            <a:t> investment </a:t>
          </a:r>
          <a:r>
            <a:rPr lang="en-US" sz="2500" b="0" kern="1200" dirty="0">
              <a:latin typeface="Aptos Narrow" panose="020B0004020202020204" pitchFamily="34" charset="0"/>
            </a:rPr>
            <a:t>curve taking into account transaction costs.</a:t>
          </a:r>
          <a:endParaRPr lang="it-IT" sz="2500" b="0" kern="1200" dirty="0">
            <a:latin typeface="Aptos Narrow" panose="020B0004020202020204" pitchFamily="34" charset="0"/>
          </a:endParaRPr>
        </a:p>
      </dsp:txBody>
      <dsp:txXfrm>
        <a:off x="1515593" y="560"/>
        <a:ext cx="9137985" cy="1312201"/>
      </dsp:txXfrm>
    </dsp:sp>
    <dsp:sp modelId="{E59A055C-76DF-454D-AB32-C7E432BAC02D}">
      <dsp:nvSpPr>
        <dsp:cNvPr id="0" name=""/>
        <dsp:cNvSpPr/>
      </dsp:nvSpPr>
      <dsp:spPr>
        <a:xfrm>
          <a:off x="0" y="1640813"/>
          <a:ext cx="10653579" cy="13122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721A96-5E1F-4381-B0D5-36CBB4D0245B}">
      <dsp:nvSpPr>
        <dsp:cNvPr id="0" name=""/>
        <dsp:cNvSpPr/>
      </dsp:nvSpPr>
      <dsp:spPr>
        <a:xfrm>
          <a:off x="396941" y="1936058"/>
          <a:ext cx="721711" cy="7217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3CDAF8-E5F0-4800-A95C-D16B9B6EF403}">
      <dsp:nvSpPr>
        <dsp:cNvPr id="0" name=""/>
        <dsp:cNvSpPr/>
      </dsp:nvSpPr>
      <dsp:spPr>
        <a:xfrm>
          <a:off x="1515593" y="1640813"/>
          <a:ext cx="9137985" cy="1312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875" tIns="138875" rIns="138875" bIns="138875"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ptos Narrow" panose="020B0004020202020204" pitchFamily="34" charset="0"/>
            </a:rPr>
            <a:t>Comparison of two methods for choosing the most suitable length for the prediction horizon: </a:t>
          </a:r>
          <a:r>
            <a:rPr lang="en-US" sz="2500" b="1" kern="1200" dirty="0">
              <a:latin typeface="Aptos Narrow" panose="020B0004020202020204" pitchFamily="34" charset="0"/>
            </a:rPr>
            <a:t>VPH-MPC</a:t>
          </a:r>
          <a:r>
            <a:rPr lang="en-US" sz="2500" kern="1200" dirty="0">
              <a:latin typeface="Aptos Narrow" panose="020B0004020202020204" pitchFamily="34" charset="0"/>
            </a:rPr>
            <a:t> and </a:t>
          </a:r>
          <a:r>
            <a:rPr lang="en-US" sz="2500" b="1" kern="1200" dirty="0">
              <a:latin typeface="Aptos Narrow" panose="020B0004020202020204" pitchFamily="34" charset="0"/>
            </a:rPr>
            <a:t>FPH-MPC</a:t>
          </a:r>
          <a:r>
            <a:rPr lang="en-US" sz="2500" kern="1200" dirty="0">
              <a:latin typeface="Aptos Narrow" panose="020B0004020202020204" pitchFamily="34" charset="0"/>
            </a:rPr>
            <a:t> </a:t>
          </a:r>
          <a:endParaRPr lang="it-IT" sz="2500" kern="1200" dirty="0">
            <a:latin typeface="Aptos Narrow" panose="020B0004020202020204" pitchFamily="34" charset="0"/>
          </a:endParaRPr>
        </a:p>
      </dsp:txBody>
      <dsp:txXfrm>
        <a:off x="1515593" y="1640813"/>
        <a:ext cx="9137985" cy="1312201"/>
      </dsp:txXfrm>
    </dsp:sp>
    <dsp:sp modelId="{624CA5F8-A750-4B6D-A9D7-0579C5EE4B37}">
      <dsp:nvSpPr>
        <dsp:cNvPr id="0" name=""/>
        <dsp:cNvSpPr/>
      </dsp:nvSpPr>
      <dsp:spPr>
        <a:xfrm>
          <a:off x="0" y="3281065"/>
          <a:ext cx="10653579" cy="13122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CC69BE-81C0-4ED7-AE28-60334E74BD22}">
      <dsp:nvSpPr>
        <dsp:cNvPr id="0" name=""/>
        <dsp:cNvSpPr/>
      </dsp:nvSpPr>
      <dsp:spPr>
        <a:xfrm>
          <a:off x="396941" y="3576310"/>
          <a:ext cx="721711" cy="7217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3EEC58-BE0A-4A40-96C7-A55451FE2171}">
      <dsp:nvSpPr>
        <dsp:cNvPr id="0" name=""/>
        <dsp:cNvSpPr/>
      </dsp:nvSpPr>
      <dsp:spPr>
        <a:xfrm>
          <a:off x="1515593" y="3281065"/>
          <a:ext cx="9137985" cy="1312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875" tIns="138875" rIns="138875" bIns="138875" numCol="1" spcCol="1270" anchor="ctr" anchorCtr="0">
          <a:noAutofit/>
        </a:bodyPr>
        <a:lstStyle/>
        <a:p>
          <a:pPr marL="0" lvl="0" indent="0" algn="l" defTabSz="1111250">
            <a:lnSpc>
              <a:spcPct val="100000"/>
            </a:lnSpc>
            <a:spcBef>
              <a:spcPct val="0"/>
            </a:spcBef>
            <a:spcAft>
              <a:spcPct val="35000"/>
            </a:spcAft>
            <a:buNone/>
          </a:pPr>
          <a:r>
            <a:rPr lang="en-US" sz="2500" b="0" kern="1200" dirty="0">
              <a:latin typeface="Aptos Narrow" panose="020B0004020202020204" pitchFamily="34" charset="0"/>
            </a:rPr>
            <a:t>Tracking the reference portfolio, through the use of the </a:t>
          </a:r>
          <a:r>
            <a:rPr lang="it-IT" sz="2500" b="1" kern="1200" dirty="0" err="1">
              <a:latin typeface="Aptos Narrow" panose="020B0004020202020204" pitchFamily="34" charset="0"/>
            </a:rPr>
            <a:t>CVaR</a:t>
          </a:r>
          <a:r>
            <a:rPr lang="it-IT" sz="2500" b="1" kern="1200" dirty="0">
              <a:latin typeface="Aptos Narrow" panose="020B0004020202020204" pitchFamily="34" charset="0"/>
            </a:rPr>
            <a:t> (</a:t>
          </a:r>
          <a:r>
            <a:rPr lang="it-IT" sz="2500" b="1" kern="1200" dirty="0" err="1">
              <a:latin typeface="Aptos Narrow" panose="020B0004020202020204" pitchFamily="34" charset="0"/>
            </a:rPr>
            <a:t>Conditional</a:t>
          </a:r>
          <a:r>
            <a:rPr lang="it-IT" sz="2500" b="1" kern="1200" dirty="0">
              <a:latin typeface="Aptos Narrow" panose="020B0004020202020204" pitchFamily="34" charset="0"/>
            </a:rPr>
            <a:t> Value </a:t>
          </a:r>
          <a:r>
            <a:rPr lang="it-IT" sz="2500" b="1" kern="1200" dirty="0" err="1">
              <a:latin typeface="Aptos Narrow" panose="020B0004020202020204" pitchFamily="34" charset="0"/>
            </a:rPr>
            <a:t>at</a:t>
          </a:r>
          <a:r>
            <a:rPr lang="it-IT" sz="2500" b="1" kern="1200" dirty="0">
              <a:latin typeface="Aptos Narrow" panose="020B0004020202020204" pitchFamily="34" charset="0"/>
            </a:rPr>
            <a:t> Risk)</a:t>
          </a:r>
          <a:endParaRPr lang="en-US" sz="2500" kern="1200" dirty="0">
            <a:latin typeface="Aptos Narrow" panose="020B0004020202020204" pitchFamily="34" charset="0"/>
          </a:endParaRPr>
        </a:p>
      </dsp:txBody>
      <dsp:txXfrm>
        <a:off x="1515593" y="3281065"/>
        <a:ext cx="9137985" cy="13122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46E93-29A8-4CCA-9AFE-2592C319D6A7}">
      <dsp:nvSpPr>
        <dsp:cNvPr id="0" name=""/>
        <dsp:cNvSpPr/>
      </dsp:nvSpPr>
      <dsp:spPr>
        <a:xfrm>
          <a:off x="0" y="538"/>
          <a:ext cx="10945037" cy="12609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F595D1-1116-4E63-9B92-D4C163C04FD7}">
      <dsp:nvSpPr>
        <dsp:cNvPr id="0" name=""/>
        <dsp:cNvSpPr/>
      </dsp:nvSpPr>
      <dsp:spPr>
        <a:xfrm>
          <a:off x="381433" y="284249"/>
          <a:ext cx="693514" cy="6935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D80D52-C296-4B56-B2C6-7BA8A032483B}">
      <dsp:nvSpPr>
        <dsp:cNvPr id="0" name=""/>
        <dsp:cNvSpPr/>
      </dsp:nvSpPr>
      <dsp:spPr>
        <a:xfrm>
          <a:off x="1456381" y="538"/>
          <a:ext cx="9488655" cy="1260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49" tIns="133449" rIns="133449" bIns="133449" numCol="1" spcCol="1270" anchor="ctr" anchorCtr="0">
          <a:noAutofit/>
        </a:bodyPr>
        <a:lstStyle/>
        <a:p>
          <a:pPr marL="0" lvl="0" indent="0" algn="l" defTabSz="1111250">
            <a:lnSpc>
              <a:spcPct val="90000"/>
            </a:lnSpc>
            <a:spcBef>
              <a:spcPct val="0"/>
            </a:spcBef>
            <a:spcAft>
              <a:spcPct val="35000"/>
            </a:spcAft>
            <a:buNone/>
          </a:pPr>
          <a:r>
            <a:rPr lang="en-US" sz="2500" b="1" kern="1200">
              <a:latin typeface="Aptos Narrow" panose="020B0004020202020204" pitchFamily="34" charset="0"/>
            </a:rPr>
            <a:t>Monte Carlo </a:t>
          </a:r>
          <a:r>
            <a:rPr lang="en-US" sz="2500" kern="1200">
              <a:latin typeface="Aptos Narrow" panose="020B0004020202020204" pitchFamily="34" charset="0"/>
            </a:rPr>
            <a:t>is a method based on the statistical principle called the “</a:t>
          </a:r>
          <a:r>
            <a:rPr lang="en-US" sz="2500" i="1" kern="1200">
              <a:latin typeface="Aptos Narrow" panose="020B0004020202020204" pitchFamily="34" charset="0"/>
            </a:rPr>
            <a:t>Law of Large Numbers”</a:t>
          </a:r>
          <a:r>
            <a:rPr lang="en-US" sz="2500" kern="1200">
              <a:latin typeface="Aptos Narrow" panose="020B0004020202020204" pitchFamily="34" charset="0"/>
            </a:rPr>
            <a:t>:</a:t>
          </a:r>
        </a:p>
      </dsp:txBody>
      <dsp:txXfrm>
        <a:off x="1456381" y="538"/>
        <a:ext cx="9488655" cy="1260936"/>
      </dsp:txXfrm>
    </dsp:sp>
    <dsp:sp modelId="{950A74ED-8C98-4F8D-9ADD-94A9D9400219}">
      <dsp:nvSpPr>
        <dsp:cNvPr id="0" name=""/>
        <dsp:cNvSpPr/>
      </dsp:nvSpPr>
      <dsp:spPr>
        <a:xfrm>
          <a:off x="0" y="1547947"/>
          <a:ext cx="10945037" cy="12609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3C95DC-6765-437E-A5CF-0D6673C0D33A}">
      <dsp:nvSpPr>
        <dsp:cNvPr id="0" name=""/>
        <dsp:cNvSpPr/>
      </dsp:nvSpPr>
      <dsp:spPr>
        <a:xfrm>
          <a:off x="381433" y="1860419"/>
          <a:ext cx="693514" cy="6935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0B973F-919F-4E45-AE32-79D6499E4F43}">
      <dsp:nvSpPr>
        <dsp:cNvPr id="0" name=""/>
        <dsp:cNvSpPr/>
      </dsp:nvSpPr>
      <dsp:spPr>
        <a:xfrm>
          <a:off x="1456381" y="1576708"/>
          <a:ext cx="9488655" cy="1260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49" tIns="133449" rIns="133449" bIns="133449" numCol="1" spcCol="1270" anchor="ctr" anchorCtr="0">
          <a:noAutofit/>
        </a:bodyPr>
        <a:lstStyle/>
        <a:p>
          <a:pPr marL="0" lvl="0" indent="0" algn="l" defTabSz="1111250">
            <a:lnSpc>
              <a:spcPct val="90000"/>
            </a:lnSpc>
            <a:spcBef>
              <a:spcPct val="0"/>
            </a:spcBef>
            <a:spcAft>
              <a:spcPct val="35000"/>
            </a:spcAft>
            <a:buNone/>
          </a:pPr>
          <a:r>
            <a:rPr lang="en-US" sz="2500" b="1" kern="1200">
              <a:latin typeface="Aptos Narrow" panose="020B0004020202020204" pitchFamily="34" charset="0"/>
            </a:rPr>
            <a:t>Learning-Based Control</a:t>
          </a:r>
          <a:r>
            <a:rPr lang="en-US" sz="2500" kern="1200">
              <a:latin typeface="Aptos Narrow" panose="020B0004020202020204" pitchFamily="34" charset="0"/>
            </a:rPr>
            <a:t>: We used Monte Carlo when we were unaware of the system dynamics</a:t>
          </a:r>
        </a:p>
      </dsp:txBody>
      <dsp:txXfrm>
        <a:off x="1456381" y="1576708"/>
        <a:ext cx="9488655" cy="1260936"/>
      </dsp:txXfrm>
    </dsp:sp>
    <dsp:sp modelId="{50CF1EBE-2F15-4BEA-8833-388D1A40D701}">
      <dsp:nvSpPr>
        <dsp:cNvPr id="0" name=""/>
        <dsp:cNvSpPr/>
      </dsp:nvSpPr>
      <dsp:spPr>
        <a:xfrm>
          <a:off x="0" y="3152879"/>
          <a:ext cx="10945037" cy="126093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FE90C2-F5A7-432A-B7D5-93BEB0B9066A}">
      <dsp:nvSpPr>
        <dsp:cNvPr id="0" name=""/>
        <dsp:cNvSpPr/>
      </dsp:nvSpPr>
      <dsp:spPr>
        <a:xfrm>
          <a:off x="381433" y="3436589"/>
          <a:ext cx="693514" cy="6935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74F70D-DC8D-4741-8A10-4F58EB2DB89D}">
      <dsp:nvSpPr>
        <dsp:cNvPr id="0" name=""/>
        <dsp:cNvSpPr/>
      </dsp:nvSpPr>
      <dsp:spPr>
        <a:xfrm>
          <a:off x="1456381" y="3152879"/>
          <a:ext cx="9488655" cy="12609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49" tIns="133449" rIns="133449" bIns="133449" numCol="1" spcCol="1270" anchor="ctr" anchorCtr="0">
          <a:noAutofit/>
        </a:bodyPr>
        <a:lstStyle/>
        <a:p>
          <a:pPr marL="0" lvl="0" indent="0" algn="l" defTabSz="1111250">
            <a:lnSpc>
              <a:spcPct val="90000"/>
            </a:lnSpc>
            <a:spcBef>
              <a:spcPct val="0"/>
            </a:spcBef>
            <a:spcAft>
              <a:spcPct val="35000"/>
            </a:spcAft>
            <a:buNone/>
          </a:pPr>
          <a:r>
            <a:rPr lang="en-US" sz="2500" b="1" kern="1200">
              <a:latin typeface="Aptos Narrow" panose="020B0004020202020204" pitchFamily="34" charset="0"/>
            </a:rPr>
            <a:t>Paper</a:t>
          </a:r>
          <a:r>
            <a:rPr lang="en-US" sz="2500" kern="1200">
              <a:latin typeface="Aptos Narrow" panose="020B0004020202020204" pitchFamily="34" charset="0"/>
            </a:rPr>
            <a:t>: Monte Carlo is used to implement CVaR, as it is a complex integral to be calculated over ten assets.</a:t>
          </a:r>
        </a:p>
      </dsp:txBody>
      <dsp:txXfrm>
        <a:off x="1456381" y="3152879"/>
        <a:ext cx="9488655" cy="12609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259A0-E8CF-4C66-8880-FB5AD524717D}">
      <dsp:nvSpPr>
        <dsp:cNvPr id="0" name=""/>
        <dsp:cNvSpPr/>
      </dsp:nvSpPr>
      <dsp:spPr>
        <a:xfrm>
          <a:off x="0" y="746497"/>
          <a:ext cx="10653579" cy="1378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DFBE39-5CD0-45B9-8B42-BA36CD996294}">
      <dsp:nvSpPr>
        <dsp:cNvPr id="0" name=""/>
        <dsp:cNvSpPr/>
      </dsp:nvSpPr>
      <dsp:spPr>
        <a:xfrm>
          <a:off x="416889" y="1056580"/>
          <a:ext cx="757981" cy="7579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5AD5D3-B057-4CDF-A9E5-3D8E1AC4D447}">
      <dsp:nvSpPr>
        <dsp:cNvPr id="0" name=""/>
        <dsp:cNvSpPr/>
      </dsp:nvSpPr>
      <dsp:spPr>
        <a:xfrm>
          <a:off x="1591761" y="746497"/>
          <a:ext cx="9061817" cy="137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854" tIns="145854" rIns="145854" bIns="145854" numCol="1" spcCol="1270" anchor="ctr" anchorCtr="0">
          <a:noAutofit/>
        </a:bodyPr>
        <a:lstStyle/>
        <a:p>
          <a:pPr marL="0" lvl="0" indent="0" algn="l" defTabSz="1022350">
            <a:lnSpc>
              <a:spcPct val="100000"/>
            </a:lnSpc>
            <a:spcBef>
              <a:spcPct val="0"/>
            </a:spcBef>
            <a:spcAft>
              <a:spcPct val="35000"/>
            </a:spcAft>
            <a:buNone/>
          </a:pPr>
          <a:r>
            <a:rPr lang="en-US" sz="2300" kern="1200" dirty="0">
              <a:latin typeface="Aptos Narrow" panose="020B0004020202020204" pitchFamily="34" charset="0"/>
            </a:rPr>
            <a:t>The first </a:t>
          </a:r>
          <a:r>
            <a:rPr lang="en-US" sz="2300" b="1" kern="1200" dirty="0">
              <a:latin typeface="Aptos Narrow" panose="020B0004020202020204" pitchFamily="34" charset="0"/>
            </a:rPr>
            <a:t>OCP (standard MPC tracking) </a:t>
          </a:r>
          <a:r>
            <a:rPr lang="en-US" sz="2300" kern="1200" dirty="0">
              <a:latin typeface="Aptos Narrow" panose="020B0004020202020204" pitchFamily="34" charset="0"/>
            </a:rPr>
            <a:t>aims to minimize tracking error and transaction costs using a classical optimization method</a:t>
          </a:r>
        </a:p>
      </dsp:txBody>
      <dsp:txXfrm>
        <a:off x="1591761" y="746497"/>
        <a:ext cx="9061817" cy="1378148"/>
      </dsp:txXfrm>
    </dsp:sp>
    <dsp:sp modelId="{BAC5D49D-FE5F-4FAB-AFEB-709C9D3964A0}">
      <dsp:nvSpPr>
        <dsp:cNvPr id="0" name=""/>
        <dsp:cNvSpPr/>
      </dsp:nvSpPr>
      <dsp:spPr>
        <a:xfrm>
          <a:off x="0" y="2469182"/>
          <a:ext cx="10653579" cy="1378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FEEA2B-7138-403C-AB01-321E3C607FAF}">
      <dsp:nvSpPr>
        <dsp:cNvPr id="0" name=""/>
        <dsp:cNvSpPr/>
      </dsp:nvSpPr>
      <dsp:spPr>
        <a:xfrm>
          <a:off x="416889" y="2779265"/>
          <a:ext cx="757981" cy="7579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62FCAE-759A-4D13-9A4F-4932F8DB8BF4}">
      <dsp:nvSpPr>
        <dsp:cNvPr id="0" name=""/>
        <dsp:cNvSpPr/>
      </dsp:nvSpPr>
      <dsp:spPr>
        <a:xfrm>
          <a:off x="1591761" y="2469182"/>
          <a:ext cx="9061817" cy="137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854" tIns="145854" rIns="145854" bIns="145854" numCol="1" spcCol="1270" anchor="ctr" anchorCtr="0">
          <a:noAutofit/>
        </a:bodyPr>
        <a:lstStyle/>
        <a:p>
          <a:pPr marL="0" lvl="0" indent="0" algn="l" defTabSz="1022350">
            <a:lnSpc>
              <a:spcPct val="100000"/>
            </a:lnSpc>
            <a:spcBef>
              <a:spcPct val="0"/>
            </a:spcBef>
            <a:spcAft>
              <a:spcPct val="35000"/>
            </a:spcAft>
            <a:buNone/>
          </a:pPr>
          <a:r>
            <a:rPr lang="en-US" sz="2300" kern="1200" dirty="0">
              <a:latin typeface="Aptos Narrow" panose="020B0004020202020204" pitchFamily="34" charset="0"/>
            </a:rPr>
            <a:t>The second formulation of </a:t>
          </a:r>
          <a:r>
            <a:rPr lang="en-US" sz="2300" b="1" kern="1200" dirty="0">
              <a:latin typeface="Aptos Narrow" panose="020B0004020202020204" pitchFamily="34" charset="0"/>
            </a:rPr>
            <a:t>OCP (CVaR-based MPC tracking)</a:t>
          </a:r>
          <a:r>
            <a:rPr lang="en-US" sz="2300" kern="1200" dirty="0">
              <a:latin typeface="Aptos Narrow" panose="020B0004020202020204" pitchFamily="34" charset="0"/>
            </a:rPr>
            <a:t> aims to minimize tracking error and transaction costs with the strategy of focusing on worst-case scenarios for the objective function</a:t>
          </a:r>
        </a:p>
      </dsp:txBody>
      <dsp:txXfrm>
        <a:off x="1591761" y="2469182"/>
        <a:ext cx="9061817" cy="13781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DB59B4-7BDD-493A-8A2D-209711A219F5}">
      <dsp:nvSpPr>
        <dsp:cNvPr id="0" name=""/>
        <dsp:cNvSpPr/>
      </dsp:nvSpPr>
      <dsp:spPr>
        <a:xfrm>
          <a:off x="0" y="746497"/>
          <a:ext cx="10653579" cy="1378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B618CF-17A4-448A-98AA-398AC0DA886E}">
      <dsp:nvSpPr>
        <dsp:cNvPr id="0" name=""/>
        <dsp:cNvSpPr/>
      </dsp:nvSpPr>
      <dsp:spPr>
        <a:xfrm>
          <a:off x="416889" y="1056580"/>
          <a:ext cx="757981" cy="7579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1F867F-2C72-4EDD-B0A9-0F147E6650D2}">
      <dsp:nvSpPr>
        <dsp:cNvPr id="0" name=""/>
        <dsp:cNvSpPr/>
      </dsp:nvSpPr>
      <dsp:spPr>
        <a:xfrm>
          <a:off x="1591761" y="746497"/>
          <a:ext cx="9061817" cy="137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854" tIns="145854" rIns="145854" bIns="145854"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ptos Narrow" panose="020B0004020202020204" pitchFamily="34" charset="0"/>
            </a:rPr>
            <a:t>The proposed MPC strategy is implemented in MATLAB. the authors to solve the optimization problem rely on the </a:t>
          </a:r>
          <a:r>
            <a:rPr lang="en-US" sz="2200" kern="1200" dirty="0" err="1">
              <a:latin typeface="Cascadia Code ExtraLight" panose="020B0609020000020004" pitchFamily="49" charset="0"/>
              <a:ea typeface="Cascadia Code ExtraLight" panose="020B0609020000020004" pitchFamily="49" charset="0"/>
              <a:cs typeface="Cascadia Code ExtraLight" panose="020B0609020000020004" pitchFamily="49" charset="0"/>
            </a:rPr>
            <a:t>fmincon</a:t>
          </a:r>
          <a:r>
            <a:rPr lang="en-US" sz="2200" kern="1200" dirty="0">
              <a:latin typeface="Aptos Narrow" panose="020B0004020202020204" pitchFamily="34" charset="0"/>
            </a:rPr>
            <a:t> function: it is the most widely used solver for constrained nonlinear optimization problems.</a:t>
          </a:r>
        </a:p>
      </dsp:txBody>
      <dsp:txXfrm>
        <a:off x="1591761" y="746497"/>
        <a:ext cx="9061817" cy="1378148"/>
      </dsp:txXfrm>
    </dsp:sp>
    <dsp:sp modelId="{1F7FC66B-9945-46C2-8B94-E4DEA7436AE4}">
      <dsp:nvSpPr>
        <dsp:cNvPr id="0" name=""/>
        <dsp:cNvSpPr/>
      </dsp:nvSpPr>
      <dsp:spPr>
        <a:xfrm>
          <a:off x="0" y="2469182"/>
          <a:ext cx="10653579" cy="1378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3495B6-DA90-4CED-A9A2-B745ABDBC832}">
      <dsp:nvSpPr>
        <dsp:cNvPr id="0" name=""/>
        <dsp:cNvSpPr/>
      </dsp:nvSpPr>
      <dsp:spPr>
        <a:xfrm>
          <a:off x="416889" y="2779265"/>
          <a:ext cx="757981" cy="7579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9703E0-04D2-47D9-B28D-FCDCDF4C6C2F}">
      <dsp:nvSpPr>
        <dsp:cNvPr id="0" name=""/>
        <dsp:cNvSpPr/>
      </dsp:nvSpPr>
      <dsp:spPr>
        <a:xfrm>
          <a:off x="1591761" y="2469182"/>
          <a:ext cx="9061817" cy="137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854" tIns="145854" rIns="145854" bIns="145854" numCol="1" spcCol="1270" anchor="ctr" anchorCtr="0">
          <a:noAutofit/>
        </a:bodyPr>
        <a:lstStyle/>
        <a:p>
          <a:pPr marL="0" lvl="0" indent="0" algn="l" defTabSz="977900">
            <a:lnSpc>
              <a:spcPct val="100000"/>
            </a:lnSpc>
            <a:spcBef>
              <a:spcPct val="0"/>
            </a:spcBef>
            <a:spcAft>
              <a:spcPct val="35000"/>
            </a:spcAft>
            <a:buNone/>
          </a:pPr>
          <a:r>
            <a:rPr lang="en-US" sz="2200" kern="1200" dirty="0">
              <a:latin typeface="Aptos Narrow" panose="020B0004020202020204" pitchFamily="34" charset="0"/>
            </a:rPr>
            <a:t>The mathematical model on which </a:t>
          </a:r>
          <a:r>
            <a:rPr lang="en-US" sz="2200" kern="1200" dirty="0" err="1">
              <a:latin typeface="Cascadia Code ExtraLight" panose="020B0609020000020004" pitchFamily="49" charset="0"/>
              <a:ea typeface="Cascadia Code ExtraLight" panose="020B0609020000020004" pitchFamily="49" charset="0"/>
              <a:cs typeface="Cascadia Code ExtraLight" panose="020B0609020000020004" pitchFamily="49" charset="0"/>
            </a:rPr>
            <a:t>fmincon</a:t>
          </a:r>
          <a:r>
            <a:rPr lang="en-US" sz="2200" kern="1200" dirty="0">
              <a:latin typeface="Aptos Narrow" panose="020B0004020202020204" pitchFamily="34" charset="0"/>
            </a:rPr>
            <a:t> is based is </a:t>
          </a:r>
          <a:r>
            <a:rPr lang="en-US" sz="2200" b="1" kern="1200" dirty="0">
              <a:latin typeface="Aptos Narrow" panose="020B0004020202020204" pitchFamily="34" charset="0"/>
            </a:rPr>
            <a:t>Sequential Quadratic Programming (SQP)</a:t>
          </a:r>
          <a:r>
            <a:rPr lang="en-US" sz="2200" kern="1200" dirty="0">
              <a:latin typeface="Aptos Narrow" panose="020B0004020202020204" pitchFamily="34" charset="0"/>
            </a:rPr>
            <a:t>, considered one of the most precise methods for medium-scale nonlinear problems, especially when the constraints are stringent</a:t>
          </a:r>
          <a:r>
            <a:rPr lang="it-IT" sz="2200" kern="1200" dirty="0">
              <a:latin typeface="Aptos Narrow" panose="020B0004020202020204" pitchFamily="34" charset="0"/>
            </a:rPr>
            <a:t>.</a:t>
          </a:r>
          <a:endParaRPr lang="en-US" sz="2200" kern="1200" dirty="0">
            <a:latin typeface="Aptos Narrow" panose="020B0004020202020204" pitchFamily="34" charset="0"/>
          </a:endParaRPr>
        </a:p>
      </dsp:txBody>
      <dsp:txXfrm>
        <a:off x="1591761" y="2469182"/>
        <a:ext cx="9061817" cy="137814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1D6044-9441-4CE4-AC1E-BB537CD0E40C}">
      <dsp:nvSpPr>
        <dsp:cNvPr id="0" name=""/>
        <dsp:cNvSpPr/>
      </dsp:nvSpPr>
      <dsp:spPr>
        <a:xfrm>
          <a:off x="0" y="746497"/>
          <a:ext cx="10653579" cy="1378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387D83-BF2E-45E5-84E3-FE867EB8F9E3}">
      <dsp:nvSpPr>
        <dsp:cNvPr id="0" name=""/>
        <dsp:cNvSpPr/>
      </dsp:nvSpPr>
      <dsp:spPr>
        <a:xfrm>
          <a:off x="416889" y="1056580"/>
          <a:ext cx="757981" cy="7579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2CD7EB-4989-46EB-9D6B-6917004FB487}">
      <dsp:nvSpPr>
        <dsp:cNvPr id="0" name=""/>
        <dsp:cNvSpPr/>
      </dsp:nvSpPr>
      <dsp:spPr>
        <a:xfrm>
          <a:off x="1591761" y="746497"/>
          <a:ext cx="9061817" cy="137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854" tIns="145854" rIns="145854" bIns="145854" numCol="1" spcCol="1270" anchor="ctr" anchorCtr="0">
          <a:noAutofit/>
        </a:bodyPr>
        <a:lstStyle/>
        <a:p>
          <a:pPr marL="0" lvl="0" indent="0" algn="l" defTabSz="1022350">
            <a:lnSpc>
              <a:spcPct val="100000"/>
            </a:lnSpc>
            <a:spcBef>
              <a:spcPct val="0"/>
            </a:spcBef>
            <a:spcAft>
              <a:spcPct val="35000"/>
            </a:spcAft>
            <a:buNone/>
          </a:pPr>
          <a:r>
            <a:rPr lang="en-US" sz="2300" kern="1200" dirty="0">
              <a:latin typeface="Aptos Narrow" panose="020B0004020202020204" pitchFamily="34" charset="0"/>
            </a:rPr>
            <a:t>Since, in addition to the closing prices of the above-mentioned assets, we also need to know the official interest rate of the Central Bank of Brazil, the </a:t>
          </a:r>
          <a:r>
            <a:rPr lang="en-US" sz="2300" b="1" kern="1200" dirty="0">
              <a:latin typeface="Aptos Narrow" panose="020B0004020202020204" pitchFamily="34" charset="0"/>
            </a:rPr>
            <a:t>SELIC rate</a:t>
          </a:r>
          <a:r>
            <a:rPr lang="en-US" sz="2300" kern="1200" dirty="0">
              <a:latin typeface="Aptos Narrow" panose="020B0004020202020204" pitchFamily="34" charset="0"/>
            </a:rPr>
            <a:t>, to implement the </a:t>
          </a:r>
          <a:r>
            <a:rPr lang="en-US" sz="2300" b="1" kern="1200" dirty="0">
              <a:latin typeface="Aptos Narrow" panose="020B0004020202020204" pitchFamily="34" charset="0"/>
            </a:rPr>
            <a:t>risk-free asset</a:t>
          </a:r>
          <a:r>
            <a:rPr lang="en-US" sz="2300" kern="1200" dirty="0">
              <a:latin typeface="Aptos Narrow" panose="020B0004020202020204" pitchFamily="34" charset="0"/>
            </a:rPr>
            <a:t>, as the authors do.</a:t>
          </a:r>
        </a:p>
      </dsp:txBody>
      <dsp:txXfrm>
        <a:off x="1591761" y="746497"/>
        <a:ext cx="9061817" cy="1378148"/>
      </dsp:txXfrm>
    </dsp:sp>
    <dsp:sp modelId="{BA26B48B-6CB4-4D7C-8355-A96156F94FDD}">
      <dsp:nvSpPr>
        <dsp:cNvPr id="0" name=""/>
        <dsp:cNvSpPr/>
      </dsp:nvSpPr>
      <dsp:spPr>
        <a:xfrm>
          <a:off x="0" y="2469182"/>
          <a:ext cx="10653579" cy="13781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56A013-85DA-4C31-AB65-E4B337442CC4}">
      <dsp:nvSpPr>
        <dsp:cNvPr id="0" name=""/>
        <dsp:cNvSpPr/>
      </dsp:nvSpPr>
      <dsp:spPr>
        <a:xfrm>
          <a:off x="416889" y="2779265"/>
          <a:ext cx="757981" cy="7579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95B110-0076-42B2-A632-ADCD65549B0D}">
      <dsp:nvSpPr>
        <dsp:cNvPr id="0" name=""/>
        <dsp:cNvSpPr/>
      </dsp:nvSpPr>
      <dsp:spPr>
        <a:xfrm>
          <a:off x="1591761" y="2469182"/>
          <a:ext cx="9061817" cy="1378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854" tIns="145854" rIns="145854" bIns="145854" numCol="1" spcCol="1270" anchor="ctr" anchorCtr="0">
          <a:noAutofit/>
        </a:bodyPr>
        <a:lstStyle/>
        <a:p>
          <a:pPr marL="0" lvl="0" indent="0" algn="l" defTabSz="1022350">
            <a:lnSpc>
              <a:spcPct val="100000"/>
            </a:lnSpc>
            <a:spcBef>
              <a:spcPct val="0"/>
            </a:spcBef>
            <a:spcAft>
              <a:spcPct val="35000"/>
            </a:spcAft>
            <a:buNone/>
          </a:pPr>
          <a:r>
            <a:rPr lang="en-US" sz="2300" kern="1200" dirty="0">
              <a:latin typeface="Aptos Narrow" panose="020B0004020202020204" pitchFamily="34" charset="0"/>
            </a:rPr>
            <a:t>We downloaded his historian on the portal of the Central Bank of Brazil, called SGS.</a:t>
          </a:r>
        </a:p>
      </dsp:txBody>
      <dsp:txXfrm>
        <a:off x="1591761" y="2469182"/>
        <a:ext cx="9061817" cy="137814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2/25/2026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929330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2/25/2026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596827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2/25/2026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900962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2/25/2026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610904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2/25/2026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3329675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2/25/2026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36975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2/25/2026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917597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2/25/2026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01738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2/25/2026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2515475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2/25/2026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977669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2/25/2026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a:t>
            </a:fld>
            <a:endParaRPr lang="en-US"/>
          </a:p>
        </p:txBody>
      </p:sp>
    </p:spTree>
    <p:extLst>
      <p:ext uri="{BB962C8B-B14F-4D97-AF65-F5344CB8AC3E}">
        <p14:creationId xmlns:p14="http://schemas.microsoft.com/office/powerpoint/2010/main" val="176412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2/25/2026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a:t>
            </a:fld>
            <a:endParaRPr lang="en-US"/>
          </a:p>
        </p:txBody>
      </p:sp>
    </p:spTree>
    <p:extLst>
      <p:ext uri="{BB962C8B-B14F-4D97-AF65-F5344CB8AC3E}">
        <p14:creationId xmlns:p14="http://schemas.microsoft.com/office/powerpoint/2010/main" val="3958847768"/>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Grafico su documento con penna">
            <a:extLst>
              <a:ext uri="{FF2B5EF4-FFF2-40B4-BE49-F238E27FC236}">
                <a16:creationId xmlns:a16="http://schemas.microsoft.com/office/drawing/2014/main" id="{C57A421D-E7E2-57F8-A1A1-B0D441F0A376}"/>
              </a:ext>
            </a:extLst>
          </p:cNvPr>
          <p:cNvPicPr>
            <a:picLocks noChangeAspect="1"/>
          </p:cNvPicPr>
          <p:nvPr/>
        </p:nvPicPr>
        <p:blipFill>
          <a:blip r:embed="rId2">
            <a:alphaModFix amt="60000"/>
          </a:blip>
          <a:srcRect t="1510" b="14220"/>
          <a:stretch>
            <a:fillRect/>
          </a:stretch>
        </p:blipFill>
        <p:spPr>
          <a:xfrm>
            <a:off x="0" y="-1"/>
            <a:ext cx="12192000" cy="6857999"/>
          </a:xfrm>
          <a:prstGeom prst="rect">
            <a:avLst/>
          </a:prstGeom>
        </p:spPr>
      </p:pic>
      <p:sp>
        <p:nvSpPr>
          <p:cNvPr id="6" name="Titolo 5">
            <a:extLst>
              <a:ext uri="{FF2B5EF4-FFF2-40B4-BE49-F238E27FC236}">
                <a16:creationId xmlns:a16="http://schemas.microsoft.com/office/drawing/2014/main" id="{12A542BB-71A8-E934-9F4D-7661D555AA76}"/>
              </a:ext>
            </a:extLst>
          </p:cNvPr>
          <p:cNvSpPr>
            <a:spLocks noGrp="1"/>
          </p:cNvSpPr>
          <p:nvPr>
            <p:ph type="ctrTitle"/>
          </p:nvPr>
        </p:nvSpPr>
        <p:spPr>
          <a:xfrm>
            <a:off x="334297" y="1106905"/>
            <a:ext cx="8954082" cy="1572919"/>
          </a:xfrm>
        </p:spPr>
        <p:txBody>
          <a:bodyPr>
            <a:noAutofit/>
          </a:bodyPr>
          <a:lstStyle/>
          <a:p>
            <a:pPr algn="l"/>
            <a:r>
              <a:rPr lang="it-IT" sz="3000" dirty="0">
                <a:latin typeface="Aptos Narrow" panose="020B0004020202020204" pitchFamily="34" charset="0"/>
              </a:rPr>
              <a:t>Project based on: </a:t>
            </a:r>
            <a:br>
              <a:rPr lang="it-IT" sz="3500" dirty="0">
                <a:latin typeface="Aptos Narrow" panose="020B0004020202020204" pitchFamily="34" charset="0"/>
              </a:rPr>
            </a:br>
            <a:r>
              <a:rPr lang="it-IT" dirty="0">
                <a:latin typeface="Aptos Narrow" panose="020B0004020202020204" pitchFamily="34" charset="0"/>
              </a:rPr>
              <a:t>INVESTMENT PORTFOLIO TRACKING USING MODEL PREDICTIVE CONTROL</a:t>
            </a:r>
          </a:p>
        </p:txBody>
      </p:sp>
      <p:sp>
        <p:nvSpPr>
          <p:cNvPr id="7" name="CasellaDiTesto 6">
            <a:extLst>
              <a:ext uri="{FF2B5EF4-FFF2-40B4-BE49-F238E27FC236}">
                <a16:creationId xmlns:a16="http://schemas.microsoft.com/office/drawing/2014/main" id="{54B40F8C-A163-FAA6-F1E9-F926E7AC9D8F}"/>
              </a:ext>
            </a:extLst>
          </p:cNvPr>
          <p:cNvSpPr txBox="1"/>
          <p:nvPr/>
        </p:nvSpPr>
        <p:spPr>
          <a:xfrm>
            <a:off x="1699660" y="421171"/>
            <a:ext cx="8792679" cy="369332"/>
          </a:xfrm>
          <a:prstGeom prst="rect">
            <a:avLst/>
          </a:prstGeom>
          <a:noFill/>
        </p:spPr>
        <p:txBody>
          <a:bodyPr wrap="square" rtlCol="0">
            <a:spAutoFit/>
          </a:bodyPr>
          <a:lstStyle/>
          <a:p>
            <a:pPr algn="ctr">
              <a:spcAft>
                <a:spcPts val="600"/>
              </a:spcAft>
            </a:pPr>
            <a:r>
              <a:rPr lang="en-US" b="1" dirty="0">
                <a:latin typeface="Aptos Narrow" panose="020B0004020202020204" pitchFamily="34" charset="0"/>
              </a:rPr>
              <a:t>University of Trieste: Department of Engineering and Architecture</a:t>
            </a:r>
          </a:p>
        </p:txBody>
      </p:sp>
      <p:sp>
        <p:nvSpPr>
          <p:cNvPr id="8" name="Sottotitolo 2">
            <a:extLst>
              <a:ext uri="{FF2B5EF4-FFF2-40B4-BE49-F238E27FC236}">
                <a16:creationId xmlns:a16="http://schemas.microsoft.com/office/drawing/2014/main" id="{A429353A-B80D-07C8-8D49-5C0F48E7FE5B}"/>
              </a:ext>
            </a:extLst>
          </p:cNvPr>
          <p:cNvSpPr>
            <a:spLocks noGrp="1"/>
          </p:cNvSpPr>
          <p:nvPr>
            <p:ph type="subTitle" idx="1"/>
          </p:nvPr>
        </p:nvSpPr>
        <p:spPr>
          <a:xfrm>
            <a:off x="640079" y="5251622"/>
            <a:ext cx="4958615" cy="490416"/>
          </a:xfrm>
        </p:spPr>
        <p:txBody>
          <a:bodyPr anchor="t">
            <a:normAutofit/>
          </a:bodyPr>
          <a:lstStyle/>
          <a:p>
            <a:r>
              <a:rPr lang="it-IT" b="1" dirty="0">
                <a:solidFill>
                  <a:srgbClr val="FFFFFF"/>
                </a:solidFill>
                <a:latin typeface="Aptos Narrow" panose="020B0004020202020204" pitchFamily="34" charset="0"/>
              </a:rPr>
              <a:t>COURSE</a:t>
            </a:r>
            <a:r>
              <a:rPr lang="it-IT" dirty="0">
                <a:solidFill>
                  <a:srgbClr val="FFFFFF"/>
                </a:solidFill>
                <a:latin typeface="Aptos Narrow" panose="020B0004020202020204" pitchFamily="34" charset="0"/>
              </a:rPr>
              <a:t>: CONTROL OF CYBER-PHYSICAL SYSTEMS</a:t>
            </a:r>
            <a:endParaRPr lang="it-IT" b="0" dirty="0">
              <a:solidFill>
                <a:srgbClr val="FFFFFF"/>
              </a:solidFill>
              <a:latin typeface="Aptos Narrow" panose="020B0004020202020204" pitchFamily="34" charset="0"/>
            </a:endParaRPr>
          </a:p>
        </p:txBody>
      </p:sp>
      <p:sp>
        <p:nvSpPr>
          <p:cNvPr id="10" name="CasellaDiTesto 9">
            <a:extLst>
              <a:ext uri="{FF2B5EF4-FFF2-40B4-BE49-F238E27FC236}">
                <a16:creationId xmlns:a16="http://schemas.microsoft.com/office/drawing/2014/main" id="{8EAD7F38-21A4-82D5-FABF-D70EB7AA8ADA}"/>
              </a:ext>
            </a:extLst>
          </p:cNvPr>
          <p:cNvSpPr txBox="1"/>
          <p:nvPr/>
        </p:nvSpPr>
        <p:spPr>
          <a:xfrm>
            <a:off x="7295535" y="5142271"/>
            <a:ext cx="4503174" cy="923330"/>
          </a:xfrm>
          <a:prstGeom prst="rect">
            <a:avLst/>
          </a:prstGeom>
          <a:noFill/>
        </p:spPr>
        <p:txBody>
          <a:bodyPr wrap="square" rtlCol="0">
            <a:spAutoFit/>
          </a:bodyPr>
          <a:lstStyle/>
          <a:p>
            <a:pPr algn="ctr"/>
            <a:r>
              <a:rPr lang="it-IT" b="1" dirty="0">
                <a:solidFill>
                  <a:srgbClr val="FFFFFF"/>
                </a:solidFill>
                <a:latin typeface="Aptos Narrow" panose="020B0004020202020204" pitchFamily="34" charset="0"/>
              </a:rPr>
              <a:t>Professor</a:t>
            </a:r>
            <a:r>
              <a:rPr lang="it-IT" dirty="0">
                <a:solidFill>
                  <a:srgbClr val="FFFFFF"/>
                </a:solidFill>
                <a:latin typeface="Aptos Narrow" panose="020B0004020202020204" pitchFamily="34" charset="0"/>
              </a:rPr>
              <a:t>: Raimondo Davide Martino</a:t>
            </a:r>
          </a:p>
          <a:p>
            <a:pPr algn="ctr"/>
            <a:r>
              <a:rPr lang="it-IT" b="1" dirty="0">
                <a:solidFill>
                  <a:srgbClr val="FFFFFF"/>
                </a:solidFill>
                <a:latin typeface="Aptos Narrow" panose="020B0004020202020204" pitchFamily="34" charset="0"/>
              </a:rPr>
              <a:t>Project </a:t>
            </a:r>
            <a:r>
              <a:rPr lang="it-IT" b="1" dirty="0" err="1">
                <a:solidFill>
                  <a:srgbClr val="FFFFFF"/>
                </a:solidFill>
                <a:latin typeface="Aptos Narrow" panose="020B0004020202020204" pitchFamily="34" charset="0"/>
              </a:rPr>
              <a:t>carried</a:t>
            </a:r>
            <a:r>
              <a:rPr lang="it-IT" b="1" dirty="0">
                <a:solidFill>
                  <a:srgbClr val="FFFFFF"/>
                </a:solidFill>
                <a:latin typeface="Aptos Narrow" panose="020B0004020202020204" pitchFamily="34" charset="0"/>
              </a:rPr>
              <a:t> out</a:t>
            </a:r>
            <a:r>
              <a:rPr lang="it-IT" dirty="0">
                <a:solidFill>
                  <a:srgbClr val="FFFFFF"/>
                </a:solidFill>
                <a:latin typeface="Aptos Narrow" panose="020B0004020202020204" pitchFamily="34" charset="0"/>
              </a:rPr>
              <a:t>: Di Santo Alessandro</a:t>
            </a:r>
          </a:p>
          <a:p>
            <a:pPr algn="ctr"/>
            <a:endParaRPr lang="it-IT" dirty="0">
              <a:latin typeface="Aptos Narrow" panose="020B0004020202020204" pitchFamily="34" charset="0"/>
            </a:endParaRPr>
          </a:p>
        </p:txBody>
      </p:sp>
      <p:sp>
        <p:nvSpPr>
          <p:cNvPr id="12" name="CasellaDiTesto 11">
            <a:extLst>
              <a:ext uri="{FF2B5EF4-FFF2-40B4-BE49-F238E27FC236}">
                <a16:creationId xmlns:a16="http://schemas.microsoft.com/office/drawing/2014/main" id="{0E8FC733-A635-A3C8-40F6-FDC635491D95}"/>
              </a:ext>
            </a:extLst>
          </p:cNvPr>
          <p:cNvSpPr txBox="1"/>
          <p:nvPr/>
        </p:nvSpPr>
        <p:spPr>
          <a:xfrm>
            <a:off x="334297" y="2996226"/>
            <a:ext cx="11857703" cy="646331"/>
          </a:xfrm>
          <a:prstGeom prst="rect">
            <a:avLst/>
          </a:prstGeom>
          <a:noFill/>
        </p:spPr>
        <p:txBody>
          <a:bodyPr wrap="square" rtlCol="0">
            <a:spAutoFit/>
          </a:bodyPr>
          <a:lstStyle/>
          <a:p>
            <a:r>
              <a:rPr lang="it-IT" i="1" dirty="0">
                <a:latin typeface="Aptos Narrow" panose="020B0004020202020204" pitchFamily="34" charset="0"/>
              </a:rPr>
              <a:t>de Melo MK, Nogueira Cardoso RT, </a:t>
            </a:r>
            <a:r>
              <a:rPr lang="it-IT" i="1" dirty="0" err="1">
                <a:latin typeface="Aptos Narrow" panose="020B0004020202020204" pitchFamily="34" charset="0"/>
              </a:rPr>
              <a:t>Argolo</a:t>
            </a:r>
            <a:r>
              <a:rPr lang="it-IT" i="1" dirty="0">
                <a:latin typeface="Aptos Narrow" panose="020B0004020202020204" pitchFamily="34" charset="0"/>
              </a:rPr>
              <a:t> Jesus T, Vianna Raffo G. </a:t>
            </a:r>
            <a:r>
              <a:rPr lang="it-IT" b="1" dirty="0">
                <a:latin typeface="Aptos Narrow" panose="020B0004020202020204" pitchFamily="34" charset="0"/>
              </a:rPr>
              <a:t>Investment</a:t>
            </a:r>
          </a:p>
          <a:p>
            <a:r>
              <a:rPr lang="en-US" b="1" dirty="0">
                <a:latin typeface="Aptos Narrow" panose="020B0004020202020204" pitchFamily="34" charset="0"/>
              </a:rPr>
              <a:t>portfolio tracking using model predictive control</a:t>
            </a:r>
            <a:r>
              <a:rPr lang="en-US" dirty="0">
                <a:latin typeface="Aptos Narrow" panose="020B0004020202020204" pitchFamily="34" charset="0"/>
              </a:rPr>
              <a:t>. </a:t>
            </a:r>
            <a:r>
              <a:rPr lang="en-US" dirty="0" err="1">
                <a:latin typeface="Aptos Narrow" panose="020B0004020202020204" pitchFamily="34" charset="0"/>
              </a:rPr>
              <a:t>Optim</a:t>
            </a:r>
            <a:r>
              <a:rPr lang="en-US" dirty="0">
                <a:latin typeface="Aptos Narrow" panose="020B0004020202020204" pitchFamily="34" charset="0"/>
              </a:rPr>
              <a:t> Control Appl Meth. 2023</a:t>
            </a:r>
            <a:endParaRPr lang="it-IT" dirty="0">
              <a:latin typeface="Aptos Narrow" panose="020B0004020202020204" pitchFamily="34" charset="0"/>
            </a:endParaRPr>
          </a:p>
        </p:txBody>
      </p:sp>
    </p:spTree>
    <p:extLst>
      <p:ext uri="{BB962C8B-B14F-4D97-AF65-F5344CB8AC3E}">
        <p14:creationId xmlns:p14="http://schemas.microsoft.com/office/powerpoint/2010/main" val="92464887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402C39-8FDB-1D04-19A3-AA7EB7817E10}"/>
              </a:ext>
            </a:extLst>
          </p:cNvPr>
          <p:cNvSpPr>
            <a:spLocks noGrp="1"/>
          </p:cNvSpPr>
          <p:nvPr>
            <p:ph type="title"/>
          </p:nvPr>
        </p:nvSpPr>
        <p:spPr/>
        <p:txBody>
          <a:bodyPr/>
          <a:lstStyle/>
          <a:p>
            <a:r>
              <a:rPr lang="it-IT" dirty="0">
                <a:latin typeface="Aptos Narrow" panose="020B0004020202020204" pitchFamily="34" charset="0"/>
              </a:rPr>
              <a:t>INTRODUCTION</a:t>
            </a:r>
          </a:p>
        </p:txBody>
      </p:sp>
      <p:graphicFrame>
        <p:nvGraphicFramePr>
          <p:cNvPr id="5" name="Segnaposto contenuto 2">
            <a:extLst>
              <a:ext uri="{FF2B5EF4-FFF2-40B4-BE49-F238E27FC236}">
                <a16:creationId xmlns:a16="http://schemas.microsoft.com/office/drawing/2014/main" id="{D36EA36B-2469-4096-3702-AD5D362672A6}"/>
              </a:ext>
            </a:extLst>
          </p:cNvPr>
          <p:cNvGraphicFramePr>
            <a:graphicFrameLocks noGrp="1"/>
          </p:cNvGraphicFramePr>
          <p:nvPr>
            <p:ph idx="1"/>
            <p:extLst>
              <p:ext uri="{D42A27DB-BD31-4B8C-83A1-F6EECF244321}">
                <p14:modId xmlns:p14="http://schemas.microsoft.com/office/powerpoint/2010/main" val="3490343958"/>
              </p:ext>
            </p:extLst>
          </p:nvPr>
        </p:nvGraphicFramePr>
        <p:xfrm>
          <a:off x="612647" y="3304674"/>
          <a:ext cx="10969753" cy="3459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asellaDiTesto 3">
            <a:extLst>
              <a:ext uri="{FF2B5EF4-FFF2-40B4-BE49-F238E27FC236}">
                <a16:creationId xmlns:a16="http://schemas.microsoft.com/office/drawing/2014/main" id="{76710E08-3188-C145-7645-7CC962216DC5}"/>
              </a:ext>
            </a:extLst>
          </p:cNvPr>
          <p:cNvSpPr txBox="1"/>
          <p:nvPr/>
        </p:nvSpPr>
        <p:spPr>
          <a:xfrm>
            <a:off x="609598" y="1680898"/>
            <a:ext cx="10969753" cy="2308324"/>
          </a:xfrm>
          <a:prstGeom prst="rect">
            <a:avLst/>
          </a:prstGeom>
          <a:noFill/>
        </p:spPr>
        <p:txBody>
          <a:bodyPr wrap="square" rtlCol="0">
            <a:spAutoFit/>
          </a:bodyPr>
          <a:lstStyle/>
          <a:p>
            <a:r>
              <a:rPr lang="en-US" sz="2100" dirty="0">
                <a:latin typeface="Aptos Narrow" panose="020B0004020202020204" pitchFamily="34" charset="0"/>
              </a:rPr>
              <a:t>The composition of an </a:t>
            </a:r>
            <a:r>
              <a:rPr lang="en-US" sz="2100" b="1" dirty="0">
                <a:latin typeface="Aptos Narrow" panose="020B0004020202020204" pitchFamily="34" charset="0"/>
              </a:rPr>
              <a:t>investment portfolio </a:t>
            </a:r>
            <a:r>
              <a:rPr lang="en-US" sz="2100" dirty="0">
                <a:latin typeface="Aptos Narrow" panose="020B0004020202020204" pitchFamily="34" charset="0"/>
              </a:rPr>
              <a:t>aimed at increasing financial returns while reducing risk exposure is a topic of growing global interest. </a:t>
            </a:r>
          </a:p>
          <a:p>
            <a:endParaRPr lang="en-US" sz="2100" dirty="0">
              <a:latin typeface="Aptos Narrow" panose="020B0004020202020204" pitchFamily="34" charset="0"/>
            </a:endParaRPr>
          </a:p>
          <a:p>
            <a:endParaRPr lang="en-US" sz="2100" dirty="0">
              <a:latin typeface="Aptos Narrow" panose="020B0004020202020204" pitchFamily="34" charset="0"/>
            </a:endParaRPr>
          </a:p>
          <a:p>
            <a:r>
              <a:rPr lang="en-US" sz="2100" dirty="0">
                <a:latin typeface="Aptos Narrow" panose="020B0004020202020204" pitchFamily="34" charset="0"/>
              </a:rPr>
              <a:t>The authors distinguish </a:t>
            </a:r>
            <a:r>
              <a:rPr lang="en-US" sz="2100" b="1" dirty="0">
                <a:latin typeface="Aptos Narrow" panose="020B0004020202020204" pitchFamily="34" charset="0"/>
              </a:rPr>
              <a:t>portfolio management problems </a:t>
            </a:r>
            <a:r>
              <a:rPr lang="en-US" sz="2100" dirty="0">
                <a:latin typeface="Aptos Narrow" panose="020B0004020202020204" pitchFamily="34" charset="0"/>
              </a:rPr>
              <a:t>into two types:</a:t>
            </a:r>
          </a:p>
          <a:p>
            <a:endParaRPr lang="it-IT" sz="2100" dirty="0">
              <a:latin typeface="Aptos Narrow" panose="020B0004020202020204" pitchFamily="34" charset="0"/>
            </a:endParaRPr>
          </a:p>
          <a:p>
            <a:endParaRPr lang="it-IT" dirty="0"/>
          </a:p>
        </p:txBody>
      </p:sp>
    </p:spTree>
    <p:extLst>
      <p:ext uri="{BB962C8B-B14F-4D97-AF65-F5344CB8AC3E}">
        <p14:creationId xmlns:p14="http://schemas.microsoft.com/office/powerpoint/2010/main" val="4051346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975CE03-9F11-5990-5D36-47CE561F4A1E}"/>
              </a:ext>
            </a:extLst>
          </p:cNvPr>
          <p:cNvSpPr>
            <a:spLocks noGrp="1"/>
          </p:cNvSpPr>
          <p:nvPr>
            <p:ph type="title"/>
          </p:nvPr>
        </p:nvSpPr>
        <p:spPr>
          <a:xfrm>
            <a:off x="612648" y="548640"/>
            <a:ext cx="10945037" cy="1133856"/>
          </a:xfrm>
        </p:spPr>
        <p:txBody>
          <a:bodyPr anchor="t">
            <a:normAutofit/>
          </a:bodyPr>
          <a:lstStyle/>
          <a:p>
            <a:r>
              <a:rPr lang="it-IT" dirty="0">
                <a:latin typeface="Aptos Narrow" panose="020B0004020202020204" pitchFamily="34" charset="0"/>
              </a:rPr>
              <a:t>MODEL PREDICTIVE CONTROL</a:t>
            </a:r>
          </a:p>
        </p:txBody>
      </p:sp>
      <p:graphicFrame>
        <p:nvGraphicFramePr>
          <p:cNvPr id="5" name="Segnaposto contenuto 2">
            <a:extLst>
              <a:ext uri="{FF2B5EF4-FFF2-40B4-BE49-F238E27FC236}">
                <a16:creationId xmlns:a16="http://schemas.microsoft.com/office/drawing/2014/main" id="{0381BEDB-179E-E0BF-892D-76F2A3DC87F2}"/>
              </a:ext>
            </a:extLst>
          </p:cNvPr>
          <p:cNvGraphicFramePr>
            <a:graphicFrameLocks noGrp="1"/>
          </p:cNvGraphicFramePr>
          <p:nvPr>
            <p:ph idx="1"/>
            <p:extLst>
              <p:ext uri="{D42A27DB-BD31-4B8C-83A1-F6EECF244321}">
                <p14:modId xmlns:p14="http://schemas.microsoft.com/office/powerpoint/2010/main" val="2813271705"/>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0032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801CED-4981-C704-8F56-17BEBB214B50}"/>
              </a:ext>
            </a:extLst>
          </p:cNvPr>
          <p:cNvSpPr>
            <a:spLocks noGrp="1"/>
          </p:cNvSpPr>
          <p:nvPr>
            <p:ph type="title"/>
          </p:nvPr>
        </p:nvSpPr>
        <p:spPr/>
        <p:txBody>
          <a:bodyPr/>
          <a:lstStyle/>
          <a:p>
            <a:r>
              <a:rPr lang="it-IT" dirty="0">
                <a:latin typeface="Aptos Narrow" panose="020B0004020202020204" pitchFamily="34" charset="0"/>
              </a:rPr>
              <a:t>KEY POINTS</a:t>
            </a:r>
          </a:p>
        </p:txBody>
      </p:sp>
      <p:graphicFrame>
        <p:nvGraphicFramePr>
          <p:cNvPr id="5" name="Segnaposto contenuto 2">
            <a:extLst>
              <a:ext uri="{FF2B5EF4-FFF2-40B4-BE49-F238E27FC236}">
                <a16:creationId xmlns:a16="http://schemas.microsoft.com/office/drawing/2014/main" id="{42008AAA-0608-C03E-5AAA-459E375D581C}"/>
              </a:ext>
            </a:extLst>
          </p:cNvPr>
          <p:cNvGraphicFramePr>
            <a:graphicFrameLocks noGrp="1"/>
          </p:cNvGraphicFramePr>
          <p:nvPr>
            <p:ph idx="1"/>
            <p:extLst>
              <p:ext uri="{D42A27DB-BD31-4B8C-83A1-F6EECF244321}">
                <p14:modId xmlns:p14="http://schemas.microsoft.com/office/powerpoint/2010/main" val="3701600195"/>
              </p:ext>
            </p:extLst>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07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D75EDF7-565C-197E-3A73-2B695537B381}"/>
              </a:ext>
            </a:extLst>
          </p:cNvPr>
          <p:cNvSpPr>
            <a:spLocks noGrp="1"/>
          </p:cNvSpPr>
          <p:nvPr>
            <p:ph type="title"/>
          </p:nvPr>
        </p:nvSpPr>
        <p:spPr/>
        <p:txBody>
          <a:bodyPr/>
          <a:lstStyle/>
          <a:p>
            <a:r>
              <a:rPr lang="it-IT" dirty="0">
                <a:latin typeface="Aptos Narrow" panose="020B0004020202020204" pitchFamily="34" charset="0"/>
              </a:rPr>
              <a:t>PORTFOLIO WEALTH</a:t>
            </a:r>
            <a:br>
              <a:rPr lang="it-IT" dirty="0"/>
            </a:br>
            <a:endParaRPr lang="it-IT" dirty="0"/>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34331CBC-3FB5-9659-8A4E-7501A2EB42AE}"/>
                  </a:ext>
                </a:extLst>
              </p:cNvPr>
              <p:cNvSpPr>
                <a:spLocks noGrp="1"/>
              </p:cNvSpPr>
              <p:nvPr>
                <p:ph idx="1"/>
              </p:nvPr>
            </p:nvSpPr>
            <p:spPr>
              <a:xfrm>
                <a:off x="612648" y="1715532"/>
                <a:ext cx="10653579" cy="4593828"/>
              </a:xfrm>
            </p:spPr>
            <p:txBody>
              <a:bodyPr/>
              <a:lstStyle/>
              <a:p>
                <a:pPr marL="0" indent="0">
                  <a:buNone/>
                </a:pPr>
                <a:r>
                  <a:rPr lang="en-US" dirty="0">
                    <a:latin typeface="Aptos Narrow" panose="020B0004020202020204" pitchFamily="34" charset="0"/>
                  </a:rPr>
                  <a:t>Consider a portfolio with n risk assets and a risk-free asset. Let us then define the </a:t>
                </a:r>
                <a:r>
                  <a:rPr lang="en-US" b="1" dirty="0">
                    <a:latin typeface="Aptos Narrow" panose="020B0004020202020204" pitchFamily="34" charset="0"/>
                  </a:rPr>
                  <a:t>wealth equation</a:t>
                </a:r>
                <a:r>
                  <a:rPr lang="en-US" dirty="0">
                    <a:latin typeface="Aptos Narrow" panose="020B0004020202020204" pitchFamily="34" charset="0"/>
                  </a:rPr>
                  <a:t> at time k:</a:t>
                </a:r>
              </a:p>
              <a:p>
                <a:pPr marL="0" lvl="0" indent="0">
                  <a:buNone/>
                </a:pPr>
                <a:endParaRPr lang="en-US" dirty="0">
                  <a:latin typeface="Aptos Narrow" panose="020B0004020202020204" pitchFamily="34" charset="0"/>
                </a:endParaRPr>
              </a:p>
              <a:p>
                <a:pPr marL="0" lvl="0" indent="0">
                  <a:buNone/>
                </a:pPr>
                <a:endParaRPr lang="it-IT" i="1" dirty="0">
                  <a:latin typeface="Aptos Narrow" panose="020B0004020202020204" pitchFamily="34" charset="0"/>
                </a:endParaRPr>
              </a:p>
              <a:p>
                <a:pPr lvl="0"/>
                <a:endParaRPr lang="it-IT" i="1" dirty="0">
                  <a:latin typeface="Aptos Narrow" panose="020B0004020202020204" pitchFamily="34" charset="0"/>
                </a:endParaRPr>
              </a:p>
              <a:p>
                <a:pPr lvl="0"/>
                <a:endParaRPr lang="it-IT" i="1" dirty="0">
                  <a:latin typeface="Aptos Narrow" panose="020B0004020202020204" pitchFamily="34" charset="0"/>
                </a:endParaRPr>
              </a:p>
              <a:p>
                <a:pPr lvl="0" algn="just"/>
                <a14:m>
                  <m:oMath xmlns:m="http://schemas.openxmlformats.org/officeDocument/2006/math">
                    <m:sSub>
                      <m:sSubPr>
                        <m:ctrlPr>
                          <a:rPr lang="it-IT" i="1"/>
                        </m:ctrlPr>
                      </m:sSubPr>
                      <m:e>
                        <m:r>
                          <a:rPr lang="it-IT" i="1"/>
                          <m:t>𝑢</m:t>
                        </m:r>
                      </m:e>
                      <m:sub>
                        <m:r>
                          <a:rPr lang="it-IT" i="1"/>
                          <m:t>𝑖</m:t>
                        </m:r>
                      </m:sub>
                    </m:sSub>
                    <m:d>
                      <m:dPr>
                        <m:ctrlPr>
                          <a:rPr lang="it-IT" i="1"/>
                        </m:ctrlPr>
                      </m:dPr>
                      <m:e>
                        <m:r>
                          <a:rPr lang="it-IT" i="1"/>
                          <m:t>𝑘</m:t>
                        </m:r>
                      </m:e>
                    </m:d>
                    <m:r>
                      <a:rPr lang="it-IT" i="1"/>
                      <m:t>≥0</m:t>
                    </m:r>
                  </m:oMath>
                </a14:m>
                <a:r>
                  <a:rPr lang="it-IT" dirty="0">
                    <a:latin typeface="Aptos Narrow" panose="020B0004020202020204" pitchFamily="34" charset="0"/>
                  </a:rPr>
                  <a:t>: </a:t>
                </a:r>
                <a:r>
                  <a:rPr lang="en-US" dirty="0">
                    <a:latin typeface="Aptos Narrow" panose="020B0004020202020204" pitchFamily="34" charset="0"/>
                  </a:rPr>
                  <a:t>money invested in the </a:t>
                </a:r>
                <a:r>
                  <a:rPr lang="en-US" dirty="0" err="1">
                    <a:latin typeface="Aptos Narrow" panose="020B0004020202020204" pitchFamily="34" charset="0"/>
                  </a:rPr>
                  <a:t>i-th</a:t>
                </a:r>
                <a:r>
                  <a:rPr lang="it-IT" dirty="0">
                    <a:latin typeface="Aptos Narrow" panose="020B0004020202020204" pitchFamily="34" charset="0"/>
                  </a:rPr>
                  <a:t> </a:t>
                </a:r>
                <a:r>
                  <a:rPr lang="it-IT" b="1" dirty="0">
                    <a:latin typeface="Aptos Narrow" panose="020B0004020202020204" pitchFamily="34" charset="0"/>
                  </a:rPr>
                  <a:t>risk asset</a:t>
                </a:r>
                <a:endParaRPr lang="it-IT" dirty="0">
                  <a:latin typeface="Aptos Narrow" panose="020B0004020202020204" pitchFamily="34" charset="0"/>
                </a:endParaRPr>
              </a:p>
              <a:p>
                <a:pPr lvl="0" algn="just"/>
                <a14:m>
                  <m:oMath xmlns:m="http://schemas.openxmlformats.org/officeDocument/2006/math">
                    <m:sSub>
                      <m:sSubPr>
                        <m:ctrlPr>
                          <a:rPr lang="it-IT" i="1"/>
                        </m:ctrlPr>
                      </m:sSubPr>
                      <m:e>
                        <m:r>
                          <a:rPr lang="it-IT" i="1"/>
                          <m:t>𝑢</m:t>
                        </m:r>
                      </m:e>
                      <m:sub>
                        <m:r>
                          <a:rPr lang="it-IT" i="1"/>
                          <m:t>0</m:t>
                        </m:r>
                      </m:sub>
                    </m:sSub>
                    <m:d>
                      <m:dPr>
                        <m:ctrlPr>
                          <a:rPr lang="it-IT" i="1"/>
                        </m:ctrlPr>
                      </m:dPr>
                      <m:e>
                        <m:r>
                          <a:rPr lang="it-IT" i="1"/>
                          <m:t>𝑘</m:t>
                        </m:r>
                      </m:e>
                    </m:d>
                    <m:r>
                      <a:rPr lang="it-IT" i="1"/>
                      <m:t>≥0</m:t>
                    </m:r>
                  </m:oMath>
                </a14:m>
                <a:r>
                  <a:rPr lang="it-IT" dirty="0">
                    <a:latin typeface="Aptos Narrow" panose="020B0004020202020204" pitchFamily="34" charset="0"/>
                  </a:rPr>
                  <a:t>: </a:t>
                </a:r>
                <a:r>
                  <a:rPr lang="en-US" dirty="0">
                    <a:latin typeface="Aptos Narrow" panose="020B0004020202020204" pitchFamily="34" charset="0"/>
                  </a:rPr>
                  <a:t>money invested in </a:t>
                </a:r>
                <a:r>
                  <a:rPr lang="it-IT" b="1" dirty="0">
                    <a:latin typeface="Aptos Narrow" panose="020B0004020202020204" pitchFamily="34" charset="0"/>
                  </a:rPr>
                  <a:t>risk-free asset</a:t>
                </a:r>
                <a:endParaRPr lang="it-IT" dirty="0">
                  <a:latin typeface="Aptos Narrow" panose="020B0004020202020204" pitchFamily="34" charset="0"/>
                </a:endParaRPr>
              </a:p>
              <a:p>
                <a:pPr lvl="0" algn="just"/>
                <a14:m>
                  <m:oMath xmlns:m="http://schemas.openxmlformats.org/officeDocument/2006/math">
                    <m:sSub>
                      <m:sSubPr>
                        <m:ctrlPr>
                          <a:rPr lang="it-IT" i="1"/>
                        </m:ctrlPr>
                      </m:sSubPr>
                      <m:e>
                        <m:r>
                          <a:rPr lang="it-IT" i="1"/>
                          <m:t>𝑢</m:t>
                        </m:r>
                      </m:e>
                      <m:sub>
                        <m:r>
                          <a:rPr lang="it-IT" i="1"/>
                          <m:t>𝑛</m:t>
                        </m:r>
                        <m:r>
                          <a:rPr lang="it-IT" i="1"/>
                          <m:t>+1</m:t>
                        </m:r>
                      </m:sub>
                    </m:sSub>
                    <m:d>
                      <m:dPr>
                        <m:ctrlPr>
                          <a:rPr lang="it-IT" i="1"/>
                        </m:ctrlPr>
                      </m:dPr>
                      <m:e>
                        <m:r>
                          <a:rPr lang="it-IT" i="1"/>
                          <m:t>𝑘</m:t>
                        </m:r>
                      </m:e>
                    </m:d>
                    <m:r>
                      <a:rPr lang="it-IT" i="1"/>
                      <m:t>≥0</m:t>
                    </m:r>
                  </m:oMath>
                </a14:m>
                <a:r>
                  <a:rPr lang="it-IT" dirty="0">
                    <a:latin typeface="Aptos Narrow" panose="020B0004020202020204" pitchFamily="34" charset="0"/>
                  </a:rPr>
                  <a:t>: </a:t>
                </a:r>
                <a:r>
                  <a:rPr lang="en-US" dirty="0">
                    <a:latin typeface="Aptos Narrow" panose="020B0004020202020204" pitchFamily="34" charset="0"/>
                  </a:rPr>
                  <a:t>money </a:t>
                </a:r>
                <a:r>
                  <a:rPr lang="en-US" b="1" dirty="0">
                    <a:latin typeface="Aptos Narrow" panose="020B0004020202020204" pitchFamily="34" charset="0"/>
                  </a:rPr>
                  <a:t>borrowed</a:t>
                </a:r>
                <a:r>
                  <a:rPr lang="en-US" dirty="0">
                    <a:latin typeface="Aptos Narrow" panose="020B0004020202020204" pitchFamily="34" charset="0"/>
                  </a:rPr>
                  <a:t> from the investor</a:t>
                </a:r>
              </a:p>
              <a:p>
                <a:pPr marL="0" indent="0">
                  <a:buNone/>
                </a:pPr>
                <a:endParaRPr lang="it-IT" dirty="0"/>
              </a:p>
            </p:txBody>
          </p:sp>
        </mc:Choice>
        <mc:Fallback>
          <p:sp>
            <p:nvSpPr>
              <p:cNvPr id="3" name="Segnaposto contenuto 2">
                <a:extLst>
                  <a:ext uri="{FF2B5EF4-FFF2-40B4-BE49-F238E27FC236}">
                    <a16:creationId xmlns:a16="http://schemas.microsoft.com/office/drawing/2014/main" id="{34331CBC-3FB5-9659-8A4E-7501A2EB42AE}"/>
                  </a:ext>
                </a:extLst>
              </p:cNvPr>
              <p:cNvSpPr>
                <a:spLocks noGrp="1" noRot="1" noChangeAspect="1" noMove="1" noResize="1" noEditPoints="1" noAdjustHandles="1" noChangeArrowheads="1" noChangeShapeType="1" noTextEdit="1"/>
              </p:cNvSpPr>
              <p:nvPr>
                <p:ph idx="1"/>
              </p:nvPr>
            </p:nvSpPr>
            <p:spPr>
              <a:xfrm>
                <a:off x="612648" y="1715532"/>
                <a:ext cx="10653579" cy="4593828"/>
              </a:xfrm>
              <a:blipFill>
                <a:blip r:embed="rId2"/>
                <a:stretch>
                  <a:fillRect l="-630" b="-5570"/>
                </a:stretch>
              </a:blipFill>
            </p:spPr>
            <p:txBody>
              <a:bodyPr/>
              <a:lstStyle/>
              <a:p>
                <a:r>
                  <a:rPr lang="it-IT">
                    <a:noFill/>
                  </a:rPr>
                  <a:t> </a:t>
                </a:r>
              </a:p>
            </p:txBody>
          </p:sp>
        </mc:Fallback>
      </mc:AlternateContent>
      <p:pic>
        <p:nvPicPr>
          <p:cNvPr id="4" name="Immagine 3" descr="Immagine che contiene nero, Carattere, design&#10;&#10;Il contenuto generato dall'IA potrebbe non essere corretto.">
            <a:extLst>
              <a:ext uri="{FF2B5EF4-FFF2-40B4-BE49-F238E27FC236}">
                <a16:creationId xmlns:a16="http://schemas.microsoft.com/office/drawing/2014/main" id="{08462079-1A9E-1206-4382-156CF7B4FC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28484" y="2773378"/>
            <a:ext cx="4335031" cy="990400"/>
          </a:xfrm>
          <a:prstGeom prst="rect">
            <a:avLst/>
          </a:prstGeom>
          <a:noFill/>
          <a:ln>
            <a:noFill/>
          </a:ln>
        </p:spPr>
      </p:pic>
    </p:spTree>
    <p:extLst>
      <p:ext uri="{BB962C8B-B14F-4D97-AF65-F5344CB8AC3E}">
        <p14:creationId xmlns:p14="http://schemas.microsoft.com/office/powerpoint/2010/main" val="1248997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593B43E-0443-2BE9-F40D-5F63A48C3771}"/>
              </a:ext>
            </a:extLst>
          </p:cNvPr>
          <p:cNvSpPr>
            <a:spLocks noGrp="1"/>
          </p:cNvSpPr>
          <p:nvPr>
            <p:ph type="title"/>
          </p:nvPr>
        </p:nvSpPr>
        <p:spPr/>
        <p:txBody>
          <a:bodyPr/>
          <a:lstStyle/>
          <a:p>
            <a:r>
              <a:rPr lang="it-IT" dirty="0">
                <a:latin typeface="Aptos Narrow" panose="020B0004020202020204" pitchFamily="34" charset="0"/>
              </a:rPr>
              <a:t>CLOSING PRICE AS RETURN</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AC248185-D8A2-A211-BB7B-58854C7399CE}"/>
                  </a:ext>
                </a:extLst>
              </p:cNvPr>
              <p:cNvSpPr>
                <a:spLocks noGrp="1"/>
              </p:cNvSpPr>
              <p:nvPr>
                <p:ph idx="1"/>
              </p:nvPr>
            </p:nvSpPr>
            <p:spPr>
              <a:xfrm>
                <a:off x="612646" y="1715532"/>
                <a:ext cx="11258511" cy="4593828"/>
              </a:xfrm>
            </p:spPr>
            <p:txBody>
              <a:bodyPr>
                <a:normAutofit/>
              </a:bodyPr>
              <a:lstStyle/>
              <a:p>
                <a:pPr>
                  <a:lnSpc>
                    <a:spcPct val="150000"/>
                  </a:lnSpc>
                </a:pPr>
                <a:r>
                  <a:rPr lang="en-US" sz="2100" dirty="0">
                    <a:latin typeface="Aptos Narrow" panose="020B0004020202020204" pitchFamily="34" charset="0"/>
                  </a:rPr>
                  <a:t>Since the authors work with a discrete-time MPC, to deal with the continuous and oscillatory behavior of prices, they decide to examine the </a:t>
                </a:r>
                <a:r>
                  <a:rPr lang="en-US" sz="2100" b="1" dirty="0">
                    <a:latin typeface="Aptos Narrow" panose="020B0004020202020204" pitchFamily="34" charset="0"/>
                  </a:rPr>
                  <a:t>closing price </a:t>
                </a:r>
                <a:r>
                  <a:rPr lang="en-US" sz="2100" dirty="0">
                    <a:latin typeface="Aptos Narrow" panose="020B0004020202020204" pitchFamily="34" charset="0"/>
                  </a:rPr>
                  <a:t>of a given asset.</a:t>
                </a:r>
                <a:endParaRPr lang="it-IT" sz="2100" dirty="0">
                  <a:latin typeface="Aptos Narrow" panose="020B0004020202020204" pitchFamily="34" charset="0"/>
                </a:endParaRPr>
              </a:p>
              <a:p>
                <a:pPr>
                  <a:lnSpc>
                    <a:spcPct val="150000"/>
                  </a:lnSpc>
                </a:pPr>
                <a:r>
                  <a:rPr lang="en-US" sz="2100" dirty="0">
                    <a:latin typeface="Aptos Narrow" panose="020B0004020202020204" pitchFamily="34" charset="0"/>
                  </a:rPr>
                  <a:t>This is equivalent to </a:t>
                </a:r>
                <a:r>
                  <a:rPr lang="en-US" sz="2100" b="1" dirty="0">
                    <a:latin typeface="Aptos Narrow" panose="020B0004020202020204" pitchFamily="34" charset="0"/>
                  </a:rPr>
                  <a:t>sampling</a:t>
                </a:r>
                <a:r>
                  <a:rPr lang="en-US" sz="2100" dirty="0">
                    <a:latin typeface="Aptos Narrow" panose="020B0004020202020204" pitchFamily="34" charset="0"/>
                  </a:rPr>
                  <a:t> the system with a sampling time </a:t>
                </a:r>
                <a14:m>
                  <m:oMath xmlns:m="http://schemas.openxmlformats.org/officeDocument/2006/math">
                    <m:sSub>
                      <m:sSubPr>
                        <m:ctrlPr>
                          <a:rPr lang="it-IT" sz="2100" i="1">
                            <a:latin typeface="Cambria Math" panose="02040503050406030204" pitchFamily="18" charset="0"/>
                          </a:rPr>
                        </m:ctrlPr>
                      </m:sSubPr>
                      <m:e>
                        <m:r>
                          <a:rPr lang="it-IT" sz="2100" i="1">
                            <a:latin typeface="Cambria Math" panose="02040503050406030204" pitchFamily="18" charset="0"/>
                          </a:rPr>
                          <m:t>𝑇</m:t>
                        </m:r>
                      </m:e>
                      <m:sub>
                        <m:r>
                          <a:rPr lang="it-IT" sz="2100" i="1">
                            <a:latin typeface="Cambria Math" panose="02040503050406030204" pitchFamily="18" charset="0"/>
                          </a:rPr>
                          <m:t>𝑠</m:t>
                        </m:r>
                      </m:sub>
                    </m:sSub>
                  </m:oMath>
                </a14:m>
                <a:r>
                  <a:rPr lang="it-IT" sz="2100" dirty="0">
                    <a:latin typeface="Aptos Narrow" panose="020B0004020202020204" pitchFamily="34" charset="0"/>
                  </a:rPr>
                  <a:t> </a:t>
                </a:r>
                <a:r>
                  <a:rPr lang="en-US" sz="2100" dirty="0">
                    <a:latin typeface="Aptos Narrow" panose="020B0004020202020204" pitchFamily="34" charset="0"/>
                  </a:rPr>
                  <a:t> equal to one working day.</a:t>
                </a:r>
              </a:p>
              <a:p>
                <a:pPr>
                  <a:lnSpc>
                    <a:spcPct val="150000"/>
                  </a:lnSpc>
                </a:pPr>
                <a:r>
                  <a:rPr lang="en-US" sz="2100" dirty="0">
                    <a:latin typeface="Aptos Narrow" panose="020B0004020202020204" pitchFamily="34" charset="0"/>
                  </a:rPr>
                  <a:t>The authors do not enter the closing price in a "raw" way, but use it to calculate the </a:t>
                </a:r>
                <a:r>
                  <a:rPr lang="it-IT" sz="2100" b="1" dirty="0" err="1">
                    <a:latin typeface="Aptos Narrow" panose="020B0004020202020204" pitchFamily="34" charset="0"/>
                  </a:rPr>
                  <a:t>return</a:t>
                </a:r>
                <a:r>
                  <a:rPr lang="it-IT" sz="2100" dirty="0">
                    <a:latin typeface="Aptos Narrow" panose="020B0004020202020204" pitchFamily="34" charset="0"/>
                  </a:rPr>
                  <a:t> </a:t>
                </a:r>
                <a14:m>
                  <m:oMath xmlns:m="http://schemas.openxmlformats.org/officeDocument/2006/math">
                    <m:sSub>
                      <m:sSubPr>
                        <m:ctrlPr>
                          <a:rPr lang="it-IT" sz="2100" i="1">
                            <a:latin typeface="Cambria Math" panose="02040503050406030204" pitchFamily="18" charset="0"/>
                          </a:rPr>
                        </m:ctrlPr>
                      </m:sSubPr>
                      <m:e>
                        <m:r>
                          <a:rPr lang="it-IT" sz="2100" i="1">
                            <a:latin typeface="Cambria Math" panose="02040503050406030204" pitchFamily="18" charset="0"/>
                          </a:rPr>
                          <m:t>𝜂</m:t>
                        </m:r>
                      </m:e>
                      <m:sub>
                        <m:r>
                          <a:rPr lang="it-IT" sz="2100" i="1">
                            <a:latin typeface="Cambria Math" panose="02040503050406030204" pitchFamily="18" charset="0"/>
                          </a:rPr>
                          <m:t>𝑖</m:t>
                        </m:r>
                      </m:sub>
                    </m:sSub>
                    <m:r>
                      <a:rPr lang="it-IT" sz="2100" i="1">
                        <a:latin typeface="Cambria Math" panose="02040503050406030204" pitchFamily="18" charset="0"/>
                      </a:rPr>
                      <m:t>(</m:t>
                    </m:r>
                    <m:r>
                      <a:rPr lang="it-IT" sz="2100" i="1">
                        <a:latin typeface="Cambria Math" panose="02040503050406030204" pitchFamily="18" charset="0"/>
                      </a:rPr>
                      <m:t>𝑘</m:t>
                    </m:r>
                    <m:r>
                      <a:rPr lang="it-IT" sz="2100" i="1">
                        <a:latin typeface="Cambria Math" panose="02040503050406030204" pitchFamily="18" charset="0"/>
                      </a:rPr>
                      <m:t>+1)</m:t>
                    </m:r>
                  </m:oMath>
                </a14:m>
                <a:r>
                  <a:rPr lang="it-IT" sz="2100" dirty="0">
                    <a:latin typeface="Aptos Narrow" panose="020B0004020202020204" pitchFamily="34" charset="0"/>
                  </a:rPr>
                  <a:t> in the </a:t>
                </a:r>
                <a:r>
                  <a:rPr lang="it-IT" sz="2100" dirty="0" err="1">
                    <a:latin typeface="Aptos Narrow" panose="020B0004020202020204" pitchFamily="34" charset="0"/>
                  </a:rPr>
                  <a:t>interval</a:t>
                </a:r>
                <a:r>
                  <a:rPr lang="it-IT" sz="2100" dirty="0">
                    <a:latin typeface="Aptos Narrow" panose="020B0004020202020204" pitchFamily="34" charset="0"/>
                  </a:rPr>
                  <a:t> </a:t>
                </a:r>
                <a14:m>
                  <m:oMath xmlns:m="http://schemas.openxmlformats.org/officeDocument/2006/math">
                    <m:r>
                      <a:rPr lang="it-IT" sz="2100" i="1">
                        <a:latin typeface="Cambria Math" panose="02040503050406030204" pitchFamily="18" charset="0"/>
                      </a:rPr>
                      <m:t>[</m:t>
                    </m:r>
                    <m:r>
                      <a:rPr lang="it-IT" sz="2100" i="1">
                        <a:latin typeface="Cambria Math" panose="02040503050406030204" pitchFamily="18" charset="0"/>
                      </a:rPr>
                      <m:t>𝑘</m:t>
                    </m:r>
                    <m:r>
                      <a:rPr lang="it-IT" sz="2100" i="1">
                        <a:latin typeface="Cambria Math" panose="02040503050406030204" pitchFamily="18" charset="0"/>
                      </a:rPr>
                      <m:t>, </m:t>
                    </m:r>
                    <m:r>
                      <a:rPr lang="it-IT" sz="2100" i="1">
                        <a:latin typeface="Cambria Math" panose="02040503050406030204" pitchFamily="18" charset="0"/>
                      </a:rPr>
                      <m:t>𝑘</m:t>
                    </m:r>
                    <m:r>
                      <a:rPr lang="it-IT" sz="2100" i="1">
                        <a:latin typeface="Cambria Math" panose="02040503050406030204" pitchFamily="18" charset="0"/>
                      </a:rPr>
                      <m:t>+1]</m:t>
                    </m:r>
                  </m:oMath>
                </a14:m>
                <a:r>
                  <a:rPr lang="it-IT" sz="2100" dirty="0">
                    <a:latin typeface="Aptos Narrow" panose="020B0004020202020204" pitchFamily="34" charset="0"/>
                  </a:rPr>
                  <a:t>:</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it-IT" sz="2100" i="1">
                              <a:latin typeface="Cambria Math" panose="02040503050406030204" pitchFamily="18" charset="0"/>
                            </a:rPr>
                          </m:ctrlPr>
                        </m:sSubPr>
                        <m:e>
                          <m:r>
                            <a:rPr lang="it-IT" sz="2100" i="1">
                              <a:latin typeface="Cambria Math" panose="02040503050406030204" pitchFamily="18" charset="0"/>
                            </a:rPr>
                            <m:t>𝜂</m:t>
                          </m:r>
                        </m:e>
                        <m:sub>
                          <m:r>
                            <a:rPr lang="it-IT" sz="2100" i="1">
                              <a:latin typeface="Cambria Math" panose="02040503050406030204" pitchFamily="18" charset="0"/>
                            </a:rPr>
                            <m:t>𝑖</m:t>
                          </m:r>
                        </m:sub>
                      </m:sSub>
                      <m:d>
                        <m:dPr>
                          <m:ctrlPr>
                            <a:rPr lang="it-IT" sz="2100" i="1">
                              <a:latin typeface="Cambria Math" panose="02040503050406030204" pitchFamily="18" charset="0"/>
                            </a:rPr>
                          </m:ctrlPr>
                        </m:dPr>
                        <m:e>
                          <m:r>
                            <a:rPr lang="it-IT" sz="2100" i="1">
                              <a:latin typeface="Cambria Math" panose="02040503050406030204" pitchFamily="18" charset="0"/>
                            </a:rPr>
                            <m:t>𝑘</m:t>
                          </m:r>
                          <m:r>
                            <a:rPr lang="it-IT" sz="2100" i="1">
                              <a:latin typeface="Cambria Math" panose="02040503050406030204" pitchFamily="18" charset="0"/>
                            </a:rPr>
                            <m:t>+1</m:t>
                          </m:r>
                        </m:e>
                      </m:d>
                      <m:r>
                        <a:rPr lang="it-IT" sz="2100" i="1">
                          <a:latin typeface="Cambria Math" panose="02040503050406030204" pitchFamily="18" charset="0"/>
                        </a:rPr>
                        <m:t>=</m:t>
                      </m:r>
                      <m:r>
                        <m:rPr>
                          <m:sty m:val="p"/>
                        </m:rPr>
                        <a:rPr lang="it-IT" sz="2100">
                          <a:latin typeface="Cambria Math" panose="02040503050406030204" pitchFamily="18" charset="0"/>
                        </a:rPr>
                        <m:t>log</m:t>
                      </m:r>
                      <m:r>
                        <a:rPr lang="it-IT" sz="2100" i="1">
                          <a:latin typeface="Cambria Math" panose="02040503050406030204" pitchFamily="18" charset="0"/>
                        </a:rPr>
                        <m:t>⁡( </m:t>
                      </m:r>
                      <m:f>
                        <m:fPr>
                          <m:ctrlPr>
                            <a:rPr lang="it-IT" sz="2100" i="1">
                              <a:latin typeface="Cambria Math" panose="02040503050406030204" pitchFamily="18" charset="0"/>
                            </a:rPr>
                          </m:ctrlPr>
                        </m:fPr>
                        <m:num>
                          <m:sSub>
                            <m:sSubPr>
                              <m:ctrlPr>
                                <a:rPr lang="it-IT" sz="2100" i="1">
                                  <a:latin typeface="Cambria Math" panose="02040503050406030204" pitchFamily="18" charset="0"/>
                                </a:rPr>
                              </m:ctrlPr>
                            </m:sSubPr>
                            <m:e>
                              <m:r>
                                <a:rPr lang="it-IT" sz="2100" i="1">
                                  <a:latin typeface="Cambria Math" panose="02040503050406030204" pitchFamily="18" charset="0"/>
                                </a:rPr>
                                <m:t>𝑝</m:t>
                              </m:r>
                            </m:e>
                            <m:sub>
                              <m:r>
                                <a:rPr lang="it-IT" sz="2100" i="1">
                                  <a:latin typeface="Cambria Math" panose="02040503050406030204" pitchFamily="18" charset="0"/>
                                </a:rPr>
                                <m:t>𝑖</m:t>
                              </m:r>
                            </m:sub>
                          </m:sSub>
                          <m:d>
                            <m:dPr>
                              <m:ctrlPr>
                                <a:rPr lang="it-IT" sz="2100" i="1">
                                  <a:latin typeface="Cambria Math" panose="02040503050406030204" pitchFamily="18" charset="0"/>
                                </a:rPr>
                              </m:ctrlPr>
                            </m:dPr>
                            <m:e>
                              <m:r>
                                <a:rPr lang="it-IT" sz="2100" i="1">
                                  <a:latin typeface="Cambria Math" panose="02040503050406030204" pitchFamily="18" charset="0"/>
                                </a:rPr>
                                <m:t>𝑘</m:t>
                              </m:r>
                              <m:r>
                                <a:rPr lang="it-IT" sz="2100" i="1">
                                  <a:latin typeface="Cambria Math" panose="02040503050406030204" pitchFamily="18" charset="0"/>
                                </a:rPr>
                                <m:t>+1</m:t>
                              </m:r>
                            </m:e>
                          </m:d>
                        </m:num>
                        <m:den>
                          <m:sSub>
                            <m:sSubPr>
                              <m:ctrlPr>
                                <a:rPr lang="it-IT" sz="2100" i="1">
                                  <a:latin typeface="Cambria Math" panose="02040503050406030204" pitchFamily="18" charset="0"/>
                                </a:rPr>
                              </m:ctrlPr>
                            </m:sSubPr>
                            <m:e>
                              <m:r>
                                <a:rPr lang="it-IT" sz="2100" i="1">
                                  <a:latin typeface="Cambria Math" panose="02040503050406030204" pitchFamily="18" charset="0"/>
                                </a:rPr>
                                <m:t>𝑝</m:t>
                              </m:r>
                            </m:e>
                            <m:sub>
                              <m:r>
                                <a:rPr lang="it-IT" sz="2100" i="1">
                                  <a:latin typeface="Cambria Math" panose="02040503050406030204" pitchFamily="18" charset="0"/>
                                </a:rPr>
                                <m:t>𝑖</m:t>
                              </m:r>
                            </m:sub>
                          </m:sSub>
                          <m:d>
                            <m:dPr>
                              <m:ctrlPr>
                                <a:rPr lang="it-IT" sz="2100" i="1">
                                  <a:latin typeface="Cambria Math" panose="02040503050406030204" pitchFamily="18" charset="0"/>
                                </a:rPr>
                              </m:ctrlPr>
                            </m:dPr>
                            <m:e>
                              <m:r>
                                <a:rPr lang="it-IT" sz="2100" i="1">
                                  <a:latin typeface="Cambria Math" panose="02040503050406030204" pitchFamily="18" charset="0"/>
                                </a:rPr>
                                <m:t>𝑘</m:t>
                              </m:r>
                            </m:e>
                          </m:d>
                        </m:den>
                      </m:f>
                      <m:r>
                        <a:rPr lang="it-IT" sz="2100" i="1">
                          <a:latin typeface="Cambria Math" panose="02040503050406030204" pitchFamily="18" charset="0"/>
                        </a:rPr>
                        <m:t> )</m:t>
                      </m:r>
                    </m:oMath>
                  </m:oMathPara>
                </a14:m>
                <a:endParaRPr lang="it-IT" sz="2100" dirty="0">
                  <a:latin typeface="Aptos Narrow" panose="020B0004020202020204" pitchFamily="34" charset="0"/>
                </a:endParaRPr>
              </a:p>
              <a:p>
                <a:pPr marL="0" indent="0">
                  <a:lnSpc>
                    <a:spcPct val="150000"/>
                  </a:lnSpc>
                  <a:buNone/>
                </a:pPr>
                <a:r>
                  <a:rPr lang="en-US" sz="2100" dirty="0">
                    <a:latin typeface="Aptos Narrow" panose="020B0004020202020204" pitchFamily="34" charset="0"/>
                  </a:rPr>
                  <a:t>To better handle the small fluctuations that occur in returns, it is customary to use a </a:t>
                </a:r>
                <a:r>
                  <a:rPr lang="en-US" sz="2100" b="1" dirty="0">
                    <a:latin typeface="Aptos Narrow" panose="020B0004020202020204" pitchFamily="34" charset="0"/>
                  </a:rPr>
                  <a:t>logarithmic scale</a:t>
                </a:r>
                <a:r>
                  <a:rPr lang="en-US" sz="2100" dirty="0">
                    <a:latin typeface="Aptos Narrow" panose="020B0004020202020204" pitchFamily="34" charset="0"/>
                  </a:rPr>
                  <a:t>. </a:t>
                </a:r>
              </a:p>
              <a:p>
                <a:endParaRPr lang="it-IT" sz="2100" dirty="0">
                  <a:latin typeface="Aptos Narrow" panose="020B0004020202020204" pitchFamily="34" charset="0"/>
                </a:endParaRPr>
              </a:p>
              <a:p>
                <a:endParaRPr lang="en-US" sz="2100" dirty="0">
                  <a:latin typeface="Aptos Narrow" panose="020B0004020202020204" pitchFamily="34" charset="0"/>
                </a:endParaRPr>
              </a:p>
              <a:p>
                <a:endParaRPr lang="it-IT" sz="2100" dirty="0">
                  <a:latin typeface="Aptos Narrow" panose="020B0004020202020204" pitchFamily="34" charset="0"/>
                </a:endParaRPr>
              </a:p>
            </p:txBody>
          </p:sp>
        </mc:Choice>
        <mc:Fallback>
          <p:sp>
            <p:nvSpPr>
              <p:cNvPr id="3" name="Segnaposto contenuto 2">
                <a:extLst>
                  <a:ext uri="{FF2B5EF4-FFF2-40B4-BE49-F238E27FC236}">
                    <a16:creationId xmlns:a16="http://schemas.microsoft.com/office/drawing/2014/main" id="{AC248185-D8A2-A211-BB7B-58854C7399CE}"/>
                  </a:ext>
                </a:extLst>
              </p:cNvPr>
              <p:cNvSpPr>
                <a:spLocks noGrp="1" noRot="1" noChangeAspect="1" noMove="1" noResize="1" noEditPoints="1" noAdjustHandles="1" noChangeArrowheads="1" noChangeShapeType="1" noTextEdit="1"/>
              </p:cNvSpPr>
              <p:nvPr>
                <p:ph idx="1"/>
              </p:nvPr>
            </p:nvSpPr>
            <p:spPr>
              <a:xfrm>
                <a:off x="612646" y="1715532"/>
                <a:ext cx="11258511" cy="4593828"/>
              </a:xfrm>
              <a:blipFill>
                <a:blip r:embed="rId2"/>
                <a:stretch>
                  <a:fillRect l="-596"/>
                </a:stretch>
              </a:blipFill>
            </p:spPr>
            <p:txBody>
              <a:bodyPr/>
              <a:lstStyle/>
              <a:p>
                <a:r>
                  <a:rPr lang="it-IT">
                    <a:noFill/>
                  </a:rPr>
                  <a:t> </a:t>
                </a:r>
              </a:p>
            </p:txBody>
          </p:sp>
        </mc:Fallback>
      </mc:AlternateContent>
    </p:spTree>
    <p:extLst>
      <p:ext uri="{BB962C8B-B14F-4D97-AF65-F5344CB8AC3E}">
        <p14:creationId xmlns:p14="http://schemas.microsoft.com/office/powerpoint/2010/main" val="4279010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5CBF2FF-D02B-A369-F980-DDC75F09C7D5}"/>
              </a:ext>
            </a:extLst>
          </p:cNvPr>
          <p:cNvSpPr>
            <a:spLocks noGrp="1"/>
          </p:cNvSpPr>
          <p:nvPr>
            <p:ph type="title"/>
          </p:nvPr>
        </p:nvSpPr>
        <p:spPr/>
        <p:txBody>
          <a:bodyPr/>
          <a:lstStyle/>
          <a:p>
            <a:r>
              <a:rPr lang="it-IT" dirty="0">
                <a:latin typeface="Aptos Narrow" panose="020B0004020202020204" pitchFamily="34" charset="0"/>
              </a:rPr>
              <a:t>PORTFOLIO WEALTH</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C044BFED-2FDD-C744-9A9E-1C9D70E2C3CC}"/>
                  </a:ext>
                </a:extLst>
              </p:cNvPr>
              <p:cNvSpPr>
                <a:spLocks noGrp="1"/>
              </p:cNvSpPr>
              <p:nvPr>
                <p:ph idx="1"/>
              </p:nvPr>
            </p:nvSpPr>
            <p:spPr/>
            <p:txBody>
              <a:bodyPr>
                <a:normAutofit/>
              </a:bodyPr>
              <a:lstStyle/>
              <a:p>
                <a:endParaRPr lang="it-IT" dirty="0"/>
              </a:p>
              <a:p>
                <a:endParaRPr lang="it-IT" dirty="0"/>
              </a:p>
              <a:p>
                <a:endParaRPr lang="it-IT" dirty="0"/>
              </a:p>
              <a:p>
                <a:pPr>
                  <a:lnSpc>
                    <a:spcPct val="150000"/>
                  </a:lnSpc>
                </a:pPr>
                <a:r>
                  <a:rPr lang="it-IT" sz="2100" dirty="0">
                    <a:latin typeface="Aptos Narrow" panose="020B0004020202020204" pitchFamily="34" charset="0"/>
                  </a:rPr>
                  <a:t>The risk-free rate  </a:t>
                </a:r>
                <a14:m>
                  <m:oMath xmlns:m="http://schemas.openxmlformats.org/officeDocument/2006/math">
                    <m:sSub>
                      <m:sSubPr>
                        <m:ctrlPr>
                          <a:rPr lang="it-IT" sz="2100" b="0" i="1" smtClean="0">
                            <a:latin typeface="Cambria Math" panose="02040503050406030204" pitchFamily="18" charset="0"/>
                          </a:rPr>
                        </m:ctrlPr>
                      </m:sSubPr>
                      <m:e>
                        <m:r>
                          <a:rPr lang="it-IT" sz="2100" b="0" i="1" smtClean="0">
                            <a:latin typeface="Cambria Math" panose="02040503050406030204" pitchFamily="18" charset="0"/>
                          </a:rPr>
                          <m:t>𝑟</m:t>
                        </m:r>
                      </m:e>
                      <m:sub>
                        <m:r>
                          <a:rPr lang="it-IT" sz="2100" b="0" i="1" smtClean="0">
                            <a:latin typeface="Cambria Math" panose="02040503050406030204" pitchFamily="18" charset="0"/>
                          </a:rPr>
                          <m:t>1</m:t>
                        </m:r>
                      </m:sub>
                    </m:sSub>
                  </m:oMath>
                </a14:m>
                <a:r>
                  <a:rPr lang="it-IT" sz="2100" dirty="0">
                    <a:latin typeface="Aptos Narrow" panose="020B0004020202020204" pitchFamily="34" charset="0"/>
                  </a:rPr>
                  <a:t>, </a:t>
                </a:r>
                <a:r>
                  <a:rPr lang="en-US" sz="2100" dirty="0">
                    <a:latin typeface="Aptos Narrow" panose="020B0004020202020204" pitchFamily="34" charset="0"/>
                  </a:rPr>
                  <a:t>it is a </a:t>
                </a:r>
                <a:r>
                  <a:rPr lang="en-US" sz="2100" u="sng" dirty="0">
                    <a:latin typeface="Aptos Narrow" panose="020B0004020202020204" pitchFamily="34" charset="0"/>
                  </a:rPr>
                  <a:t>deterministic</a:t>
                </a:r>
                <a:r>
                  <a:rPr lang="en-US" sz="2100" dirty="0">
                    <a:latin typeface="Aptos Narrow" panose="020B0004020202020204" pitchFamily="34" charset="0"/>
                  </a:rPr>
                  <a:t> parameter, unlike </a:t>
                </a:r>
                <a:r>
                  <a:rPr lang="en-US" sz="2100" b="1" dirty="0">
                    <a:latin typeface="Aptos Narrow" panose="020B0004020202020204" pitchFamily="34" charset="0"/>
                  </a:rPr>
                  <a:t>stock returns </a:t>
                </a:r>
                <a14:m>
                  <m:oMath xmlns:m="http://schemas.openxmlformats.org/officeDocument/2006/math">
                    <m:sSub>
                      <m:sSubPr>
                        <m:ctrlPr>
                          <a:rPr lang="it-IT" sz="2100" i="1"/>
                        </m:ctrlPr>
                      </m:sSubPr>
                      <m:e>
                        <m:r>
                          <a:rPr lang="it-IT" sz="2100" i="1"/>
                          <m:t>𝜂</m:t>
                        </m:r>
                      </m:e>
                      <m:sub>
                        <m:r>
                          <a:rPr lang="it-IT" sz="2100" i="1"/>
                          <m:t>𝑖</m:t>
                        </m:r>
                      </m:sub>
                    </m:sSub>
                    <m:r>
                      <a:rPr lang="it-IT" sz="2100" i="1"/>
                      <m:t>(</m:t>
                    </m:r>
                    <m:r>
                      <a:rPr lang="it-IT" sz="2100" i="1"/>
                      <m:t>𝑘</m:t>
                    </m:r>
                    <m:r>
                      <a:rPr lang="it-IT" sz="2100" i="1"/>
                      <m:t>)</m:t>
                    </m:r>
                  </m:oMath>
                </a14:m>
                <a:r>
                  <a:rPr lang="it-IT" sz="2100" dirty="0">
                    <a:latin typeface="Aptos Narrow" panose="020B0004020202020204" pitchFamily="34" charset="0"/>
                  </a:rPr>
                  <a:t>, which are </a:t>
                </a:r>
                <a:r>
                  <a:rPr lang="it-IT" sz="2100" u="sng" dirty="0">
                    <a:latin typeface="Aptos Narrow" panose="020B0004020202020204" pitchFamily="34" charset="0"/>
                  </a:rPr>
                  <a:t>stochastic</a:t>
                </a:r>
              </a:p>
              <a:p>
                <a:pPr>
                  <a:lnSpc>
                    <a:spcPct val="150000"/>
                  </a:lnSpc>
                </a:pPr>
                <a14:m>
                  <m:oMath xmlns:m="http://schemas.openxmlformats.org/officeDocument/2006/math">
                    <m:d>
                      <m:dPr>
                        <m:ctrlPr>
                          <a:rPr lang="it-IT" sz="2100" i="1">
                            <a:latin typeface="Cambria Math" panose="02040503050406030204" pitchFamily="18" charset="0"/>
                          </a:rPr>
                        </m:ctrlPr>
                      </m:dPr>
                      <m:e>
                        <m:sSub>
                          <m:sSubPr>
                            <m:ctrlPr>
                              <a:rPr lang="it-IT" sz="2100" i="1"/>
                            </m:ctrlPr>
                          </m:sSubPr>
                          <m:e>
                            <m:acc>
                              <m:accPr>
                                <m:chr m:val="̅"/>
                                <m:ctrlPr>
                                  <a:rPr lang="it-IT" sz="2100" i="1"/>
                                </m:ctrlPr>
                              </m:accPr>
                              <m:e>
                                <m:r>
                                  <a:rPr lang="it-IT" sz="2100" i="1"/>
                                  <m:t>𝜂</m:t>
                                </m:r>
                              </m:e>
                            </m:acc>
                          </m:e>
                          <m:sub>
                            <m:r>
                              <a:rPr lang="it-IT" sz="2100" i="1"/>
                              <m:t>𝑖</m:t>
                            </m:r>
                          </m:sub>
                        </m:sSub>
                        <m:d>
                          <m:dPr>
                            <m:ctrlPr>
                              <a:rPr lang="it-IT" sz="2100" i="1"/>
                            </m:ctrlPr>
                          </m:dPr>
                          <m:e>
                            <m:r>
                              <a:rPr lang="it-IT" sz="2100" i="1"/>
                              <m:t>𝑘</m:t>
                            </m:r>
                            <m:r>
                              <a:rPr lang="it-IT" sz="2100" i="1"/>
                              <m:t>+1</m:t>
                            </m:r>
                          </m:e>
                          <m:e>
                            <m:r>
                              <a:rPr lang="it-IT" sz="2100" i="1"/>
                              <m:t>𝑘</m:t>
                            </m:r>
                          </m:e>
                        </m:d>
                        <m:r>
                          <a:rPr lang="it-IT" sz="2100" i="1"/>
                          <m:t>−</m:t>
                        </m:r>
                        <m:sSub>
                          <m:sSubPr>
                            <m:ctrlPr>
                              <a:rPr lang="it-IT" sz="2100" i="1"/>
                            </m:ctrlPr>
                          </m:sSubPr>
                          <m:e>
                            <m:r>
                              <a:rPr lang="it-IT" sz="2100" i="1"/>
                              <m:t>𝑟</m:t>
                            </m:r>
                          </m:e>
                          <m:sub>
                            <m:r>
                              <a:rPr lang="it-IT" sz="2100" i="1"/>
                              <m:t>1</m:t>
                            </m:r>
                          </m:sub>
                        </m:sSub>
                      </m:e>
                    </m:d>
                  </m:oMath>
                </a14:m>
                <a:r>
                  <a:rPr lang="it-IT" sz="2100" dirty="0">
                    <a:latin typeface="Aptos Narrow" panose="020B0004020202020204" pitchFamily="34" charset="0"/>
                  </a:rPr>
                  <a:t>: </a:t>
                </a:r>
                <a:r>
                  <a:rPr lang="en-US" sz="2100" dirty="0">
                    <a:latin typeface="Aptos Narrow" panose="020B0004020202020204" pitchFamily="34" charset="0"/>
                  </a:rPr>
                  <a:t>In finance, it is the so-called </a:t>
                </a:r>
                <a:r>
                  <a:rPr lang="en-US" sz="2100" b="1" dirty="0">
                    <a:latin typeface="Aptos Narrow" panose="020B0004020202020204" pitchFamily="34" charset="0"/>
                  </a:rPr>
                  <a:t>Risk Premium</a:t>
                </a:r>
                <a:r>
                  <a:rPr lang="en-US" sz="2100" dirty="0">
                    <a:latin typeface="Aptos Narrow" panose="020B0004020202020204" pitchFamily="34" charset="0"/>
                  </a:rPr>
                  <a:t>, that is, the excess return that an investor expects to receive compared to a risk-free investment</a:t>
                </a:r>
                <a:endParaRPr lang="it-IT" sz="2100" dirty="0">
                  <a:latin typeface="Aptos Narrow" panose="020B0004020202020204" pitchFamily="34" charset="0"/>
                </a:endParaRPr>
              </a:p>
              <a:p>
                <a:pPr>
                  <a:lnSpc>
                    <a:spcPct val="150000"/>
                  </a:lnSpc>
                </a:pPr>
                <a14:m>
                  <m:oMath xmlns:m="http://schemas.openxmlformats.org/officeDocument/2006/math">
                    <m:sSub>
                      <m:sSubPr>
                        <m:ctrlPr>
                          <a:rPr lang="it-IT" sz="2100" i="1"/>
                        </m:ctrlPr>
                      </m:sSubPr>
                      <m:e>
                        <m:r>
                          <a:rPr lang="it-IT" sz="2100" i="1"/>
                          <m:t>𝑓</m:t>
                        </m:r>
                      </m:e>
                      <m:sub>
                        <m:r>
                          <a:rPr lang="it-IT" sz="2100" i="1"/>
                          <m:t>𝑖</m:t>
                        </m:r>
                      </m:sub>
                    </m:sSub>
                    <m:r>
                      <a:rPr lang="it-IT" sz="2100" i="1"/>
                      <m:t>(</m:t>
                    </m:r>
                    <m:r>
                      <a:rPr lang="it-IT" sz="2100" i="1"/>
                      <m:t>𝑘</m:t>
                    </m:r>
                    <m:r>
                      <a:rPr lang="it-IT" sz="2100" i="1"/>
                      <m:t>)</m:t>
                    </m:r>
                  </m:oMath>
                </a14:m>
                <a:r>
                  <a:rPr lang="it-IT" sz="2100" dirty="0">
                    <a:latin typeface="Aptos Narrow" panose="020B0004020202020204" pitchFamily="34" charset="0"/>
                  </a:rPr>
                  <a:t> and </a:t>
                </a:r>
                <a14:m>
                  <m:oMath xmlns:m="http://schemas.openxmlformats.org/officeDocument/2006/math">
                    <m:sSub>
                      <m:sSubPr>
                        <m:ctrlPr>
                          <a:rPr lang="it-IT" sz="2100" i="1"/>
                        </m:ctrlPr>
                      </m:sSubPr>
                      <m:e>
                        <m:r>
                          <a:rPr lang="it-IT" sz="2100" i="1"/>
                          <m:t>𝑟</m:t>
                        </m:r>
                      </m:e>
                      <m:sub>
                        <m:r>
                          <a:rPr lang="it-IT" sz="2100" i="1"/>
                          <m:t>2</m:t>
                        </m:r>
                      </m:sub>
                    </m:sSub>
                  </m:oMath>
                </a14:m>
                <a:r>
                  <a:rPr lang="it-IT" sz="2100" dirty="0">
                    <a:latin typeface="Aptos Narrow" panose="020B0004020202020204" pitchFamily="34" charset="0"/>
                  </a:rPr>
                  <a:t>, </a:t>
                </a:r>
                <a:r>
                  <a:rPr lang="en-US" sz="2100" dirty="0">
                    <a:latin typeface="Aptos Narrow" panose="020B0004020202020204" pitchFamily="34" charset="0"/>
                  </a:rPr>
                  <a:t>represent the </a:t>
                </a:r>
                <a:r>
                  <a:rPr lang="en-US" sz="2100" b="1" dirty="0">
                    <a:latin typeface="Aptos Narrow" panose="020B0004020202020204" pitchFamily="34" charset="0"/>
                  </a:rPr>
                  <a:t>borrowing rate </a:t>
                </a:r>
                <a:r>
                  <a:rPr lang="en-US" sz="2100" dirty="0">
                    <a:latin typeface="Aptos Narrow" panose="020B0004020202020204" pitchFamily="34" charset="0"/>
                  </a:rPr>
                  <a:t>and </a:t>
                </a:r>
                <a:r>
                  <a:rPr lang="en-US" sz="2100" b="1" dirty="0">
                    <a:latin typeface="Aptos Narrow" panose="020B0004020202020204" pitchFamily="34" charset="0"/>
                  </a:rPr>
                  <a:t>transaction costs</a:t>
                </a:r>
                <a:r>
                  <a:rPr lang="en-US" sz="2100" dirty="0">
                    <a:latin typeface="Aptos Narrow" panose="020B0004020202020204" pitchFamily="34" charset="0"/>
                  </a:rPr>
                  <a:t>, respectively</a:t>
                </a:r>
                <a:endParaRPr lang="it-IT" sz="2100" dirty="0">
                  <a:latin typeface="Aptos Narrow" panose="020B0004020202020204" pitchFamily="34" charset="0"/>
                </a:endParaRPr>
              </a:p>
            </p:txBody>
          </p:sp>
        </mc:Choice>
        <mc:Fallback>
          <p:sp>
            <p:nvSpPr>
              <p:cNvPr id="3" name="Segnaposto contenuto 2">
                <a:extLst>
                  <a:ext uri="{FF2B5EF4-FFF2-40B4-BE49-F238E27FC236}">
                    <a16:creationId xmlns:a16="http://schemas.microsoft.com/office/drawing/2014/main" id="{C044BFED-2FDD-C744-9A9E-1C9D70E2C3CC}"/>
                  </a:ext>
                </a:extLst>
              </p:cNvPr>
              <p:cNvSpPr>
                <a:spLocks noGrp="1" noRot="1" noChangeAspect="1" noMove="1" noResize="1" noEditPoints="1" noAdjustHandles="1" noChangeArrowheads="1" noChangeShapeType="1" noTextEdit="1"/>
              </p:cNvSpPr>
              <p:nvPr>
                <p:ph idx="1"/>
              </p:nvPr>
            </p:nvSpPr>
            <p:spPr>
              <a:blipFill>
                <a:blip r:embed="rId2"/>
                <a:stretch>
                  <a:fillRect l="-515" r="-515"/>
                </a:stretch>
              </a:blipFill>
            </p:spPr>
            <p:txBody>
              <a:bodyPr/>
              <a:lstStyle/>
              <a:p>
                <a:r>
                  <a:rPr lang="it-IT">
                    <a:noFill/>
                  </a:rPr>
                  <a:t> </a:t>
                </a:r>
              </a:p>
            </p:txBody>
          </p:sp>
        </mc:Fallback>
      </mc:AlternateContent>
      <p:pic>
        <p:nvPicPr>
          <p:cNvPr id="5" name="Immagine 4">
            <a:extLst>
              <a:ext uri="{FF2B5EF4-FFF2-40B4-BE49-F238E27FC236}">
                <a16:creationId xmlns:a16="http://schemas.microsoft.com/office/drawing/2014/main" id="{7BF84977-4539-81B5-9A52-19462FDEBA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5774" y="1809135"/>
            <a:ext cx="10340452" cy="1003495"/>
          </a:xfrm>
          <a:prstGeom prst="rect">
            <a:avLst/>
          </a:prstGeom>
          <a:noFill/>
          <a:ln>
            <a:noFill/>
          </a:ln>
        </p:spPr>
      </p:pic>
    </p:spTree>
    <p:extLst>
      <p:ext uri="{BB962C8B-B14F-4D97-AF65-F5344CB8AC3E}">
        <p14:creationId xmlns:p14="http://schemas.microsoft.com/office/powerpoint/2010/main" val="2096806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C1CC09A-51DA-2C3C-0BCB-9B1BF719B8DE}"/>
              </a:ext>
            </a:extLst>
          </p:cNvPr>
          <p:cNvSpPr>
            <a:spLocks noGrp="1"/>
          </p:cNvSpPr>
          <p:nvPr>
            <p:ph type="title"/>
          </p:nvPr>
        </p:nvSpPr>
        <p:spPr/>
        <p:txBody>
          <a:bodyPr>
            <a:normAutofit/>
          </a:bodyPr>
          <a:lstStyle/>
          <a:p>
            <a:r>
              <a:rPr lang="it-IT" dirty="0">
                <a:latin typeface="Aptos Narrow" panose="020B0004020202020204" pitchFamily="34" charset="0"/>
              </a:rPr>
              <a:t>PREDICTION MODEL</a:t>
            </a:r>
            <a:br>
              <a:rPr lang="it-IT" dirty="0">
                <a:latin typeface="Aptos Narrow" panose="020B0004020202020204" pitchFamily="34" charset="0"/>
              </a:rPr>
            </a:br>
            <a:endParaRPr lang="it-IT" dirty="0">
              <a:latin typeface="Aptos Narrow" panose="020B0004020202020204" pitchFamily="34" charset="0"/>
            </a:endParaRP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DCE598D2-6F3F-36A9-2C41-5392338ECBBC}"/>
                  </a:ext>
                </a:extLst>
              </p:cNvPr>
              <p:cNvSpPr>
                <a:spLocks noGrp="1"/>
              </p:cNvSpPr>
              <p:nvPr>
                <p:ph idx="1"/>
              </p:nvPr>
            </p:nvSpPr>
            <p:spPr/>
            <p:txBody>
              <a:bodyPr>
                <a:normAutofit/>
              </a:bodyPr>
              <a:lstStyle/>
              <a:p>
                <a:r>
                  <a:rPr lang="en-US" sz="2100" dirty="0">
                    <a:latin typeface="Aptos Narrow" panose="020B0004020202020204" pitchFamily="34" charset="0"/>
                  </a:rPr>
                  <a:t>The prediction of the return on assets at risk is obtained through a p-</a:t>
                </a:r>
                <a:r>
                  <a:rPr lang="en-US" sz="2100" dirty="0" err="1">
                    <a:latin typeface="Aptos Narrow" panose="020B0004020202020204" pitchFamily="34" charset="0"/>
                  </a:rPr>
                  <a:t>th</a:t>
                </a:r>
                <a:r>
                  <a:rPr lang="en-US" sz="2100" dirty="0">
                    <a:latin typeface="Aptos Narrow" panose="020B0004020202020204" pitchFamily="34" charset="0"/>
                  </a:rPr>
                  <a:t> order </a:t>
                </a:r>
                <a:r>
                  <a:rPr lang="en-US" sz="2100" b="1" dirty="0">
                    <a:latin typeface="Aptos Narrow" panose="020B0004020202020204" pitchFamily="34" charset="0"/>
                  </a:rPr>
                  <a:t>Vector Auto-Regressive (VAR) </a:t>
                </a:r>
                <a:r>
                  <a:rPr lang="en-US" sz="2100" dirty="0">
                    <a:latin typeface="Aptos Narrow" panose="020B0004020202020204" pitchFamily="34" charset="0"/>
                  </a:rPr>
                  <a:t>model given by:</a:t>
                </a:r>
              </a:p>
              <a:p>
                <a:endParaRPr lang="it-IT" sz="2100" dirty="0">
                  <a:latin typeface="Aptos Narrow" panose="020B0004020202020204" pitchFamily="34" charset="0"/>
                </a:endParaRPr>
              </a:p>
              <a:p>
                <a:endParaRPr lang="it-IT" sz="2100" dirty="0">
                  <a:latin typeface="Aptos Narrow" panose="020B0004020202020204" pitchFamily="34" charset="0"/>
                </a:endParaRPr>
              </a:p>
              <a:p>
                <a:endParaRPr lang="it-IT" sz="2100" dirty="0">
                  <a:latin typeface="Aptos Narrow" panose="020B0004020202020204" pitchFamily="34" charset="0"/>
                </a:endParaRPr>
              </a:p>
              <a:p>
                <a:pPr>
                  <a:lnSpc>
                    <a:spcPct val="150000"/>
                  </a:lnSpc>
                </a:pPr>
                <a:r>
                  <a:rPr lang="en-US" sz="2100" dirty="0">
                    <a:latin typeface="Aptos Narrow" panose="020B0004020202020204" pitchFamily="34" charset="0"/>
                  </a:rPr>
                  <a:t>VAR modification: authors calculate </a:t>
                </a:r>
                <a:r>
                  <a:rPr lang="en-US" sz="2100" b="1" dirty="0">
                    <a:latin typeface="Aptos Narrow" panose="020B0004020202020204" pitchFamily="34" charset="0"/>
                  </a:rPr>
                  <a:t>sample mean </a:t>
                </a:r>
                <a:r>
                  <a:rPr lang="en-US" sz="2100" dirty="0">
                    <a:latin typeface="Aptos Narrow" panose="020B0004020202020204" pitchFamily="34" charset="0"/>
                  </a:rPr>
                  <a:t>of returns </a:t>
                </a:r>
                <a14:m>
                  <m:oMath xmlns:m="http://schemas.openxmlformats.org/officeDocument/2006/math">
                    <m:acc>
                      <m:accPr>
                        <m:chr m:val="̂"/>
                        <m:ctrlPr>
                          <a:rPr lang="it-IT" sz="2100" i="1"/>
                        </m:ctrlPr>
                      </m:accPr>
                      <m:e>
                        <m:r>
                          <a:rPr lang="it-IT" sz="2100" i="1"/>
                          <m:t>𝜇</m:t>
                        </m:r>
                      </m:e>
                    </m:acc>
                    <m:r>
                      <a:rPr lang="it-IT" sz="2100" i="1"/>
                      <m:t>(</m:t>
                    </m:r>
                    <m:r>
                      <a:rPr lang="it-IT" sz="2100" i="1"/>
                      <m:t>𝑘</m:t>
                    </m:r>
                    <m:r>
                      <a:rPr lang="it-IT" sz="2100" i="1"/>
                      <m:t>)</m:t>
                    </m:r>
                  </m:oMath>
                </a14:m>
                <a:r>
                  <a:rPr lang="en-US" sz="2100" dirty="0">
                    <a:latin typeface="Aptos Narrow" panose="020B0004020202020204" pitchFamily="34" charset="0"/>
                  </a:rPr>
                  <a:t>  using the floating window on the last l days passed and incorporate these estimates into the predictor. </a:t>
                </a:r>
              </a:p>
              <a:p>
                <a:pPr>
                  <a:lnSpc>
                    <a:spcPct val="150000"/>
                  </a:lnSpc>
                </a:pPr>
                <a:r>
                  <a:rPr lang="en-US" sz="2100" dirty="0">
                    <a:latin typeface="Aptos Narrow" panose="020B0004020202020204" pitchFamily="34" charset="0"/>
                  </a:rPr>
                  <a:t>The </a:t>
                </a:r>
                <a:r>
                  <a:rPr lang="en-US" sz="2100" u="sng" dirty="0">
                    <a:latin typeface="Aptos Narrow" panose="020B0004020202020204" pitchFamily="34" charset="0"/>
                  </a:rPr>
                  <a:t>aim</a:t>
                </a:r>
                <a:r>
                  <a:rPr lang="en-US" sz="2100" dirty="0">
                    <a:latin typeface="Aptos Narrow" panose="020B0004020202020204" pitchFamily="34" charset="0"/>
                  </a:rPr>
                  <a:t> is to make the model more responsive to </a:t>
                </a:r>
                <a:r>
                  <a:rPr lang="en-US" sz="2100" b="1" dirty="0">
                    <a:latin typeface="Aptos Narrow" panose="020B0004020202020204" pitchFamily="34" charset="0"/>
                  </a:rPr>
                  <a:t>rapid</a:t>
                </a:r>
                <a:r>
                  <a:rPr lang="en-US" sz="2100" dirty="0">
                    <a:latin typeface="Aptos Narrow" panose="020B0004020202020204" pitchFamily="34" charset="0"/>
                  </a:rPr>
                  <a:t> market changes.</a:t>
                </a:r>
              </a:p>
            </p:txBody>
          </p:sp>
        </mc:Choice>
        <mc:Fallback>
          <p:sp>
            <p:nvSpPr>
              <p:cNvPr id="3" name="Segnaposto contenuto 2">
                <a:extLst>
                  <a:ext uri="{FF2B5EF4-FFF2-40B4-BE49-F238E27FC236}">
                    <a16:creationId xmlns:a16="http://schemas.microsoft.com/office/drawing/2014/main" id="{DCE598D2-6F3F-36A9-2C41-5392338ECBBC}"/>
                  </a:ext>
                </a:extLst>
              </p:cNvPr>
              <p:cNvSpPr>
                <a:spLocks noGrp="1" noRot="1" noChangeAspect="1" noMove="1" noResize="1" noEditPoints="1" noAdjustHandles="1" noChangeArrowheads="1" noChangeShapeType="1" noTextEdit="1"/>
              </p:cNvSpPr>
              <p:nvPr>
                <p:ph idx="1"/>
              </p:nvPr>
            </p:nvSpPr>
            <p:spPr>
              <a:blipFill>
                <a:blip r:embed="rId2"/>
                <a:stretch>
                  <a:fillRect l="-515"/>
                </a:stretch>
              </a:blipFill>
            </p:spPr>
            <p:txBody>
              <a:bodyPr/>
              <a:lstStyle/>
              <a:p>
                <a:r>
                  <a:rPr lang="it-IT">
                    <a:noFill/>
                  </a:rPr>
                  <a:t> </a:t>
                </a:r>
              </a:p>
            </p:txBody>
          </p:sp>
        </mc:Fallback>
      </mc:AlternateContent>
      <p:pic>
        <p:nvPicPr>
          <p:cNvPr id="4" name="Immagine 3">
            <a:extLst>
              <a:ext uri="{FF2B5EF4-FFF2-40B4-BE49-F238E27FC236}">
                <a16:creationId xmlns:a16="http://schemas.microsoft.com/office/drawing/2014/main" id="{D838A866-8EB8-E8A5-A298-CA0C7120A2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71125" y="3055353"/>
            <a:ext cx="6849750" cy="373647"/>
          </a:xfrm>
          <a:prstGeom prst="rect">
            <a:avLst/>
          </a:prstGeom>
          <a:noFill/>
          <a:ln>
            <a:noFill/>
          </a:ln>
        </p:spPr>
      </p:pic>
    </p:spTree>
    <p:extLst>
      <p:ext uri="{BB962C8B-B14F-4D97-AF65-F5344CB8AC3E}">
        <p14:creationId xmlns:p14="http://schemas.microsoft.com/office/powerpoint/2010/main" val="4181430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8EDF58-7D3F-F4B0-6C3B-1C49E969ECDF}"/>
              </a:ext>
            </a:extLst>
          </p:cNvPr>
          <p:cNvSpPr>
            <a:spLocks noGrp="1"/>
          </p:cNvSpPr>
          <p:nvPr>
            <p:ph type="title"/>
          </p:nvPr>
        </p:nvSpPr>
        <p:spPr/>
        <p:txBody>
          <a:bodyPr/>
          <a:lstStyle/>
          <a:p>
            <a:r>
              <a:rPr lang="it-IT" dirty="0">
                <a:latin typeface="Aptos Narrow" panose="020B0004020202020204" pitchFamily="34" charset="0"/>
              </a:rPr>
              <a:t>TRACKING MPC: QUADRATIC STANDARD</a:t>
            </a:r>
            <a:br>
              <a:rPr lang="it-IT" dirty="0"/>
            </a:br>
            <a:endParaRPr lang="it-IT" dirty="0"/>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F3CDD59B-0ADA-2865-DED4-B686ABF16017}"/>
                  </a:ext>
                </a:extLst>
              </p:cNvPr>
              <p:cNvSpPr>
                <a:spLocks noGrp="1"/>
              </p:cNvSpPr>
              <p:nvPr>
                <p:ph idx="1"/>
              </p:nvPr>
            </p:nvSpPr>
            <p:spPr/>
            <p:txBody>
              <a:bodyPr/>
              <a:lstStyle/>
              <a:p>
                <a:r>
                  <a:rPr lang="en-US" sz="2100" dirty="0">
                    <a:latin typeface="Aptos Narrow" panose="020B0004020202020204" pitchFamily="34" charset="0"/>
                  </a:rPr>
                  <a:t>The goal of the control is to </a:t>
                </a:r>
                <a:r>
                  <a:rPr lang="en-US" sz="2100" b="1" dirty="0">
                    <a:latin typeface="Aptos Narrow" panose="020B0004020202020204" pitchFamily="34" charset="0"/>
                  </a:rPr>
                  <a:t>tracking an exponential reference curve </a:t>
                </a:r>
                <a:r>
                  <a:rPr lang="en-US" sz="2100" dirty="0">
                    <a:latin typeface="Aptos Narrow" panose="020B0004020202020204" pitchFamily="34" charset="0"/>
                  </a:rPr>
                  <a:t>obtained using compound interest with a fixed rate given by </a:t>
                </a:r>
                <a14:m>
                  <m:oMath xmlns:m="http://schemas.openxmlformats.org/officeDocument/2006/math">
                    <m:sSub>
                      <m:sSubPr>
                        <m:ctrlPr>
                          <a:rPr lang="it-IT" sz="2100" i="1"/>
                        </m:ctrlPr>
                      </m:sSubPr>
                      <m:e>
                        <m:r>
                          <a:rPr lang="it-IT" sz="2100" i="1"/>
                          <m:t>𝜇</m:t>
                        </m:r>
                      </m:e>
                      <m:sub>
                        <m:r>
                          <a:rPr lang="it-IT" sz="2100" i="1"/>
                          <m:t>0</m:t>
                        </m:r>
                      </m:sub>
                    </m:sSub>
                  </m:oMath>
                </a14:m>
                <a:r>
                  <a:rPr lang="en-US" sz="2100" dirty="0">
                    <a:latin typeface="Aptos Narrow" panose="020B0004020202020204" pitchFamily="34" charset="0"/>
                  </a:rPr>
                  <a:t> . The desired dynamic evolution, will be </a:t>
                </a:r>
                <a:r>
                  <a:rPr lang="it-IT" sz="2100" dirty="0">
                    <a:latin typeface="Aptos Narrow" panose="020B0004020202020204" pitchFamily="34" charset="0"/>
                  </a:rPr>
                  <a:t>: </a:t>
                </a:r>
              </a:p>
              <a:p>
                <a:pPr marL="0" indent="0">
                  <a:buNone/>
                </a:pPr>
                <a:endParaRPr lang="it-IT" sz="2100" dirty="0">
                  <a:latin typeface="Aptos Narrow" panose="020B0004020202020204" pitchFamily="34" charset="0"/>
                </a:endParaRPr>
              </a:p>
              <a:p>
                <a:endParaRPr lang="it-IT" sz="2100" dirty="0">
                  <a:latin typeface="Aptos Narrow" panose="020B0004020202020204" pitchFamily="34" charset="0"/>
                </a:endParaRPr>
              </a:p>
              <a:p>
                <a:endParaRPr lang="it-IT" sz="2100" dirty="0">
                  <a:latin typeface="Aptos Narrow" panose="020B0004020202020204" pitchFamily="34" charset="0"/>
                </a:endParaRPr>
              </a:p>
              <a:p>
                <a:r>
                  <a:rPr lang="it-IT" sz="2100" dirty="0" err="1">
                    <a:latin typeface="Aptos Narrow" panose="020B0004020202020204" pitchFamily="34" charset="0"/>
                  </a:rPr>
                  <a:t>Where</a:t>
                </a:r>
                <a:r>
                  <a:rPr lang="it-IT" sz="2100" dirty="0"/>
                  <a:t> </a:t>
                </a:r>
                <a14:m>
                  <m:oMath xmlns:m="http://schemas.openxmlformats.org/officeDocument/2006/math">
                    <m:sSup>
                      <m:sSupPr>
                        <m:ctrlPr>
                          <a:rPr lang="it-IT" sz="2100" i="1"/>
                        </m:ctrlPr>
                      </m:sSupPr>
                      <m:e>
                        <m:r>
                          <a:rPr lang="it-IT" sz="2100" i="1"/>
                          <m:t>𝑤</m:t>
                        </m:r>
                      </m:e>
                      <m:sup>
                        <m:r>
                          <a:rPr lang="it-IT" sz="2100" i="1"/>
                          <m:t>0</m:t>
                        </m:r>
                      </m:sup>
                    </m:sSup>
                    <m:d>
                      <m:dPr>
                        <m:ctrlPr>
                          <a:rPr lang="it-IT" sz="2100" i="1"/>
                        </m:ctrlPr>
                      </m:dPr>
                      <m:e>
                        <m:r>
                          <a:rPr lang="it-IT" sz="2100" i="1"/>
                          <m:t>0</m:t>
                        </m:r>
                      </m:e>
                    </m:d>
                    <m:r>
                      <a:rPr lang="it-IT" sz="2100" i="1"/>
                      <m:t>=</m:t>
                    </m:r>
                    <m:r>
                      <a:rPr lang="it-IT" sz="2100" i="1"/>
                      <m:t>𝑤</m:t>
                    </m:r>
                    <m:r>
                      <a:rPr lang="it-IT" sz="2100" i="1"/>
                      <m:t>(0)</m:t>
                    </m:r>
                  </m:oMath>
                </a14:m>
                <a:r>
                  <a:rPr lang="it-IT" sz="2100" dirty="0">
                    <a:latin typeface="Aptos Narrow" panose="020B0004020202020204" pitchFamily="34" charset="0"/>
                  </a:rPr>
                  <a:t> is defined by investors.</a:t>
                </a:r>
              </a:p>
              <a:p>
                <a:endParaRPr lang="it-IT" sz="2100" dirty="0">
                  <a:latin typeface="Aptos Narrow" panose="020B0004020202020204" pitchFamily="34" charset="0"/>
                </a:endParaRPr>
              </a:p>
              <a:p>
                <a:r>
                  <a:rPr lang="en-US" sz="2100" b="1" dirty="0">
                    <a:latin typeface="Aptos Narrow" panose="020B0004020202020204" pitchFamily="34" charset="0"/>
                  </a:rPr>
                  <a:t>Compound Interest (exponential growth): </a:t>
                </a:r>
                <a:r>
                  <a:rPr lang="en-US" sz="2100" dirty="0">
                    <a:latin typeface="Aptos Narrow" panose="020B0004020202020204" pitchFamily="34" charset="0"/>
                  </a:rPr>
                  <a:t>Interest is calculated on the initial capital, plus all interest accumulated in previous periods; it is called </a:t>
                </a:r>
                <a:r>
                  <a:rPr lang="en-US" sz="2100" i="1" dirty="0">
                    <a:latin typeface="Aptos Narrow" panose="020B0004020202020204" pitchFamily="34" charset="0"/>
                  </a:rPr>
                  <a:t>"interest on interest"</a:t>
                </a:r>
                <a:endParaRPr lang="it-IT" sz="2100" i="1" dirty="0">
                  <a:latin typeface="Aptos Narrow" panose="020B0004020202020204" pitchFamily="34" charset="0"/>
                </a:endParaRPr>
              </a:p>
              <a:p>
                <a:endParaRPr lang="it-IT" dirty="0"/>
              </a:p>
              <a:p>
                <a:endParaRPr lang="it-IT" dirty="0"/>
              </a:p>
            </p:txBody>
          </p:sp>
        </mc:Choice>
        <mc:Fallback>
          <p:sp>
            <p:nvSpPr>
              <p:cNvPr id="3" name="Segnaposto contenuto 2">
                <a:extLst>
                  <a:ext uri="{FF2B5EF4-FFF2-40B4-BE49-F238E27FC236}">
                    <a16:creationId xmlns:a16="http://schemas.microsoft.com/office/drawing/2014/main" id="{F3CDD59B-0ADA-2865-DED4-B686ABF16017}"/>
                  </a:ext>
                </a:extLst>
              </p:cNvPr>
              <p:cNvSpPr>
                <a:spLocks noGrp="1" noRot="1" noChangeAspect="1" noMove="1" noResize="1" noEditPoints="1" noAdjustHandles="1" noChangeArrowheads="1" noChangeShapeType="1" noTextEdit="1"/>
              </p:cNvSpPr>
              <p:nvPr>
                <p:ph idx="1"/>
              </p:nvPr>
            </p:nvSpPr>
            <p:spPr>
              <a:blipFill>
                <a:blip r:embed="rId2"/>
                <a:stretch>
                  <a:fillRect l="-515" b="-17241"/>
                </a:stretch>
              </a:blipFill>
            </p:spPr>
            <p:txBody>
              <a:bodyPr/>
              <a:lstStyle/>
              <a:p>
                <a:r>
                  <a:rPr lang="it-IT">
                    <a:noFill/>
                  </a:rPr>
                  <a:t> </a:t>
                </a:r>
              </a:p>
            </p:txBody>
          </p:sp>
        </mc:Fallback>
      </mc:AlternateContent>
      <p:pic>
        <p:nvPicPr>
          <p:cNvPr id="4" name="Immagine 3">
            <a:extLst>
              <a:ext uri="{FF2B5EF4-FFF2-40B4-BE49-F238E27FC236}">
                <a16:creationId xmlns:a16="http://schemas.microsoft.com/office/drawing/2014/main" id="{28E22C95-21F8-1B7B-A2FE-E5FE3FBFF28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71307" y="3203493"/>
            <a:ext cx="3736258" cy="451013"/>
          </a:xfrm>
          <a:prstGeom prst="rect">
            <a:avLst/>
          </a:prstGeom>
          <a:noFill/>
          <a:ln>
            <a:noFill/>
          </a:ln>
        </p:spPr>
      </p:pic>
    </p:spTree>
    <p:extLst>
      <p:ext uri="{BB962C8B-B14F-4D97-AF65-F5344CB8AC3E}">
        <p14:creationId xmlns:p14="http://schemas.microsoft.com/office/powerpoint/2010/main" val="2405289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52B6790-5F76-932D-2950-810F90710DC7}"/>
              </a:ext>
            </a:extLst>
          </p:cNvPr>
          <p:cNvSpPr>
            <a:spLocks noGrp="1"/>
          </p:cNvSpPr>
          <p:nvPr>
            <p:ph type="title"/>
          </p:nvPr>
        </p:nvSpPr>
        <p:spPr/>
        <p:txBody>
          <a:bodyPr/>
          <a:lstStyle/>
          <a:p>
            <a:r>
              <a:rPr lang="it-IT" dirty="0">
                <a:latin typeface="Aptos Narrow" panose="020B0004020202020204" pitchFamily="34" charset="0"/>
              </a:rPr>
              <a:t>COST FUNCTION</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3D9E0BD3-7BD5-68A5-168F-BAC6F1074320}"/>
                  </a:ext>
                </a:extLst>
              </p:cNvPr>
              <p:cNvSpPr>
                <a:spLocks noGrp="1"/>
              </p:cNvSpPr>
              <p:nvPr>
                <p:ph idx="1"/>
              </p:nvPr>
            </p:nvSpPr>
            <p:spPr/>
            <p:txBody>
              <a:bodyPr/>
              <a:lstStyle/>
              <a:p>
                <a:pPr marL="0" indent="0">
                  <a:buNone/>
                </a:pPr>
                <a:endParaRPr lang="it-IT" dirty="0"/>
              </a:p>
              <a:p>
                <a:pPr marL="0" indent="0">
                  <a:buNone/>
                </a:pPr>
                <a:endParaRPr lang="it-IT" dirty="0"/>
              </a:p>
              <a:p>
                <a:pPr marL="0" indent="0">
                  <a:buNone/>
                </a:pPr>
                <a:endParaRPr lang="it-IT" dirty="0"/>
              </a:p>
              <a:p>
                <a:pPr marL="0" indent="0">
                  <a:buNone/>
                </a:pPr>
                <a:endParaRPr lang="it-IT" dirty="0"/>
              </a:p>
              <a:p>
                <a:pPr marL="0" indent="0">
                  <a:buNone/>
                </a:pPr>
                <a:r>
                  <a:rPr lang="en-US" dirty="0">
                    <a:latin typeface="Aptos Narrow" panose="020B0004020202020204" pitchFamily="34" charset="0"/>
                  </a:rPr>
                  <a:t>Each term of the cost function describes the following objectives:</a:t>
                </a:r>
              </a:p>
              <a:p>
                <a:r>
                  <a:rPr lang="en-US" dirty="0">
                    <a:latin typeface="Aptos Narrow" panose="020B0004020202020204" pitchFamily="34" charset="0"/>
                  </a:rPr>
                  <a:t>first term, </a:t>
                </a:r>
                <a:r>
                  <a:rPr lang="en-US" b="1" dirty="0">
                    <a:latin typeface="Aptos Narrow" panose="020B0004020202020204" pitchFamily="34" charset="0"/>
                  </a:rPr>
                  <a:t>root mean square error </a:t>
                </a:r>
                <a:r>
                  <a:rPr lang="en-US" dirty="0">
                    <a:latin typeface="Aptos Narrow" panose="020B0004020202020204" pitchFamily="34" charset="0"/>
                  </a:rPr>
                  <a:t>between wealth portfolio and reference portfolio</a:t>
                </a:r>
              </a:p>
              <a:p>
                <a:r>
                  <a:rPr lang="en-US" dirty="0">
                    <a:latin typeface="Aptos Narrow" panose="020B0004020202020204" pitchFamily="34" charset="0"/>
                  </a:rPr>
                  <a:t>second term, </a:t>
                </a:r>
                <a:r>
                  <a:rPr lang="en-US" b="1" dirty="0">
                    <a:latin typeface="Aptos Narrow" panose="020B0004020202020204" pitchFamily="34" charset="0"/>
                  </a:rPr>
                  <a:t>penalizes wealth values lower than the desired value</a:t>
                </a:r>
                <a:r>
                  <a:rPr lang="en-US" dirty="0">
                    <a:latin typeface="Aptos Narrow" panose="020B0004020202020204" pitchFamily="34" charset="0"/>
                  </a:rPr>
                  <a:t>, </a:t>
                </a:r>
                <a:r>
                  <a:rPr lang="it-IT" dirty="0">
                    <a:latin typeface="Aptos Narrow" panose="020B0004020202020204" pitchFamily="34" charset="0"/>
                  </a:rPr>
                  <a:t>through the weight </a:t>
                </a:r>
                <a14:m>
                  <m:oMath xmlns:m="http://schemas.openxmlformats.org/officeDocument/2006/math">
                    <m:r>
                      <a:rPr lang="it-IT" i="1"/>
                      <m:t>𝜌</m:t>
                    </m:r>
                    <m:r>
                      <a:rPr lang="it-IT" i="1"/>
                      <m:t>(</m:t>
                    </m:r>
                    <m:r>
                      <a:rPr lang="it-IT" i="1"/>
                      <m:t>𝑘</m:t>
                    </m:r>
                    <m:r>
                      <a:rPr lang="it-IT" i="1"/>
                      <m:t>,</m:t>
                    </m:r>
                    <m:r>
                      <a:rPr lang="it-IT" i="1"/>
                      <m:t>𝑗</m:t>
                    </m:r>
                    <m:r>
                      <a:rPr lang="it-IT" i="1"/>
                      <m:t>)</m:t>
                    </m:r>
                  </m:oMath>
                </a14:m>
                <a:endParaRPr lang="it-IT" dirty="0">
                  <a:latin typeface="Aptos Narrow" panose="020B0004020202020204" pitchFamily="34" charset="0"/>
                </a:endParaRPr>
              </a:p>
              <a:p>
                <a:pPr lvl="0"/>
                <a:r>
                  <a:rPr lang="en-US" dirty="0">
                    <a:latin typeface="Aptos Narrow" panose="020B0004020202020204" pitchFamily="34" charset="0"/>
                  </a:rPr>
                  <a:t>third term, penalizes </a:t>
                </a:r>
                <a:r>
                  <a:rPr lang="en-US" b="1" dirty="0">
                    <a:latin typeface="Aptos Narrow" panose="020B0004020202020204" pitchFamily="34" charset="0"/>
                  </a:rPr>
                  <a:t>transaction costs</a:t>
                </a:r>
              </a:p>
            </p:txBody>
          </p:sp>
        </mc:Choice>
        <mc:Fallback>
          <p:sp>
            <p:nvSpPr>
              <p:cNvPr id="3" name="Segnaposto contenuto 2">
                <a:extLst>
                  <a:ext uri="{FF2B5EF4-FFF2-40B4-BE49-F238E27FC236}">
                    <a16:creationId xmlns:a16="http://schemas.microsoft.com/office/drawing/2014/main" id="{3D9E0BD3-7BD5-68A5-168F-BAC6F1074320}"/>
                  </a:ext>
                </a:extLst>
              </p:cNvPr>
              <p:cNvSpPr>
                <a:spLocks noGrp="1" noRot="1" noChangeAspect="1" noMove="1" noResize="1" noEditPoints="1" noAdjustHandles="1" noChangeArrowheads="1" noChangeShapeType="1" noTextEdit="1"/>
              </p:cNvSpPr>
              <p:nvPr>
                <p:ph idx="1"/>
              </p:nvPr>
            </p:nvSpPr>
            <p:spPr>
              <a:blipFill>
                <a:blip r:embed="rId2"/>
                <a:stretch>
                  <a:fillRect l="-572"/>
                </a:stretch>
              </a:blipFill>
            </p:spPr>
            <p:txBody>
              <a:bodyPr/>
              <a:lstStyle/>
              <a:p>
                <a:r>
                  <a:rPr lang="it-IT">
                    <a:noFill/>
                  </a:rPr>
                  <a:t> </a:t>
                </a:r>
              </a:p>
            </p:txBody>
          </p:sp>
        </mc:Fallback>
      </mc:AlternateContent>
      <p:pic>
        <p:nvPicPr>
          <p:cNvPr id="4" name="Immagine 3">
            <a:extLst>
              <a:ext uri="{FF2B5EF4-FFF2-40B4-BE49-F238E27FC236}">
                <a16:creationId xmlns:a16="http://schemas.microsoft.com/office/drawing/2014/main" id="{A025A3E2-2D49-6423-0D60-6659058E8AA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224" y="1905488"/>
            <a:ext cx="10838424" cy="771441"/>
          </a:xfrm>
          <a:prstGeom prst="rect">
            <a:avLst/>
          </a:prstGeom>
          <a:noFill/>
          <a:ln>
            <a:noFill/>
          </a:ln>
        </p:spPr>
      </p:pic>
    </p:spTree>
    <p:extLst>
      <p:ext uri="{BB962C8B-B14F-4D97-AF65-F5344CB8AC3E}">
        <p14:creationId xmlns:p14="http://schemas.microsoft.com/office/powerpoint/2010/main" val="3448864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B0D81E-6854-B188-1002-1BF86216166A}"/>
              </a:ext>
            </a:extLst>
          </p:cNvPr>
          <p:cNvSpPr>
            <a:spLocks noGrp="1"/>
          </p:cNvSpPr>
          <p:nvPr>
            <p:ph type="title"/>
          </p:nvPr>
        </p:nvSpPr>
        <p:spPr/>
        <p:txBody>
          <a:bodyPr/>
          <a:lstStyle/>
          <a:p>
            <a:r>
              <a:rPr lang="it-IT" dirty="0">
                <a:latin typeface="Aptos Narrow" panose="020B0004020202020204" pitchFamily="34" charset="0"/>
              </a:rPr>
              <a:t>QUADRATIC COSTS</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D81DB35F-2571-40FB-DCC0-DDE619F3F888}"/>
                  </a:ext>
                </a:extLst>
              </p:cNvPr>
              <p:cNvSpPr>
                <a:spLocks noGrp="1"/>
              </p:cNvSpPr>
              <p:nvPr>
                <p:ph idx="1"/>
              </p:nvPr>
            </p:nvSpPr>
            <p:spPr/>
            <p:txBody>
              <a:bodyPr/>
              <a:lstStyle/>
              <a:p>
                <a:r>
                  <a:rPr lang="en-US" dirty="0">
                    <a:latin typeface="Aptos Narrow" panose="020B0004020202020204" pitchFamily="34" charset="0"/>
                  </a:rPr>
                  <a:t>A common assumption in the literature is to consider a </a:t>
                </a:r>
                <a:r>
                  <a:rPr lang="en-US" b="1" dirty="0">
                    <a:latin typeface="Aptos Narrow" panose="020B0004020202020204" pitchFamily="34" charset="0"/>
                  </a:rPr>
                  <a:t>linear impact on market prices </a:t>
                </a:r>
                <a:r>
                  <a:rPr lang="en-US" dirty="0">
                    <a:latin typeface="Aptos Narrow" panose="020B0004020202020204" pitchFamily="34" charset="0"/>
                  </a:rPr>
                  <a:t>for the amount traded, and thus the </a:t>
                </a:r>
                <a:r>
                  <a:rPr lang="en-US" b="1" dirty="0">
                    <a:latin typeface="Aptos Narrow" panose="020B0004020202020204" pitchFamily="34" charset="0"/>
                  </a:rPr>
                  <a:t>costs</a:t>
                </a:r>
                <a:r>
                  <a:rPr lang="en-US" dirty="0">
                    <a:latin typeface="Aptos Narrow" panose="020B0004020202020204" pitchFamily="34" charset="0"/>
                  </a:rPr>
                  <a:t> of the impact </a:t>
                </a:r>
                <a:r>
                  <a:rPr lang="en-US" b="1" dirty="0">
                    <a:latin typeface="Aptos Narrow" panose="020B0004020202020204" pitchFamily="34" charset="0"/>
                  </a:rPr>
                  <a:t>become quadratic </a:t>
                </a:r>
                <a:r>
                  <a:rPr lang="en-US" dirty="0">
                    <a:latin typeface="Aptos Narrow" panose="020B0004020202020204" pitchFamily="34" charset="0"/>
                  </a:rPr>
                  <a:t>as follows:</a:t>
                </a:r>
              </a:p>
              <a:p>
                <a:endParaRPr lang="it-IT" u="sng" dirty="0">
                  <a:latin typeface="Aptos Narrow" panose="020B0004020202020204" pitchFamily="34" charset="0"/>
                </a:endParaRPr>
              </a:p>
              <a:p>
                <a:endParaRPr lang="it-IT" u="sng" dirty="0">
                  <a:latin typeface="Aptos Narrow" panose="020B0004020202020204" pitchFamily="34" charset="0"/>
                </a:endParaRPr>
              </a:p>
              <a:p>
                <a:endParaRPr lang="it-IT" u="sng" dirty="0">
                  <a:latin typeface="Aptos Narrow" panose="020B0004020202020204" pitchFamily="34" charset="0"/>
                </a:endParaRPr>
              </a:p>
              <a:p>
                <a:endParaRPr lang="it-IT" u="sng" dirty="0">
                  <a:latin typeface="Aptos Narrow" panose="020B0004020202020204" pitchFamily="34" charset="0"/>
                </a:endParaRPr>
              </a:p>
              <a:p>
                <a:endParaRPr lang="it-IT" u="sng" dirty="0">
                  <a:latin typeface="Aptos Narrow" panose="020B0004020202020204" pitchFamily="34" charset="0"/>
                </a:endParaRPr>
              </a:p>
              <a:p>
                <a:pPr marL="0" indent="0">
                  <a:buNone/>
                </a:pPr>
                <a:r>
                  <a:rPr lang="it-IT" b="1" u="sng" dirty="0">
                    <a:latin typeface="Aptos Narrow" panose="020B0004020202020204" pitchFamily="34" charset="0"/>
                  </a:rPr>
                  <a:t>NOTE</a:t>
                </a:r>
                <a:r>
                  <a:rPr lang="it-IT" dirty="0">
                    <a:latin typeface="Aptos Narrow" panose="020B0004020202020204" pitchFamily="34" charset="0"/>
                  </a:rPr>
                  <a:t>: </a:t>
                </a:r>
                <a:r>
                  <a:rPr lang="en-US" dirty="0">
                    <a:latin typeface="Aptos Narrow" panose="020B0004020202020204" pitchFamily="34" charset="0"/>
                  </a:rPr>
                  <a:t>the last term of the cost function is exactly </a:t>
                </a:r>
                <a14:m>
                  <m:oMath xmlns:m="http://schemas.openxmlformats.org/officeDocument/2006/math">
                    <m:sSub>
                      <m:sSubPr>
                        <m:ctrlPr>
                          <a:rPr lang="it-IT" i="1"/>
                        </m:ctrlPr>
                      </m:sSubPr>
                      <m:e>
                        <m:r>
                          <a:rPr lang="it-IT" i="1"/>
                          <m:t>𝑣</m:t>
                        </m:r>
                      </m:e>
                      <m:sub>
                        <m:r>
                          <a:rPr lang="it-IT" i="1"/>
                          <m:t>𝑗</m:t>
                        </m:r>
                      </m:sub>
                    </m:sSub>
                    <m:sSup>
                      <m:sSupPr>
                        <m:ctrlPr>
                          <a:rPr lang="it-IT" i="1"/>
                        </m:ctrlPr>
                      </m:sSupPr>
                      <m:e>
                        <m:d>
                          <m:dPr>
                            <m:ctrlPr>
                              <a:rPr lang="it-IT" i="1"/>
                            </m:ctrlPr>
                          </m:dPr>
                          <m:e>
                            <m:r>
                              <a:rPr lang="it-IT" i="1"/>
                              <m:t>𝑘</m:t>
                            </m:r>
                          </m:e>
                          <m:e>
                            <m:r>
                              <a:rPr lang="it-IT" i="1"/>
                              <m:t>𝑘</m:t>
                            </m:r>
                          </m:e>
                        </m:d>
                      </m:e>
                      <m:sup>
                        <m:r>
                          <a:rPr lang="it-IT" i="1"/>
                          <m:t>𝑇</m:t>
                        </m:r>
                      </m:sup>
                    </m:sSup>
                    <m:r>
                      <a:rPr lang="it-IT" i="1"/>
                      <m:t>𝑅</m:t>
                    </m:r>
                    <m:d>
                      <m:dPr>
                        <m:ctrlPr>
                          <a:rPr lang="it-IT" i="1"/>
                        </m:ctrlPr>
                      </m:dPr>
                      <m:e>
                        <m:r>
                          <a:rPr lang="it-IT" i="1"/>
                          <m:t>𝑘</m:t>
                        </m:r>
                        <m:r>
                          <a:rPr lang="it-IT" i="1"/>
                          <m:t>,</m:t>
                        </m:r>
                        <m:r>
                          <a:rPr lang="it-IT" i="1"/>
                          <m:t>𝑗</m:t>
                        </m:r>
                      </m:e>
                    </m:d>
                    <m:sSub>
                      <m:sSubPr>
                        <m:ctrlPr>
                          <a:rPr lang="it-IT" i="1"/>
                        </m:ctrlPr>
                      </m:sSubPr>
                      <m:e>
                        <m:r>
                          <a:rPr lang="it-IT" i="1"/>
                          <m:t>𝑣</m:t>
                        </m:r>
                      </m:e>
                      <m:sub>
                        <m:r>
                          <a:rPr lang="it-IT" i="1"/>
                          <m:t>𝑗</m:t>
                        </m:r>
                      </m:sub>
                    </m:sSub>
                    <m:r>
                      <a:rPr lang="it-IT" i="1"/>
                      <m:t>(</m:t>
                    </m:r>
                    <m:r>
                      <a:rPr lang="it-IT" i="1"/>
                      <m:t>𝑘</m:t>
                    </m:r>
                    <m:r>
                      <a:rPr lang="it-IT" i="1"/>
                      <m:t>|</m:t>
                    </m:r>
                    <m:r>
                      <a:rPr lang="it-IT" i="1"/>
                      <m:t>𝑘</m:t>
                    </m:r>
                    <m:r>
                      <a:rPr lang="it-IT" i="1"/>
                      <m:t>)</m:t>
                    </m:r>
                  </m:oMath>
                </a14:m>
                <a:endParaRPr lang="it-IT" dirty="0"/>
              </a:p>
            </p:txBody>
          </p:sp>
        </mc:Choice>
        <mc:Fallback>
          <p:sp>
            <p:nvSpPr>
              <p:cNvPr id="3" name="Segnaposto contenuto 2">
                <a:extLst>
                  <a:ext uri="{FF2B5EF4-FFF2-40B4-BE49-F238E27FC236}">
                    <a16:creationId xmlns:a16="http://schemas.microsoft.com/office/drawing/2014/main" id="{D81DB35F-2571-40FB-DCC0-DDE619F3F888}"/>
                  </a:ext>
                </a:extLst>
              </p:cNvPr>
              <p:cNvSpPr>
                <a:spLocks noGrp="1" noRot="1" noChangeAspect="1" noMove="1" noResize="1" noEditPoints="1" noAdjustHandles="1" noChangeArrowheads="1" noChangeShapeType="1" noTextEdit="1"/>
              </p:cNvSpPr>
              <p:nvPr>
                <p:ph idx="1"/>
              </p:nvPr>
            </p:nvSpPr>
            <p:spPr>
              <a:blipFill>
                <a:blip r:embed="rId2"/>
                <a:stretch>
                  <a:fillRect l="-572" r="-1030"/>
                </a:stretch>
              </a:blipFill>
            </p:spPr>
            <p:txBody>
              <a:bodyPr/>
              <a:lstStyle/>
              <a:p>
                <a:r>
                  <a:rPr lang="it-IT">
                    <a:noFill/>
                  </a:rPr>
                  <a:t> </a:t>
                </a:r>
              </a:p>
            </p:txBody>
          </p:sp>
        </mc:Fallback>
      </mc:AlternateContent>
      <p:pic>
        <p:nvPicPr>
          <p:cNvPr id="4" name="Immagine 3">
            <a:extLst>
              <a:ext uri="{FF2B5EF4-FFF2-40B4-BE49-F238E27FC236}">
                <a16:creationId xmlns:a16="http://schemas.microsoft.com/office/drawing/2014/main" id="{1FC58FB4-9A17-52EF-976B-E2C0D2BAC25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70210" y="3218948"/>
            <a:ext cx="6738452" cy="420103"/>
          </a:xfrm>
          <a:prstGeom prst="rect">
            <a:avLst/>
          </a:prstGeom>
          <a:noFill/>
          <a:ln>
            <a:noFill/>
          </a:ln>
        </p:spPr>
      </p:pic>
    </p:spTree>
    <p:extLst>
      <p:ext uri="{BB962C8B-B14F-4D97-AF65-F5344CB8AC3E}">
        <p14:creationId xmlns:p14="http://schemas.microsoft.com/office/powerpoint/2010/main" val="4124243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7D67643-494C-679B-826B-1274F309631F}"/>
              </a:ext>
            </a:extLst>
          </p:cNvPr>
          <p:cNvSpPr>
            <a:spLocks noGrp="1"/>
          </p:cNvSpPr>
          <p:nvPr>
            <p:ph type="title"/>
          </p:nvPr>
        </p:nvSpPr>
        <p:spPr/>
        <p:txBody>
          <a:bodyPr/>
          <a:lstStyle/>
          <a:p>
            <a:r>
              <a:rPr lang="it-IT" dirty="0">
                <a:latin typeface="Aptos Narrow" panose="020B0004020202020204" pitchFamily="34" charset="0"/>
              </a:rPr>
              <a:t>OPTIMAL CONTROL PROBLEM (OCP) </a:t>
            </a:r>
          </a:p>
        </p:txBody>
      </p:sp>
      <p:sp>
        <p:nvSpPr>
          <p:cNvPr id="3" name="Segnaposto contenuto 2">
            <a:extLst>
              <a:ext uri="{FF2B5EF4-FFF2-40B4-BE49-F238E27FC236}">
                <a16:creationId xmlns:a16="http://schemas.microsoft.com/office/drawing/2014/main" id="{CE7E92F1-9853-F52E-E767-7868A45AFE6D}"/>
              </a:ext>
            </a:extLst>
          </p:cNvPr>
          <p:cNvSpPr>
            <a:spLocks noGrp="1"/>
          </p:cNvSpPr>
          <p:nvPr>
            <p:ph idx="1"/>
          </p:nvPr>
        </p:nvSpPr>
        <p:spPr/>
        <p:txBody>
          <a:bodyPr/>
          <a:lstStyle/>
          <a:p>
            <a:r>
              <a:rPr lang="en-US" dirty="0">
                <a:latin typeface="Aptos Narrow" panose="020B0004020202020204" pitchFamily="34" charset="0"/>
              </a:rPr>
              <a:t>We present the </a:t>
            </a:r>
            <a:r>
              <a:rPr lang="en-US" b="1" dirty="0">
                <a:latin typeface="Aptos Narrow" panose="020B0004020202020204" pitchFamily="34" charset="0"/>
              </a:rPr>
              <a:t>Optimal Control Problem (OCP) </a:t>
            </a:r>
            <a:r>
              <a:rPr lang="en-US" dirty="0">
                <a:latin typeface="Aptos Narrow" panose="020B0004020202020204" pitchFamily="34" charset="0"/>
              </a:rPr>
              <a:t>where the </a:t>
            </a:r>
            <a:r>
              <a:rPr lang="en-US" u="sng" dirty="0">
                <a:latin typeface="Aptos Narrow" panose="020B0004020202020204" pitchFamily="34" charset="0"/>
              </a:rPr>
              <a:t>goal</a:t>
            </a:r>
            <a:r>
              <a:rPr lang="en-US" dirty="0">
                <a:latin typeface="Aptos Narrow" panose="020B0004020202020204" pitchFamily="34" charset="0"/>
              </a:rPr>
              <a:t> is to minimize the quadratic cost function (tracking error and transaction costs):</a:t>
            </a:r>
          </a:p>
          <a:p>
            <a:endParaRPr lang="it-IT" dirty="0"/>
          </a:p>
        </p:txBody>
      </p:sp>
      <p:pic>
        <p:nvPicPr>
          <p:cNvPr id="10" name="Immagine 9" descr="Immagine che contiene testo, ricevuta, algebra, Carattere&#10;&#10;Il contenuto generato dall'IA potrebbe non essere corretto.">
            <a:extLst>
              <a:ext uri="{FF2B5EF4-FFF2-40B4-BE49-F238E27FC236}">
                <a16:creationId xmlns:a16="http://schemas.microsoft.com/office/drawing/2014/main" id="{166852CC-84D2-60E1-13B0-8F520435B9F8}"/>
              </a:ext>
            </a:extLst>
          </p:cNvPr>
          <p:cNvPicPr>
            <a:picLocks noChangeAspect="1"/>
          </p:cNvPicPr>
          <p:nvPr/>
        </p:nvPicPr>
        <p:blipFill>
          <a:blip r:embed="rId2"/>
          <a:stretch>
            <a:fillRect/>
          </a:stretch>
        </p:blipFill>
        <p:spPr>
          <a:xfrm>
            <a:off x="1684421" y="2839454"/>
            <a:ext cx="8550442" cy="3256546"/>
          </a:xfrm>
          <a:prstGeom prst="rect">
            <a:avLst/>
          </a:prstGeom>
        </p:spPr>
      </p:pic>
    </p:spTree>
    <p:extLst>
      <p:ext uri="{BB962C8B-B14F-4D97-AF65-F5344CB8AC3E}">
        <p14:creationId xmlns:p14="http://schemas.microsoft.com/office/powerpoint/2010/main" val="3083408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F30DE0-31D0-1A94-B210-7C57D4205D8A}"/>
              </a:ext>
            </a:extLst>
          </p:cNvPr>
          <p:cNvSpPr>
            <a:spLocks noGrp="1"/>
          </p:cNvSpPr>
          <p:nvPr>
            <p:ph type="title"/>
          </p:nvPr>
        </p:nvSpPr>
        <p:spPr/>
        <p:txBody>
          <a:bodyPr>
            <a:normAutofit/>
          </a:bodyPr>
          <a:lstStyle/>
          <a:p>
            <a:r>
              <a:rPr lang="en-US" dirty="0">
                <a:latin typeface="Aptos Narrow" panose="020B0004020202020204" pitchFamily="34" charset="0"/>
              </a:rPr>
              <a:t>TRACKING MPC: AS LOSS FUNCTION OF CVaR</a:t>
            </a:r>
            <a:br>
              <a:rPr lang="it-IT" dirty="0"/>
            </a:br>
            <a:endParaRPr lang="it-IT" dirty="0"/>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1B82B0B4-6A4C-F9F2-AACB-9A146EF6BB1E}"/>
                  </a:ext>
                </a:extLst>
              </p:cNvPr>
              <p:cNvSpPr>
                <a:spLocks noGrp="1"/>
              </p:cNvSpPr>
              <p:nvPr>
                <p:ph idx="1"/>
              </p:nvPr>
            </p:nvSpPr>
            <p:spPr/>
            <p:txBody>
              <a:bodyPr/>
              <a:lstStyle/>
              <a:p>
                <a:pPr marL="0" indent="0">
                  <a:buNone/>
                </a:pPr>
                <a:r>
                  <a:rPr lang="en-US" sz="2100" dirty="0">
                    <a:latin typeface="Aptos Narrow" panose="020B0004020202020204" pitchFamily="34" charset="0"/>
                  </a:rPr>
                  <a:t>The authors, through </a:t>
                </a:r>
                <a:r>
                  <a:rPr lang="en-US" sz="2100" b="1" dirty="0">
                    <a:latin typeface="Aptos Narrow" panose="020B0004020202020204" pitchFamily="34" charset="0"/>
                  </a:rPr>
                  <a:t>Conditional Value at Risk (CVaR)</a:t>
                </a:r>
                <a:r>
                  <a:rPr lang="en-US" sz="2100" dirty="0">
                    <a:latin typeface="Aptos Narrow" panose="020B0004020202020204" pitchFamily="34" charset="0"/>
                  </a:rPr>
                  <a:t>, move from a symmetric to an </a:t>
                </a:r>
                <a:r>
                  <a:rPr lang="en-US" sz="2100" b="1" dirty="0">
                    <a:latin typeface="Aptos Narrow" panose="020B0004020202020204" pitchFamily="34" charset="0"/>
                  </a:rPr>
                  <a:t>asymmetric </a:t>
                </a:r>
                <a:r>
                  <a:rPr lang="en-US" sz="2100" dirty="0">
                    <a:latin typeface="Aptos Narrow" panose="020B0004020202020204" pitchFamily="34" charset="0"/>
                  </a:rPr>
                  <a:t>control:</a:t>
                </a:r>
              </a:p>
              <a:p>
                <a:r>
                  <a:rPr lang="en-US" sz="2100" b="1" dirty="0">
                    <a:latin typeface="Aptos Narrow" panose="020B0004020202020204" pitchFamily="34" charset="0"/>
                  </a:rPr>
                  <a:t>Value at Risk (VaR): </a:t>
                </a:r>
                <a:r>
                  <a:rPr lang="en-US" sz="2100" dirty="0">
                    <a:latin typeface="Aptos Narrow" panose="020B0004020202020204" pitchFamily="34" charset="0"/>
                  </a:rPr>
                  <a:t>a confidence level is set </a:t>
                </a:r>
                <a14:m>
                  <m:oMath xmlns:m="http://schemas.openxmlformats.org/officeDocument/2006/math">
                    <m:r>
                      <a:rPr lang="it-IT" sz="2100" i="1"/>
                      <m:t>𝛽</m:t>
                    </m:r>
                    <m:r>
                      <a:rPr lang="it-IT" sz="2100" i="1"/>
                      <m:t>=95%</m:t>
                    </m:r>
                  </m:oMath>
                </a14:m>
                <a:r>
                  <a:rPr lang="it-IT" sz="2100" dirty="0">
                    <a:latin typeface="Aptos Narrow" panose="020B0004020202020204" pitchFamily="34" charset="0"/>
                  </a:rPr>
                  <a:t>, the </a:t>
                </a:r>
                <a14:m>
                  <m:oMath xmlns:m="http://schemas.openxmlformats.org/officeDocument/2006/math">
                    <m:r>
                      <a:rPr lang="it-IT" sz="2100" i="1"/>
                      <m:t>𝛽</m:t>
                    </m:r>
                  </m:oMath>
                </a14:m>
                <a:r>
                  <a:rPr lang="it-IT" sz="2100" dirty="0">
                    <a:latin typeface="Aptos Narrow" panose="020B0004020202020204" pitchFamily="34" charset="0"/>
                  </a:rPr>
                  <a:t>-VaR </a:t>
                </a:r>
                <a:r>
                  <a:rPr lang="en-US" sz="2100" dirty="0">
                    <a:latin typeface="Aptos Narrow" panose="020B0004020202020204" pitchFamily="34" charset="0"/>
                  </a:rPr>
                  <a:t>is the maximum loss threshold that occurs in 95% of cases. In 5% of cases, things are worse than </a:t>
                </a:r>
                <a:r>
                  <a:rPr lang="en-US" sz="2100" dirty="0" err="1">
                    <a:latin typeface="Aptos Narrow" panose="020B0004020202020204" pitchFamily="34" charset="0"/>
                  </a:rPr>
                  <a:t>VaR.</a:t>
                </a:r>
                <a:endParaRPr lang="en-US" sz="2100" dirty="0">
                  <a:latin typeface="Aptos Narrow" panose="020B0004020202020204" pitchFamily="34" charset="0"/>
                </a:endParaRPr>
              </a:p>
              <a:p>
                <a:r>
                  <a:rPr lang="it-IT" sz="2100" b="1" dirty="0" err="1">
                    <a:latin typeface="Aptos Narrow" panose="020B0004020202020204" pitchFamily="34" charset="0"/>
                  </a:rPr>
                  <a:t>Conditional</a:t>
                </a:r>
                <a:r>
                  <a:rPr lang="it-IT" sz="2100" b="1" dirty="0">
                    <a:latin typeface="Aptos Narrow" panose="020B0004020202020204" pitchFamily="34" charset="0"/>
                  </a:rPr>
                  <a:t> Value </a:t>
                </a:r>
                <a:r>
                  <a:rPr lang="it-IT" sz="2100" b="1" dirty="0" err="1">
                    <a:latin typeface="Aptos Narrow" panose="020B0004020202020204" pitchFamily="34" charset="0"/>
                  </a:rPr>
                  <a:t>at</a:t>
                </a:r>
                <a:r>
                  <a:rPr lang="it-IT" sz="2100" b="1" dirty="0">
                    <a:latin typeface="Aptos Narrow" panose="020B0004020202020204" pitchFamily="34" charset="0"/>
                  </a:rPr>
                  <a:t> Risk (</a:t>
                </a:r>
                <a:r>
                  <a:rPr lang="it-IT" sz="2100" b="1" dirty="0" err="1">
                    <a:latin typeface="Aptos Narrow" panose="020B0004020202020204" pitchFamily="34" charset="0"/>
                  </a:rPr>
                  <a:t>CVaR</a:t>
                </a:r>
                <a:r>
                  <a:rPr lang="it-IT" sz="2100" b="1" dirty="0">
                    <a:latin typeface="Aptos Narrow" panose="020B0004020202020204" pitchFamily="34" charset="0"/>
                  </a:rPr>
                  <a:t>)</a:t>
                </a:r>
                <a:r>
                  <a:rPr lang="it-IT" sz="2100" dirty="0">
                    <a:latin typeface="Aptos Narrow" panose="020B0004020202020204" pitchFamily="34" charset="0"/>
                  </a:rPr>
                  <a:t>: </a:t>
                </a:r>
                <a:r>
                  <a:rPr lang="en-US" sz="2100" dirty="0">
                    <a:latin typeface="Aptos Narrow" panose="020B0004020202020204" pitchFamily="34" charset="0"/>
                  </a:rPr>
                  <a:t>is the </a:t>
                </a:r>
                <a:r>
                  <a:rPr lang="en-US" sz="2100" b="1" dirty="0">
                    <a:latin typeface="Aptos Narrow" panose="020B0004020202020204" pitchFamily="34" charset="0"/>
                  </a:rPr>
                  <a:t>average of the tracking errors</a:t>
                </a:r>
                <a:r>
                  <a:rPr lang="en-US" sz="2100" dirty="0">
                    <a:latin typeface="Aptos Narrow" panose="020B0004020202020204" pitchFamily="34" charset="0"/>
                  </a:rPr>
                  <a:t> in the (1−𝛽) worst-case scenarios.</a:t>
                </a:r>
              </a:p>
              <a:p>
                <a:endParaRPr lang="it-IT" dirty="0"/>
              </a:p>
            </p:txBody>
          </p:sp>
        </mc:Choice>
        <mc:Fallback>
          <p:sp>
            <p:nvSpPr>
              <p:cNvPr id="3" name="Segnaposto contenuto 2">
                <a:extLst>
                  <a:ext uri="{FF2B5EF4-FFF2-40B4-BE49-F238E27FC236}">
                    <a16:creationId xmlns:a16="http://schemas.microsoft.com/office/drawing/2014/main" id="{1B82B0B4-6A4C-F9F2-AACB-9A146EF6BB1E}"/>
                  </a:ext>
                </a:extLst>
              </p:cNvPr>
              <p:cNvSpPr>
                <a:spLocks noGrp="1" noRot="1" noChangeAspect="1" noMove="1" noResize="1" noEditPoints="1" noAdjustHandles="1" noChangeArrowheads="1" noChangeShapeType="1" noTextEdit="1"/>
              </p:cNvSpPr>
              <p:nvPr>
                <p:ph idx="1"/>
              </p:nvPr>
            </p:nvSpPr>
            <p:spPr>
              <a:blipFill>
                <a:blip r:embed="rId2"/>
                <a:stretch>
                  <a:fillRect l="-629" r="-858"/>
                </a:stretch>
              </a:blipFill>
            </p:spPr>
            <p:txBody>
              <a:bodyPr/>
              <a:lstStyle/>
              <a:p>
                <a:r>
                  <a:rPr lang="it-IT">
                    <a:noFill/>
                  </a:rPr>
                  <a:t> </a:t>
                </a:r>
              </a:p>
            </p:txBody>
          </p:sp>
        </mc:Fallback>
      </mc:AlternateContent>
    </p:spTree>
    <p:extLst>
      <p:ext uri="{BB962C8B-B14F-4D97-AF65-F5344CB8AC3E}">
        <p14:creationId xmlns:p14="http://schemas.microsoft.com/office/powerpoint/2010/main" val="3927795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19D269D-94DD-2374-0293-714A0468C045}"/>
              </a:ext>
            </a:extLst>
          </p:cNvPr>
          <p:cNvSpPr>
            <a:spLocks noGrp="1"/>
          </p:cNvSpPr>
          <p:nvPr>
            <p:ph type="title"/>
          </p:nvPr>
        </p:nvSpPr>
        <p:spPr/>
        <p:txBody>
          <a:bodyPr/>
          <a:lstStyle/>
          <a:p>
            <a:r>
              <a:rPr lang="it-IT" dirty="0" err="1"/>
              <a:t>CVaR</a:t>
            </a:r>
            <a:endParaRPr lang="it-IT" dirty="0"/>
          </a:p>
        </p:txBody>
      </p:sp>
      <p:sp>
        <p:nvSpPr>
          <p:cNvPr id="3" name="Segnaposto contenuto 2">
            <a:extLst>
              <a:ext uri="{FF2B5EF4-FFF2-40B4-BE49-F238E27FC236}">
                <a16:creationId xmlns:a16="http://schemas.microsoft.com/office/drawing/2014/main" id="{FB1C8316-8F73-EE87-9A8F-58AF0354D5B1}"/>
              </a:ext>
            </a:extLst>
          </p:cNvPr>
          <p:cNvSpPr>
            <a:spLocks noGrp="1"/>
          </p:cNvSpPr>
          <p:nvPr>
            <p:ph idx="1"/>
          </p:nvPr>
        </p:nvSpPr>
        <p:spPr/>
        <p:txBody>
          <a:bodyPr/>
          <a:lstStyle/>
          <a:p>
            <a:pPr marL="0" indent="0">
              <a:buNone/>
            </a:pPr>
            <a:r>
              <a:rPr lang="en-US" sz="2100" b="1" dirty="0">
                <a:latin typeface="Aptos Narrow" panose="020B0004020202020204" pitchFamily="34" charset="0"/>
              </a:rPr>
              <a:t>CVaR</a:t>
            </a:r>
            <a:r>
              <a:rPr lang="en-US" sz="2100" dirty="0">
                <a:latin typeface="Aptos Narrow" panose="020B0004020202020204" pitchFamily="34" charset="0"/>
              </a:rPr>
              <a:t> as a </a:t>
            </a:r>
            <a:r>
              <a:rPr lang="en-US" sz="2100" b="1" dirty="0">
                <a:latin typeface="Aptos Narrow" panose="020B0004020202020204" pitchFamily="34" charset="0"/>
              </a:rPr>
              <a:t>stochastic risk measure </a:t>
            </a:r>
            <a:r>
              <a:rPr lang="en-US" sz="2100" dirty="0">
                <a:latin typeface="Aptos Narrow" panose="020B0004020202020204" pitchFamily="34" charset="0"/>
              </a:rPr>
              <a:t>whose values are obtained through </a:t>
            </a:r>
            <a:r>
              <a:rPr lang="en-US" sz="2100" b="1" dirty="0">
                <a:latin typeface="Aptos Narrow" panose="020B0004020202020204" pitchFamily="34" charset="0"/>
              </a:rPr>
              <a:t>scenarios</a:t>
            </a:r>
            <a:r>
              <a:rPr lang="en-US" sz="2100" dirty="0">
                <a:latin typeface="Aptos Narrow" panose="020B0004020202020204" pitchFamily="34" charset="0"/>
              </a:rPr>
              <a:t> representing the future trajectories of risk assets.</a:t>
            </a:r>
          </a:p>
          <a:p>
            <a:pPr marL="0" indent="0">
              <a:buNone/>
            </a:pPr>
            <a:endParaRPr lang="en-US" sz="2100" dirty="0">
              <a:latin typeface="Aptos Narrow" panose="020B0004020202020204" pitchFamily="34" charset="0"/>
            </a:endParaRPr>
          </a:p>
          <a:p>
            <a:pPr marL="0" indent="0">
              <a:buNone/>
            </a:pPr>
            <a:r>
              <a:rPr lang="en-US" sz="2100" dirty="0">
                <a:latin typeface="Aptos Narrow" panose="020B0004020202020204" pitchFamily="34" charset="0"/>
              </a:rPr>
              <a:t>To develop such scenarios, the first-order VAR model is considered, in which the noise e(k) is randomly sampled for M times.</a:t>
            </a:r>
          </a:p>
          <a:p>
            <a:pPr marL="0" indent="0">
              <a:buNone/>
            </a:pPr>
            <a:endParaRPr lang="en-US" sz="2100" dirty="0">
              <a:latin typeface="Aptos Narrow" panose="020B0004020202020204" pitchFamily="34" charset="0"/>
            </a:endParaRPr>
          </a:p>
          <a:p>
            <a:pPr marL="0" indent="0">
              <a:buNone/>
            </a:pPr>
            <a:r>
              <a:rPr lang="en-US" sz="2100" dirty="0">
                <a:latin typeface="Aptos Narrow" panose="020B0004020202020204" pitchFamily="34" charset="0"/>
              </a:rPr>
              <a:t>This sampling process is called </a:t>
            </a:r>
            <a:r>
              <a:rPr lang="en-US" sz="2100" b="1" dirty="0">
                <a:latin typeface="Aptos Narrow" panose="020B0004020202020204" pitchFamily="34" charset="0"/>
              </a:rPr>
              <a:t>Monte Carlo Simulation</a:t>
            </a:r>
          </a:p>
          <a:p>
            <a:pPr marL="0" indent="0">
              <a:buNone/>
            </a:pPr>
            <a:endParaRPr lang="it-IT" dirty="0"/>
          </a:p>
        </p:txBody>
      </p:sp>
    </p:spTree>
    <p:extLst>
      <p:ext uri="{BB962C8B-B14F-4D97-AF65-F5344CB8AC3E}">
        <p14:creationId xmlns:p14="http://schemas.microsoft.com/office/powerpoint/2010/main" val="4274470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DF42624-3E5D-9E67-EFE5-2D3042924D49}"/>
              </a:ext>
            </a:extLst>
          </p:cNvPr>
          <p:cNvSpPr>
            <a:spLocks noGrp="1"/>
          </p:cNvSpPr>
          <p:nvPr>
            <p:ph type="title"/>
          </p:nvPr>
        </p:nvSpPr>
        <p:spPr>
          <a:xfrm>
            <a:off x="612648" y="548640"/>
            <a:ext cx="10945037" cy="1133856"/>
          </a:xfrm>
        </p:spPr>
        <p:txBody>
          <a:bodyPr anchor="t">
            <a:normAutofit/>
          </a:bodyPr>
          <a:lstStyle/>
          <a:p>
            <a:r>
              <a:rPr lang="it-IT" dirty="0">
                <a:latin typeface="Aptos Narrow" panose="020B0004020202020204" pitchFamily="34" charset="0"/>
              </a:rPr>
              <a:t>MONTE CARLO</a:t>
            </a:r>
          </a:p>
        </p:txBody>
      </p:sp>
      <p:graphicFrame>
        <p:nvGraphicFramePr>
          <p:cNvPr id="5" name="Segnaposto contenuto 2">
            <a:extLst>
              <a:ext uri="{FF2B5EF4-FFF2-40B4-BE49-F238E27FC236}">
                <a16:creationId xmlns:a16="http://schemas.microsoft.com/office/drawing/2014/main" id="{C27BE5EF-33A1-36B8-9306-7379D921946A}"/>
              </a:ext>
            </a:extLst>
          </p:cNvPr>
          <p:cNvGraphicFramePr>
            <a:graphicFrameLocks noGrp="1"/>
          </p:cNvGraphicFramePr>
          <p:nvPr>
            <p:ph idx="1"/>
            <p:extLst>
              <p:ext uri="{D42A27DB-BD31-4B8C-83A1-F6EECF244321}">
                <p14:modId xmlns:p14="http://schemas.microsoft.com/office/powerpoint/2010/main" val="3363588387"/>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0899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D20EB4-AC46-BC78-41EB-A4C77F443325}"/>
              </a:ext>
            </a:extLst>
          </p:cNvPr>
          <p:cNvSpPr>
            <a:spLocks noGrp="1"/>
          </p:cNvSpPr>
          <p:nvPr>
            <p:ph type="title"/>
          </p:nvPr>
        </p:nvSpPr>
        <p:spPr/>
        <p:txBody>
          <a:bodyPr/>
          <a:lstStyle/>
          <a:p>
            <a:r>
              <a:rPr lang="it-IT" dirty="0">
                <a:latin typeface="Aptos Narrow" panose="020B0004020202020204" pitchFamily="34" charset="0"/>
              </a:rPr>
              <a:t>LOSS FUNCTION</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133A531E-5194-F560-8A27-A61A77DBE1DF}"/>
                  </a:ext>
                </a:extLst>
              </p:cNvPr>
              <p:cNvSpPr>
                <a:spLocks noGrp="1"/>
              </p:cNvSpPr>
              <p:nvPr>
                <p:ph idx="1"/>
              </p:nvPr>
            </p:nvSpPr>
            <p:spPr/>
            <p:txBody>
              <a:bodyPr/>
              <a:lstStyle/>
              <a:p>
                <a:r>
                  <a:rPr lang="en-US" sz="2100" dirty="0">
                    <a:latin typeface="Aptos Narrow" panose="020B0004020202020204" pitchFamily="34" charset="0"/>
                  </a:rPr>
                  <a:t>The authors revolutionize the </a:t>
                </a:r>
                <a:r>
                  <a:rPr lang="en-US" sz="2100" b="1" dirty="0">
                    <a:latin typeface="Aptos Narrow" panose="020B0004020202020204" pitchFamily="34" charset="0"/>
                  </a:rPr>
                  <a:t>Optimal Control Problem (OCP). </a:t>
                </a:r>
                <a:r>
                  <a:rPr lang="en-US" sz="2100" dirty="0">
                    <a:latin typeface="Aptos Narrow" panose="020B0004020202020204" pitchFamily="34" charset="0"/>
                  </a:rPr>
                  <a:t>Instead of using the classical quadratic cost function, they define a </a:t>
                </a:r>
                <a:r>
                  <a:rPr lang="en-US" sz="2100" b="1" dirty="0">
                    <a:latin typeface="Aptos Narrow" panose="020B0004020202020204" pitchFamily="34" charset="0"/>
                  </a:rPr>
                  <a:t>Loss Function</a:t>
                </a:r>
                <a14:m>
                  <m:oMath xmlns:m="http://schemas.openxmlformats.org/officeDocument/2006/math">
                    <m:r>
                      <a:rPr lang="it-IT" sz="2100" b="1" i="0" smtClean="0">
                        <a:latin typeface="Cambria Math" panose="02040503050406030204" pitchFamily="18" charset="0"/>
                      </a:rPr>
                      <m:t> </m:t>
                    </m:r>
                    <m:r>
                      <a:rPr lang="it-IT" sz="2100" i="1">
                        <a:latin typeface="Cambria Math" panose="02040503050406030204" pitchFamily="18" charset="0"/>
                      </a:rPr>
                      <m:t>𝑔</m:t>
                    </m:r>
                    <m:r>
                      <a:rPr lang="it-IT" sz="2100" i="1">
                        <a:latin typeface="Cambria Math" panose="02040503050406030204" pitchFamily="18" charset="0"/>
                      </a:rPr>
                      <m:t>(</m:t>
                    </m:r>
                    <m:r>
                      <a:rPr lang="it-IT" sz="2100" i="1">
                        <a:latin typeface="Cambria Math" panose="02040503050406030204" pitchFamily="18" charset="0"/>
                      </a:rPr>
                      <m:t>𝑈</m:t>
                    </m:r>
                    <m:r>
                      <a:rPr lang="it-IT" sz="2100" i="1">
                        <a:latin typeface="Cambria Math" panose="02040503050406030204" pitchFamily="18" charset="0"/>
                      </a:rPr>
                      <m:t>,</m:t>
                    </m:r>
                    <m:r>
                      <a:rPr lang="it-IT" sz="2100" i="1">
                        <a:latin typeface="Cambria Math" panose="02040503050406030204" pitchFamily="18" charset="0"/>
                      </a:rPr>
                      <m:t>𝑉</m:t>
                    </m:r>
                    <m:r>
                      <a:rPr lang="it-IT" sz="2100" i="1">
                        <a:latin typeface="Cambria Math" panose="02040503050406030204" pitchFamily="18" charset="0"/>
                      </a:rPr>
                      <m:t>)</m:t>
                    </m:r>
                  </m:oMath>
                </a14:m>
                <a:r>
                  <a:rPr lang="it-IT" sz="2100" dirty="0">
                    <a:latin typeface="Aptos Narrow" panose="020B0004020202020204" pitchFamily="34" charset="0"/>
                  </a:rPr>
                  <a:t> </a:t>
                </a:r>
                <a:r>
                  <a:rPr lang="en-US" sz="2100" dirty="0">
                    <a:latin typeface="Aptos Narrow" panose="020B0004020202020204" pitchFamily="34" charset="0"/>
                  </a:rPr>
                  <a:t> that coincides with our tracking error. </a:t>
                </a:r>
              </a:p>
              <a:p>
                <a:r>
                  <a:rPr lang="en-US" dirty="0">
                    <a:latin typeface="Aptos Narrow" panose="020B0004020202020204" pitchFamily="34" charset="0"/>
                  </a:rPr>
                  <a:t>The Loss Function is presented as </a:t>
                </a:r>
                <a14:m>
                  <m:oMath xmlns:m="http://schemas.openxmlformats.org/officeDocument/2006/math">
                    <m:sSup>
                      <m:sSupPr>
                        <m:ctrlPr>
                          <a:rPr lang="it-IT" i="1"/>
                        </m:ctrlPr>
                      </m:sSupPr>
                      <m:e>
                        <m:r>
                          <a:rPr lang="it-IT" i="1"/>
                          <m:t>𝐽</m:t>
                        </m:r>
                      </m:e>
                      <m:sup>
                        <m:r>
                          <a:rPr lang="it-IT" i="1"/>
                          <m:t>𝑡</m:t>
                        </m:r>
                      </m:sup>
                    </m:sSup>
                    <m:r>
                      <a:rPr lang="it-IT" i="1"/>
                      <m:t>(</m:t>
                    </m:r>
                    <m:r>
                      <a:rPr lang="it-IT" i="1"/>
                      <m:t>𝑘</m:t>
                    </m:r>
                    <m:r>
                      <a:rPr lang="it-IT" i="1"/>
                      <m:t>+</m:t>
                    </m:r>
                    <m:r>
                      <a:rPr lang="it-IT" i="1"/>
                      <m:t>𝑁</m:t>
                    </m:r>
                    <m:r>
                      <a:rPr lang="it-IT" i="1"/>
                      <m:t>|</m:t>
                    </m:r>
                    <m:r>
                      <a:rPr lang="it-IT" i="1"/>
                      <m:t>𝑘</m:t>
                    </m:r>
                    <m:r>
                      <a:rPr lang="it-IT" i="1"/>
                      <m:t>)</m:t>
                    </m:r>
                  </m:oMath>
                </a14:m>
                <a:r>
                  <a:rPr lang="it-IT" dirty="0">
                    <a:latin typeface="Aptos Narrow" panose="020B0004020202020204" pitchFamily="34" charset="0"/>
                  </a:rPr>
                  <a:t>, that is  </a:t>
                </a:r>
                <a14:m>
                  <m:oMath xmlns:m="http://schemas.openxmlformats.org/officeDocument/2006/math">
                    <m:r>
                      <a:rPr lang="it-IT" i="1"/>
                      <m:t>𝐽</m:t>
                    </m:r>
                    <m:r>
                      <a:rPr lang="it-IT" i="1"/>
                      <m:t>(</m:t>
                    </m:r>
                    <m:r>
                      <a:rPr lang="it-IT" i="1"/>
                      <m:t>𝑘</m:t>
                    </m:r>
                    <m:r>
                      <a:rPr lang="it-IT" i="1"/>
                      <m:t>+</m:t>
                    </m:r>
                    <m:r>
                      <a:rPr lang="it-IT" i="1"/>
                      <m:t>𝑁</m:t>
                    </m:r>
                    <m:r>
                      <a:rPr lang="it-IT" i="1"/>
                      <m:t>|</m:t>
                    </m:r>
                    <m:r>
                      <a:rPr lang="it-IT" i="1"/>
                      <m:t>𝑘</m:t>
                    </m:r>
                    <m:r>
                      <a:rPr lang="it-IT" i="1"/>
                      <m:t>)</m:t>
                    </m:r>
                  </m:oMath>
                </a14:m>
                <a:r>
                  <a:rPr lang="it-IT" dirty="0">
                    <a:latin typeface="Aptos Narrow" panose="020B0004020202020204" pitchFamily="34" charset="0"/>
                  </a:rPr>
                  <a:t> </a:t>
                </a:r>
                <a:r>
                  <a:rPr lang="en-US" dirty="0">
                    <a:latin typeface="Aptos Narrow" panose="020B0004020202020204" pitchFamily="34" charset="0"/>
                  </a:rPr>
                  <a:t> when we consider the scenario </a:t>
                </a:r>
                <a14:m>
                  <m:oMath xmlns:m="http://schemas.openxmlformats.org/officeDocument/2006/math">
                    <m:r>
                      <a:rPr lang="it-IT" i="1"/>
                      <m:t>𝑡</m:t>
                    </m:r>
                    <m:r>
                      <a:rPr lang="it-IT" i="1"/>
                      <m:t>∈{1,…,</m:t>
                    </m:r>
                    <m:r>
                      <a:rPr lang="it-IT" i="1"/>
                      <m:t>𝑀</m:t>
                    </m:r>
                    <m:r>
                      <a:rPr lang="it-IT" i="1"/>
                      <m:t>}</m:t>
                    </m:r>
                  </m:oMath>
                </a14:m>
                <a:r>
                  <a:rPr lang="it-IT" dirty="0">
                    <a:latin typeface="Aptos Narrow" panose="020B0004020202020204" pitchFamily="34" charset="0"/>
                  </a:rPr>
                  <a:t>.</a:t>
                </a:r>
              </a:p>
              <a:p>
                <a:endParaRPr lang="it-IT" dirty="0">
                  <a:latin typeface="Aptos Narrow" panose="020B0004020202020204" pitchFamily="34" charset="0"/>
                </a:endParaRPr>
              </a:p>
              <a:p>
                <a:endParaRPr lang="it-IT" dirty="0">
                  <a:latin typeface="Aptos Narrow" panose="020B0004020202020204" pitchFamily="34" charset="0"/>
                </a:endParaRPr>
              </a:p>
              <a:p>
                <a:r>
                  <a:rPr lang="en-US" dirty="0">
                    <a:latin typeface="Aptos Narrow" panose="020B0004020202020204" pitchFamily="34" charset="0"/>
                  </a:rPr>
                  <a:t>Such OCP </a:t>
                </a:r>
                <a:r>
                  <a:rPr lang="en-US" u="sng" dirty="0">
                    <a:latin typeface="Aptos Narrow" panose="020B0004020202020204" pitchFamily="34" charset="0"/>
                  </a:rPr>
                  <a:t>aims</a:t>
                </a:r>
                <a:r>
                  <a:rPr lang="en-US" dirty="0">
                    <a:latin typeface="Aptos Narrow" panose="020B0004020202020204" pitchFamily="34" charset="0"/>
                  </a:rPr>
                  <a:t> to track reference portfolio and minimize transaction costs, using  CVaR which seeks to minimize the value of worst-case scenarios </a:t>
                </a:r>
                <a:r>
                  <a:rPr lang="it-IT" dirty="0">
                    <a:latin typeface="Aptos Narrow" panose="020B0004020202020204" pitchFamily="34" charset="0"/>
                  </a:rPr>
                  <a:t>(</a:t>
                </a:r>
                <a14:m>
                  <m:oMath xmlns:m="http://schemas.openxmlformats.org/officeDocument/2006/math">
                    <m:r>
                      <a:rPr lang="it-IT" i="1"/>
                      <m:t>1−</m:t>
                    </m:r>
                    <m:r>
                      <a:rPr lang="it-IT" i="1"/>
                      <m:t>𝛽</m:t>
                    </m:r>
                  </m:oMath>
                </a14:m>
                <a:r>
                  <a:rPr lang="it-IT" dirty="0">
                    <a:latin typeface="Aptos Narrow" panose="020B0004020202020204" pitchFamily="34" charset="0"/>
                  </a:rPr>
                  <a:t>), </a:t>
                </a:r>
                <a:r>
                  <a:rPr lang="en-US" dirty="0">
                    <a:latin typeface="Aptos Narrow" panose="020B0004020202020204" pitchFamily="34" charset="0"/>
                  </a:rPr>
                  <a:t>that is, those scenarios that exceed the threshold </a:t>
                </a:r>
                <a:r>
                  <a:rPr lang="it-IT" dirty="0">
                    <a:latin typeface="Aptos Narrow" panose="020B0004020202020204" pitchFamily="34" charset="0"/>
                  </a:rPr>
                  <a:t> </a:t>
                </a:r>
                <a:r>
                  <a:rPr lang="it-IT" i="1" dirty="0">
                    <a:latin typeface="Aptos Narrow" panose="020B0004020202020204" pitchFamily="34" charset="0"/>
                  </a:rPr>
                  <a:t>ξ</a:t>
                </a:r>
                <a:r>
                  <a:rPr lang="it-IT" dirty="0">
                    <a:latin typeface="Aptos Narrow" panose="020B0004020202020204" pitchFamily="34" charset="0"/>
                  </a:rPr>
                  <a:t>.</a:t>
                </a:r>
              </a:p>
              <a:p>
                <a:endParaRPr lang="it-IT" dirty="0"/>
              </a:p>
            </p:txBody>
          </p:sp>
        </mc:Choice>
        <mc:Fallback>
          <p:sp>
            <p:nvSpPr>
              <p:cNvPr id="3" name="Segnaposto contenuto 2">
                <a:extLst>
                  <a:ext uri="{FF2B5EF4-FFF2-40B4-BE49-F238E27FC236}">
                    <a16:creationId xmlns:a16="http://schemas.microsoft.com/office/drawing/2014/main" id="{133A531E-5194-F560-8A27-A61A77DBE1DF}"/>
                  </a:ext>
                </a:extLst>
              </p:cNvPr>
              <p:cNvSpPr>
                <a:spLocks noGrp="1" noRot="1" noChangeAspect="1" noMove="1" noResize="1" noEditPoints="1" noAdjustHandles="1" noChangeArrowheads="1" noChangeShapeType="1" noTextEdit="1"/>
              </p:cNvSpPr>
              <p:nvPr>
                <p:ph idx="1"/>
              </p:nvPr>
            </p:nvSpPr>
            <p:spPr>
              <a:blipFill>
                <a:blip r:embed="rId2"/>
                <a:stretch>
                  <a:fillRect l="-515" b="-6366"/>
                </a:stretch>
              </a:blipFill>
            </p:spPr>
            <p:txBody>
              <a:bodyPr/>
              <a:lstStyle/>
              <a:p>
                <a:r>
                  <a:rPr lang="it-IT">
                    <a:noFill/>
                  </a:rPr>
                  <a:t> </a:t>
                </a:r>
              </a:p>
            </p:txBody>
          </p:sp>
        </mc:Fallback>
      </mc:AlternateContent>
    </p:spTree>
    <p:extLst>
      <p:ext uri="{BB962C8B-B14F-4D97-AF65-F5344CB8AC3E}">
        <p14:creationId xmlns:p14="http://schemas.microsoft.com/office/powerpoint/2010/main" val="4090964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7956787-9817-93C9-4849-BBAE93CD5D3F}"/>
              </a:ext>
            </a:extLst>
          </p:cNvPr>
          <p:cNvSpPr>
            <a:spLocks noGrp="1"/>
          </p:cNvSpPr>
          <p:nvPr>
            <p:ph type="title"/>
          </p:nvPr>
        </p:nvSpPr>
        <p:spPr/>
        <p:txBody>
          <a:bodyPr/>
          <a:lstStyle/>
          <a:p>
            <a:r>
              <a:rPr lang="it-IT" dirty="0">
                <a:latin typeface="Aptos Narrow" panose="020B0004020202020204" pitchFamily="34" charset="0"/>
              </a:rPr>
              <a:t>MPC STANDARD vs MPC with </a:t>
            </a:r>
            <a:r>
              <a:rPr lang="it-IT" dirty="0" err="1">
                <a:latin typeface="Aptos Narrow" panose="020B0004020202020204" pitchFamily="34" charset="0"/>
              </a:rPr>
              <a:t>CVaR</a:t>
            </a:r>
            <a:endParaRPr lang="it-IT" dirty="0">
              <a:latin typeface="Aptos Narrow" panose="020B0004020202020204" pitchFamily="34" charset="0"/>
            </a:endParaRPr>
          </a:p>
        </p:txBody>
      </p:sp>
      <p:graphicFrame>
        <p:nvGraphicFramePr>
          <p:cNvPr id="5" name="Segnaposto contenuto 2">
            <a:extLst>
              <a:ext uri="{FF2B5EF4-FFF2-40B4-BE49-F238E27FC236}">
                <a16:creationId xmlns:a16="http://schemas.microsoft.com/office/drawing/2014/main" id="{78DC367A-C637-8352-7306-E2B93DC49045}"/>
              </a:ext>
            </a:extLst>
          </p:cNvPr>
          <p:cNvGraphicFramePr>
            <a:graphicFrameLocks noGrp="1"/>
          </p:cNvGraphicFramePr>
          <p:nvPr>
            <p:ph idx="1"/>
            <p:extLst>
              <p:ext uri="{D42A27DB-BD31-4B8C-83A1-F6EECF244321}">
                <p14:modId xmlns:p14="http://schemas.microsoft.com/office/powerpoint/2010/main" val="4003103014"/>
              </p:ext>
            </p:extLst>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181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B907D5-1B6C-D2A8-5DC3-9391B41BDDEE}"/>
              </a:ext>
            </a:extLst>
          </p:cNvPr>
          <p:cNvSpPr>
            <a:spLocks noGrp="1"/>
          </p:cNvSpPr>
          <p:nvPr>
            <p:ph type="title"/>
          </p:nvPr>
        </p:nvSpPr>
        <p:spPr/>
        <p:txBody>
          <a:bodyPr/>
          <a:lstStyle/>
          <a:p>
            <a:r>
              <a:rPr lang="it-IT" dirty="0">
                <a:latin typeface="Aptos Narrow" panose="020B0004020202020204" pitchFamily="34" charset="0"/>
              </a:rPr>
              <a:t>NUMERICAL EXPERIMENTS - INTRODUCTION</a:t>
            </a:r>
            <a:br>
              <a:rPr lang="it-IT" dirty="0"/>
            </a:br>
            <a:endParaRPr lang="it-IT" dirty="0"/>
          </a:p>
        </p:txBody>
      </p:sp>
      <p:graphicFrame>
        <p:nvGraphicFramePr>
          <p:cNvPr id="5" name="Segnaposto contenuto 2">
            <a:extLst>
              <a:ext uri="{FF2B5EF4-FFF2-40B4-BE49-F238E27FC236}">
                <a16:creationId xmlns:a16="http://schemas.microsoft.com/office/drawing/2014/main" id="{D366E3DD-BBB1-3A61-2E4F-542F0B4C11F2}"/>
              </a:ext>
            </a:extLst>
          </p:cNvPr>
          <p:cNvGraphicFramePr>
            <a:graphicFrameLocks noGrp="1"/>
          </p:cNvGraphicFramePr>
          <p:nvPr>
            <p:ph idx="1"/>
            <p:extLst>
              <p:ext uri="{D42A27DB-BD31-4B8C-83A1-F6EECF244321}">
                <p14:modId xmlns:p14="http://schemas.microsoft.com/office/powerpoint/2010/main" val="250664974"/>
              </p:ext>
            </p:extLst>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9428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A401EFD-4A6E-CA97-7CE5-6E0E5CF9F778}"/>
              </a:ext>
            </a:extLst>
          </p:cNvPr>
          <p:cNvSpPr>
            <a:spLocks noGrp="1"/>
          </p:cNvSpPr>
          <p:nvPr>
            <p:ph type="title"/>
          </p:nvPr>
        </p:nvSpPr>
        <p:spPr/>
        <p:txBody>
          <a:bodyPr/>
          <a:lstStyle/>
          <a:p>
            <a:r>
              <a:rPr lang="it-IT" dirty="0">
                <a:latin typeface="Aptos Narrow" panose="020B0004020202020204" pitchFamily="34" charset="0"/>
              </a:rPr>
              <a:t>DATASET</a:t>
            </a:r>
          </a:p>
        </p:txBody>
      </p:sp>
      <p:sp>
        <p:nvSpPr>
          <p:cNvPr id="3" name="Segnaposto contenuto 2">
            <a:extLst>
              <a:ext uri="{FF2B5EF4-FFF2-40B4-BE49-F238E27FC236}">
                <a16:creationId xmlns:a16="http://schemas.microsoft.com/office/drawing/2014/main" id="{0D2DBDC8-5BAE-8A30-F3A1-E31ABF828E76}"/>
              </a:ext>
            </a:extLst>
          </p:cNvPr>
          <p:cNvSpPr>
            <a:spLocks noGrp="1"/>
          </p:cNvSpPr>
          <p:nvPr>
            <p:ph idx="1"/>
          </p:nvPr>
        </p:nvSpPr>
        <p:spPr/>
        <p:txBody>
          <a:bodyPr/>
          <a:lstStyle/>
          <a:p>
            <a:r>
              <a:rPr lang="en-US" dirty="0">
                <a:latin typeface="Aptos Narrow" panose="020B0004020202020204" pitchFamily="34" charset="0"/>
              </a:rPr>
              <a:t>As specified by the authors, the study proposed in the paper selects a portfolio capable of ensuring </a:t>
            </a:r>
            <a:r>
              <a:rPr lang="en-US" b="1" dirty="0">
                <a:latin typeface="Aptos Narrow" panose="020B0004020202020204" pitchFamily="34" charset="0"/>
              </a:rPr>
              <a:t>high liquidity </a:t>
            </a:r>
            <a:r>
              <a:rPr lang="en-US" dirty="0">
                <a:latin typeface="Aptos Narrow" panose="020B0004020202020204" pitchFamily="34" charset="0"/>
              </a:rPr>
              <a:t>and broad sectoral diversification, to best describe the economic trend of the Brazilian Stock Exchange.</a:t>
            </a:r>
          </a:p>
          <a:p>
            <a:endParaRPr lang="en-US" dirty="0">
              <a:latin typeface="Aptos Narrow" panose="020B0004020202020204" pitchFamily="34" charset="0"/>
            </a:endParaRPr>
          </a:p>
          <a:p>
            <a:r>
              <a:rPr lang="en-US" dirty="0">
                <a:latin typeface="Aptos Narrow" panose="020B0004020202020204" pitchFamily="34" charset="0"/>
              </a:rPr>
              <a:t>Since stocks are bought and sold millions of times a day, they allow the algorithm to perform the operations necessary for the continuous rebalancing of the portfolio</a:t>
            </a:r>
          </a:p>
        </p:txBody>
      </p:sp>
    </p:spTree>
    <p:extLst>
      <p:ext uri="{BB962C8B-B14F-4D97-AF65-F5344CB8AC3E}">
        <p14:creationId xmlns:p14="http://schemas.microsoft.com/office/powerpoint/2010/main" val="2285658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1911F94-A03C-10B4-4D27-A0A3500D74BE}"/>
              </a:ext>
            </a:extLst>
          </p:cNvPr>
          <p:cNvSpPr>
            <a:spLocks noGrp="1"/>
          </p:cNvSpPr>
          <p:nvPr>
            <p:ph type="title"/>
          </p:nvPr>
        </p:nvSpPr>
        <p:spPr/>
        <p:txBody>
          <a:bodyPr/>
          <a:lstStyle/>
          <a:p>
            <a:r>
              <a:rPr lang="it-IT" dirty="0">
                <a:latin typeface="Aptos Narrow" panose="020B0004020202020204" pitchFamily="34" charset="0"/>
              </a:rPr>
              <a:t>TICKER SYMBOL</a:t>
            </a:r>
          </a:p>
        </p:txBody>
      </p:sp>
      <p:sp>
        <p:nvSpPr>
          <p:cNvPr id="3" name="Segnaposto contenuto 2">
            <a:extLst>
              <a:ext uri="{FF2B5EF4-FFF2-40B4-BE49-F238E27FC236}">
                <a16:creationId xmlns:a16="http://schemas.microsoft.com/office/drawing/2014/main" id="{F258B805-63D8-1131-4DA7-8EE4017C8695}"/>
              </a:ext>
            </a:extLst>
          </p:cNvPr>
          <p:cNvSpPr>
            <a:spLocks noGrp="1"/>
          </p:cNvSpPr>
          <p:nvPr>
            <p:ph idx="1"/>
          </p:nvPr>
        </p:nvSpPr>
        <p:spPr/>
        <p:txBody>
          <a:bodyPr>
            <a:normAutofit/>
          </a:bodyPr>
          <a:lstStyle/>
          <a:p>
            <a:pPr marL="0" indent="0">
              <a:buNone/>
            </a:pPr>
            <a:r>
              <a:rPr lang="en-US" dirty="0">
                <a:latin typeface="Aptos Narrow" panose="020B0004020202020204" pitchFamily="34" charset="0"/>
              </a:rPr>
              <a:t>During the data extraction phase, we changed two assets mentioned in the original paper for the following reasons:</a:t>
            </a:r>
          </a:p>
          <a:p>
            <a:r>
              <a:rPr lang="en-US" b="1" dirty="0">
                <a:latin typeface="Aptos Narrow" panose="020B0004020202020204" pitchFamily="34" charset="0"/>
              </a:rPr>
              <a:t>LAME3</a:t>
            </a:r>
            <a:r>
              <a:rPr lang="en-US" dirty="0">
                <a:latin typeface="Aptos Narrow" panose="020B0004020202020204" pitchFamily="34" charset="0"/>
              </a:rPr>
              <a:t>: suffered an accounting default and corporate reorganization in 2023, events that corrupted historical data on major free databases</a:t>
            </a:r>
          </a:p>
          <a:p>
            <a:r>
              <a:rPr lang="en-US" b="1" dirty="0">
                <a:latin typeface="Aptos Narrow" panose="020B0004020202020204" pitchFamily="34" charset="0"/>
              </a:rPr>
              <a:t>JBSS3</a:t>
            </a:r>
            <a:r>
              <a:rPr lang="en-US" dirty="0">
                <a:latin typeface="Aptos Narrow" panose="020B0004020202020204" pitchFamily="34" charset="0"/>
              </a:rPr>
              <a:t>: Major free databases showed its respective American «clone», thus presenting inconsistencies regarding Brazilian currency and holidays</a:t>
            </a:r>
          </a:p>
          <a:p>
            <a:pPr marL="0" indent="0">
              <a:buNone/>
            </a:pPr>
            <a:endParaRPr lang="en-US" dirty="0">
              <a:latin typeface="Aptos Narrow" panose="020B0004020202020204" pitchFamily="34" charset="0"/>
            </a:endParaRPr>
          </a:p>
          <a:p>
            <a:pPr marL="0" indent="0">
              <a:buNone/>
            </a:pPr>
            <a:r>
              <a:rPr lang="en-US" dirty="0">
                <a:latin typeface="Aptos Narrow" panose="020B0004020202020204" pitchFamily="34" charset="0"/>
              </a:rPr>
              <a:t>In order to maintain the integrity of the numerical test, the two assets were replaced with </a:t>
            </a:r>
            <a:r>
              <a:rPr lang="en-US" b="1" dirty="0">
                <a:latin typeface="Aptos Narrow" panose="020B0004020202020204" pitchFamily="34" charset="0"/>
              </a:rPr>
              <a:t>ABEV3</a:t>
            </a:r>
            <a:r>
              <a:rPr lang="en-US" dirty="0">
                <a:latin typeface="Aptos Narrow" panose="020B0004020202020204" pitchFamily="34" charset="0"/>
              </a:rPr>
              <a:t> and </a:t>
            </a:r>
            <a:r>
              <a:rPr lang="en-US" b="1" dirty="0">
                <a:latin typeface="Aptos Narrow" panose="020B0004020202020204" pitchFamily="34" charset="0"/>
              </a:rPr>
              <a:t>ITSA4</a:t>
            </a:r>
            <a:r>
              <a:rPr lang="en-US" dirty="0">
                <a:latin typeface="Aptos Narrow" panose="020B0004020202020204" pitchFamily="34" charset="0"/>
              </a:rPr>
              <a:t>, also highly liquid assets representative of the Brazilian market.</a:t>
            </a:r>
          </a:p>
          <a:p>
            <a:endParaRPr lang="it-IT" dirty="0"/>
          </a:p>
        </p:txBody>
      </p:sp>
    </p:spTree>
    <p:extLst>
      <p:ext uri="{BB962C8B-B14F-4D97-AF65-F5344CB8AC3E}">
        <p14:creationId xmlns:p14="http://schemas.microsoft.com/office/powerpoint/2010/main" val="831613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4912999-B3DB-705E-F8F0-4306878441DA}"/>
              </a:ext>
            </a:extLst>
          </p:cNvPr>
          <p:cNvSpPr>
            <a:spLocks noGrp="1"/>
          </p:cNvSpPr>
          <p:nvPr>
            <p:ph type="title"/>
          </p:nvPr>
        </p:nvSpPr>
        <p:spPr/>
        <p:txBody>
          <a:bodyPr/>
          <a:lstStyle/>
          <a:p>
            <a:r>
              <a:rPr lang="it-IT" dirty="0">
                <a:latin typeface="Aptos Narrow" panose="020B0004020202020204" pitchFamily="34" charset="0"/>
              </a:rPr>
              <a:t>PERIOD EXAMINED</a:t>
            </a:r>
          </a:p>
        </p:txBody>
      </p:sp>
      <p:sp>
        <p:nvSpPr>
          <p:cNvPr id="3" name="Segnaposto contenuto 2">
            <a:extLst>
              <a:ext uri="{FF2B5EF4-FFF2-40B4-BE49-F238E27FC236}">
                <a16:creationId xmlns:a16="http://schemas.microsoft.com/office/drawing/2014/main" id="{EBB37B48-3EAC-623E-20CE-C4DCE8C2CED2}"/>
              </a:ext>
            </a:extLst>
          </p:cNvPr>
          <p:cNvSpPr>
            <a:spLocks noGrp="1"/>
          </p:cNvSpPr>
          <p:nvPr>
            <p:ph idx="1"/>
          </p:nvPr>
        </p:nvSpPr>
        <p:spPr/>
        <p:txBody>
          <a:bodyPr>
            <a:normAutofit/>
          </a:bodyPr>
          <a:lstStyle/>
          <a:p>
            <a:pPr marL="0" indent="0">
              <a:buNone/>
            </a:pPr>
            <a:r>
              <a:rPr lang="en-US" dirty="0">
                <a:latin typeface="Aptos Narrow" panose="020B0004020202020204" pitchFamily="34" charset="0"/>
              </a:rPr>
              <a:t>To evaluate the proposed strategies, the authors consider a dataset on daily prices in the period from 2011 to 2021, characterized by:</a:t>
            </a:r>
          </a:p>
          <a:p>
            <a:r>
              <a:rPr lang="en-US" dirty="0">
                <a:latin typeface="Aptos Narrow" panose="020B0004020202020204" pitchFamily="34" charset="0"/>
              </a:rPr>
              <a:t>periods without significant events</a:t>
            </a:r>
          </a:p>
          <a:p>
            <a:r>
              <a:rPr lang="en-US" dirty="0">
                <a:latin typeface="Aptos Narrow" panose="020B0004020202020204" pitchFamily="34" charset="0"/>
              </a:rPr>
              <a:t>periods of bull market, with predominantly growth trends</a:t>
            </a:r>
          </a:p>
          <a:p>
            <a:r>
              <a:rPr lang="en-US" dirty="0">
                <a:latin typeface="Aptos Narrow" panose="020B0004020202020204" pitchFamily="34" charset="0"/>
              </a:rPr>
              <a:t>an atypical year, 2020 with high instability and uncertainty due to the COVID-19 pandemic</a:t>
            </a:r>
          </a:p>
          <a:p>
            <a:r>
              <a:rPr lang="en-US" dirty="0">
                <a:latin typeface="Aptos Narrow" panose="020B0004020202020204" pitchFamily="34" charset="0"/>
              </a:rPr>
              <a:t>a notable recovery in 2021</a:t>
            </a:r>
          </a:p>
          <a:p>
            <a:pPr marL="0" indent="0">
              <a:buNone/>
            </a:pPr>
            <a:endParaRPr lang="en-US" dirty="0">
              <a:latin typeface="Aptos Narrow" panose="020B0004020202020204" pitchFamily="34" charset="0"/>
            </a:endParaRPr>
          </a:p>
          <a:p>
            <a:pPr marL="0" indent="0">
              <a:buNone/>
            </a:pPr>
            <a:r>
              <a:rPr lang="en-US" dirty="0">
                <a:latin typeface="Aptos Narrow" panose="020B0004020202020204" pitchFamily="34" charset="0"/>
              </a:rPr>
              <a:t>We obtained this data from the free platform </a:t>
            </a:r>
            <a:r>
              <a:rPr lang="en-US" dirty="0">
                <a:latin typeface="Cascadia Code ExtraLight" panose="020B0609020000020004" pitchFamily="49" charset="0"/>
                <a:ea typeface="Cascadia Code ExtraLight" panose="020B0609020000020004" pitchFamily="49" charset="0"/>
                <a:cs typeface="Cascadia Code ExtraLight" panose="020B0609020000020004" pitchFamily="49" charset="0"/>
              </a:rPr>
              <a:t>Investing.com</a:t>
            </a:r>
          </a:p>
        </p:txBody>
      </p:sp>
    </p:spTree>
    <p:extLst>
      <p:ext uri="{BB962C8B-B14F-4D97-AF65-F5344CB8AC3E}">
        <p14:creationId xmlns:p14="http://schemas.microsoft.com/office/powerpoint/2010/main" val="3465986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C7A0A8-3299-7295-8219-76FF57D10F65}"/>
              </a:ext>
            </a:extLst>
          </p:cNvPr>
          <p:cNvSpPr>
            <a:spLocks noGrp="1"/>
          </p:cNvSpPr>
          <p:nvPr>
            <p:ph type="title"/>
          </p:nvPr>
        </p:nvSpPr>
        <p:spPr/>
        <p:txBody>
          <a:bodyPr/>
          <a:lstStyle/>
          <a:p>
            <a:r>
              <a:rPr lang="it-IT" dirty="0">
                <a:latin typeface="Aptos Narrow" panose="020B0004020202020204" pitchFamily="34" charset="0"/>
              </a:rPr>
              <a:t>SELIC RATE</a:t>
            </a:r>
          </a:p>
        </p:txBody>
      </p:sp>
      <p:graphicFrame>
        <p:nvGraphicFramePr>
          <p:cNvPr id="5" name="Segnaposto contenuto 2">
            <a:extLst>
              <a:ext uri="{FF2B5EF4-FFF2-40B4-BE49-F238E27FC236}">
                <a16:creationId xmlns:a16="http://schemas.microsoft.com/office/drawing/2014/main" id="{1EB55D31-A9A5-6F9A-29C3-86E669A35F7C}"/>
              </a:ext>
            </a:extLst>
          </p:cNvPr>
          <p:cNvGraphicFramePr>
            <a:graphicFrameLocks noGrp="1"/>
          </p:cNvGraphicFramePr>
          <p:nvPr>
            <p:ph idx="1"/>
            <p:extLst>
              <p:ext uri="{D42A27DB-BD31-4B8C-83A1-F6EECF244321}">
                <p14:modId xmlns:p14="http://schemas.microsoft.com/office/powerpoint/2010/main" val="1667714932"/>
              </p:ext>
            </p:extLst>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2413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E88813-3D2E-58C6-C0CF-5E95BB95055E}"/>
              </a:ext>
            </a:extLst>
          </p:cNvPr>
          <p:cNvSpPr>
            <a:spLocks noGrp="1"/>
          </p:cNvSpPr>
          <p:nvPr>
            <p:ph type="title"/>
          </p:nvPr>
        </p:nvSpPr>
        <p:spPr/>
        <p:txBody>
          <a:bodyPr/>
          <a:lstStyle/>
          <a:p>
            <a:r>
              <a:rPr lang="it-IT" dirty="0">
                <a:latin typeface="Aptos Narrow" panose="020B0004020202020204" pitchFamily="34" charset="0"/>
              </a:rPr>
              <a:t>FPH-MPC vs VPH-MPC</a:t>
            </a:r>
          </a:p>
        </p:txBody>
      </p:sp>
      <p:sp>
        <p:nvSpPr>
          <p:cNvPr id="3" name="Segnaposto contenuto 2">
            <a:extLst>
              <a:ext uri="{FF2B5EF4-FFF2-40B4-BE49-F238E27FC236}">
                <a16:creationId xmlns:a16="http://schemas.microsoft.com/office/drawing/2014/main" id="{D8575EED-3004-5919-1132-7BF1B6FBBF35}"/>
              </a:ext>
            </a:extLst>
          </p:cNvPr>
          <p:cNvSpPr>
            <a:spLocks noGrp="1"/>
          </p:cNvSpPr>
          <p:nvPr>
            <p:ph idx="1"/>
          </p:nvPr>
        </p:nvSpPr>
        <p:spPr/>
        <p:txBody>
          <a:bodyPr/>
          <a:lstStyle/>
          <a:p>
            <a:pPr marL="0" indent="0">
              <a:buNone/>
            </a:pPr>
            <a:r>
              <a:rPr lang="en-US" dirty="0">
                <a:latin typeface="Aptos Narrow" panose="020B0004020202020204" pitchFamily="34" charset="0"/>
              </a:rPr>
              <a:t>In the paper, the authors implement two different versions of </a:t>
            </a:r>
            <a:r>
              <a:rPr lang="en-US" b="1" dirty="0">
                <a:latin typeface="Aptos Narrow" panose="020B0004020202020204" pitchFamily="34" charset="0"/>
              </a:rPr>
              <a:t>OCP (Tracking MPC Standard) </a:t>
            </a:r>
            <a:r>
              <a:rPr lang="en-US" dirty="0">
                <a:latin typeface="Aptos Narrow" panose="020B0004020202020204" pitchFamily="34" charset="0"/>
              </a:rPr>
              <a:t>to study the effect of varying the length of the prediction horizon:</a:t>
            </a:r>
          </a:p>
          <a:p>
            <a:pPr marL="0" indent="0">
              <a:buNone/>
            </a:pPr>
            <a:endParaRPr lang="en-US" dirty="0">
              <a:latin typeface="Aptos Narrow" panose="020B0004020202020204" pitchFamily="34" charset="0"/>
            </a:endParaRPr>
          </a:p>
          <a:p>
            <a:r>
              <a:rPr lang="en-US" b="1" dirty="0">
                <a:latin typeface="Aptos Narrow" panose="020B0004020202020204" pitchFamily="34" charset="0"/>
              </a:rPr>
              <a:t>FPH-MPC</a:t>
            </a:r>
            <a:r>
              <a:rPr lang="en-US" dirty="0">
                <a:latin typeface="Aptos Narrow" panose="020B0004020202020204" pitchFamily="34" charset="0"/>
              </a:rPr>
              <a:t>: MPC is implemented in a classical manner, with a fixed prediction horizon throughout the optimization process. </a:t>
            </a:r>
          </a:p>
          <a:p>
            <a:pPr marL="0" indent="0">
              <a:buNone/>
            </a:pPr>
            <a:endParaRPr lang="en-US" dirty="0">
              <a:latin typeface="Aptos Narrow" panose="020B0004020202020204" pitchFamily="34" charset="0"/>
            </a:endParaRPr>
          </a:p>
          <a:p>
            <a:r>
              <a:rPr lang="en-US" b="1" dirty="0">
                <a:latin typeface="Aptos Narrow" panose="020B0004020202020204" pitchFamily="34" charset="0"/>
              </a:rPr>
              <a:t>VPH-MPC</a:t>
            </a:r>
            <a:r>
              <a:rPr lang="en-US" dirty="0">
                <a:latin typeface="Aptos Narrow" panose="020B0004020202020204" pitchFamily="34" charset="0"/>
              </a:rPr>
              <a:t>: At each stage, the model is evolved by considering all the length values of the prediction horizon from which the one that will provide the minimum value of the objective function will be selected</a:t>
            </a:r>
          </a:p>
        </p:txBody>
      </p:sp>
    </p:spTree>
    <p:extLst>
      <p:ext uri="{BB962C8B-B14F-4D97-AF65-F5344CB8AC3E}">
        <p14:creationId xmlns:p14="http://schemas.microsoft.com/office/powerpoint/2010/main" val="501498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9CE4F2-38BE-BFAF-5D34-957ABDDE8B6F}"/>
              </a:ext>
            </a:extLst>
          </p:cNvPr>
          <p:cNvSpPr>
            <a:spLocks noGrp="1"/>
          </p:cNvSpPr>
          <p:nvPr>
            <p:ph type="title"/>
          </p:nvPr>
        </p:nvSpPr>
        <p:spPr/>
        <p:txBody>
          <a:bodyPr/>
          <a:lstStyle/>
          <a:p>
            <a:r>
              <a:rPr lang="it-IT" dirty="0">
                <a:latin typeface="Aptos Narrow" panose="020B0004020202020204" pitchFamily="34" charset="0"/>
              </a:rPr>
              <a:t>PREMISE </a:t>
            </a:r>
          </a:p>
        </p:txBody>
      </p:sp>
      <p:sp>
        <p:nvSpPr>
          <p:cNvPr id="3" name="Segnaposto contenuto 2">
            <a:extLst>
              <a:ext uri="{FF2B5EF4-FFF2-40B4-BE49-F238E27FC236}">
                <a16:creationId xmlns:a16="http://schemas.microsoft.com/office/drawing/2014/main" id="{3C55E0B1-41B1-2263-23A1-BACF876274C1}"/>
              </a:ext>
            </a:extLst>
          </p:cNvPr>
          <p:cNvSpPr>
            <a:spLocks noGrp="1"/>
          </p:cNvSpPr>
          <p:nvPr>
            <p:ph idx="1"/>
          </p:nvPr>
        </p:nvSpPr>
        <p:spPr/>
        <p:txBody>
          <a:bodyPr/>
          <a:lstStyle/>
          <a:p>
            <a:r>
              <a:rPr lang="en-US" dirty="0">
                <a:latin typeface="Aptos Narrow" panose="020B0004020202020204" pitchFamily="34" charset="0"/>
              </a:rPr>
              <a:t>The paper uses a dataset of 2726 working days, and the complexity of the MPC increases exponentially as the predictive horizon increases. These factors prompted us to limit our simulation to </a:t>
            </a:r>
            <a:r>
              <a:rPr lang="en-US" b="1" dirty="0">
                <a:latin typeface="Aptos Narrow" panose="020B0004020202020204" pitchFamily="34" charset="0"/>
              </a:rPr>
              <a:t>100 working days</a:t>
            </a:r>
            <a:r>
              <a:rPr lang="en-US" dirty="0">
                <a:latin typeface="Aptos Narrow" panose="020B0004020202020204" pitchFamily="34" charset="0"/>
              </a:rPr>
              <a:t>, in order to test the paper results.</a:t>
            </a:r>
          </a:p>
          <a:p>
            <a:endParaRPr lang="en-US" dirty="0">
              <a:latin typeface="Aptos Narrow" panose="020B0004020202020204" pitchFamily="34" charset="0"/>
            </a:endParaRPr>
          </a:p>
          <a:p>
            <a:r>
              <a:rPr lang="en-US" dirty="0">
                <a:latin typeface="Aptos Narrow" panose="020B0004020202020204" pitchFamily="34" charset="0"/>
              </a:rPr>
              <a:t>Our approach, however, will allow us to verify the convergence of the optimizer and the correct functioning of the dynamic constraints through comparison with the graphs obtained by the authors</a:t>
            </a:r>
          </a:p>
        </p:txBody>
      </p:sp>
    </p:spTree>
    <p:extLst>
      <p:ext uri="{BB962C8B-B14F-4D97-AF65-F5344CB8AC3E}">
        <p14:creationId xmlns:p14="http://schemas.microsoft.com/office/powerpoint/2010/main" val="2057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A9F69193-00C7-AA3E-F9D1-A84AC660FE4A}"/>
              </a:ext>
            </a:extLst>
          </p:cNvPr>
          <p:cNvSpPr>
            <a:spLocks noGrp="1"/>
          </p:cNvSpPr>
          <p:nvPr>
            <p:ph type="title"/>
          </p:nvPr>
        </p:nvSpPr>
        <p:spPr>
          <a:xfrm>
            <a:off x="612648" y="1469134"/>
            <a:ext cx="4621553" cy="759146"/>
          </a:xfrm>
        </p:spPr>
        <p:txBody>
          <a:bodyPr anchor="b">
            <a:normAutofit/>
          </a:bodyPr>
          <a:lstStyle/>
          <a:p>
            <a:r>
              <a:rPr lang="it-IT" dirty="0">
                <a:latin typeface="Aptos Narrow" panose="020B0004020202020204" pitchFamily="34" charset="0"/>
              </a:rPr>
              <a:t>RESULT 1</a:t>
            </a:r>
          </a:p>
        </p:txBody>
      </p:sp>
      <p:sp>
        <p:nvSpPr>
          <p:cNvPr id="6" name="Segnaposto contenuto 5">
            <a:extLst>
              <a:ext uri="{FF2B5EF4-FFF2-40B4-BE49-F238E27FC236}">
                <a16:creationId xmlns:a16="http://schemas.microsoft.com/office/drawing/2014/main" id="{D9DCEF6B-3FE0-0775-F12F-7FFE519EB9A1}"/>
              </a:ext>
            </a:extLst>
          </p:cNvPr>
          <p:cNvSpPr>
            <a:spLocks noGrp="1"/>
          </p:cNvSpPr>
          <p:nvPr>
            <p:ph idx="1"/>
          </p:nvPr>
        </p:nvSpPr>
        <p:spPr>
          <a:xfrm>
            <a:off x="612648" y="2584058"/>
            <a:ext cx="4621553" cy="3159018"/>
          </a:xfrm>
        </p:spPr>
        <p:txBody>
          <a:bodyPr>
            <a:normAutofit/>
          </a:bodyPr>
          <a:lstStyle/>
          <a:p>
            <a:pPr marL="0" indent="0">
              <a:buNone/>
            </a:pPr>
            <a:r>
              <a:rPr lang="en-US" sz="2100" dirty="0">
                <a:latin typeface="Aptos Narrow" panose="020B0004020202020204" pitchFamily="34" charset="0"/>
              </a:rPr>
              <a:t>This graph allows us to show the </a:t>
            </a:r>
            <a:r>
              <a:rPr lang="en-US" sz="2100" b="1" dirty="0">
                <a:latin typeface="Aptos Narrow" panose="020B0004020202020204" pitchFamily="34" charset="0"/>
              </a:rPr>
              <a:t>execution time </a:t>
            </a:r>
            <a:r>
              <a:rPr lang="en-US" sz="2100" dirty="0">
                <a:latin typeface="Aptos Narrow" panose="020B0004020202020204" pitchFamily="34" charset="0"/>
              </a:rPr>
              <a:t>as a function of the length of the prediction horizon N for the two variants of the algorithm: FPH-MPC and VPH-MPC</a:t>
            </a:r>
          </a:p>
        </p:txBody>
      </p:sp>
      <p:pic>
        <p:nvPicPr>
          <p:cNvPr id="8" name="Immagine 7" descr="Immagine che contiene testo, linea, Diagramma, diagramma&#10;&#10;Il contenuto generato dall'IA potrebbe non essere corretto.">
            <a:extLst>
              <a:ext uri="{FF2B5EF4-FFF2-40B4-BE49-F238E27FC236}">
                <a16:creationId xmlns:a16="http://schemas.microsoft.com/office/drawing/2014/main" id="{A9148110-8630-0154-C2A9-1DD0F87D436D}"/>
              </a:ext>
            </a:extLst>
          </p:cNvPr>
          <p:cNvPicPr>
            <a:picLocks noChangeAspect="1"/>
          </p:cNvPicPr>
          <p:nvPr/>
        </p:nvPicPr>
        <p:blipFill>
          <a:blip r:embed="rId2"/>
          <a:stretch>
            <a:fillRect/>
          </a:stretch>
        </p:blipFill>
        <p:spPr>
          <a:xfrm>
            <a:off x="5691260" y="1299412"/>
            <a:ext cx="6548815" cy="4443664"/>
          </a:xfrm>
          <a:prstGeom prst="rect">
            <a:avLst/>
          </a:prstGeom>
        </p:spPr>
      </p:pic>
    </p:spTree>
    <p:extLst>
      <p:ext uri="{BB962C8B-B14F-4D97-AF65-F5344CB8AC3E}">
        <p14:creationId xmlns:p14="http://schemas.microsoft.com/office/powerpoint/2010/main" val="3118065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C25D940-E388-AD08-34E3-67300FF15F14}"/>
              </a:ext>
            </a:extLst>
          </p:cNvPr>
          <p:cNvSpPr>
            <a:spLocks noGrp="1"/>
          </p:cNvSpPr>
          <p:nvPr>
            <p:ph type="title"/>
          </p:nvPr>
        </p:nvSpPr>
        <p:spPr/>
        <p:txBody>
          <a:bodyPr/>
          <a:lstStyle/>
          <a:p>
            <a:r>
              <a:rPr lang="it-IT" dirty="0">
                <a:latin typeface="Aptos Narrow" panose="020B0004020202020204" pitchFamily="34" charset="0"/>
              </a:rPr>
              <a:t>RESULT 1 - COMMENT</a:t>
            </a:r>
          </a:p>
        </p:txBody>
      </p:sp>
      <p:sp>
        <p:nvSpPr>
          <p:cNvPr id="3" name="Segnaposto contenuto 2">
            <a:extLst>
              <a:ext uri="{FF2B5EF4-FFF2-40B4-BE49-F238E27FC236}">
                <a16:creationId xmlns:a16="http://schemas.microsoft.com/office/drawing/2014/main" id="{841439C0-7B47-2356-F0C9-B6E9FCA06898}"/>
              </a:ext>
            </a:extLst>
          </p:cNvPr>
          <p:cNvSpPr>
            <a:spLocks noGrp="1"/>
          </p:cNvSpPr>
          <p:nvPr>
            <p:ph idx="1"/>
          </p:nvPr>
        </p:nvSpPr>
        <p:spPr/>
        <p:txBody>
          <a:bodyPr/>
          <a:lstStyle/>
          <a:p>
            <a:r>
              <a:rPr lang="en-US" dirty="0">
                <a:latin typeface="Aptos Narrow" panose="020B0004020202020204" pitchFamily="34" charset="0"/>
              </a:rPr>
              <a:t>The graph demonstrates a key concept of MPC: as the prediction horizon N increases, the computational cost (execution time) </a:t>
            </a:r>
            <a:r>
              <a:rPr lang="en-US" b="1" dirty="0">
                <a:latin typeface="Aptos Narrow" panose="020B0004020202020204" pitchFamily="34" charset="0"/>
              </a:rPr>
              <a:t>grows exponentially</a:t>
            </a:r>
          </a:p>
          <a:p>
            <a:r>
              <a:rPr lang="en-US" dirty="0">
                <a:latin typeface="Aptos Narrow" panose="020B0004020202020204" pitchFamily="34" charset="0"/>
              </a:rPr>
              <a:t>In </a:t>
            </a:r>
            <a:r>
              <a:rPr lang="en-US" b="1" dirty="0">
                <a:latin typeface="Aptos Narrow" panose="020B0004020202020204" pitchFamily="34" charset="0"/>
              </a:rPr>
              <a:t>VPH-MPC</a:t>
            </a:r>
            <a:r>
              <a:rPr lang="en-US" dirty="0">
                <a:latin typeface="Aptos Narrow" panose="020B0004020202020204" pitchFamily="34" charset="0"/>
              </a:rPr>
              <a:t>, the algorithm evaluates all horizons at each iteration and chooses the one with the lowest cost. </a:t>
            </a:r>
          </a:p>
          <a:p>
            <a:r>
              <a:rPr lang="en-US" dirty="0">
                <a:latin typeface="Aptos Narrow" panose="020B0004020202020204" pitchFamily="34" charset="0"/>
              </a:rPr>
              <a:t>The time plotted for the VPH in Figure 1 represents the time spent evaluating the specific horizon along the entire simulation</a:t>
            </a:r>
          </a:p>
        </p:txBody>
      </p:sp>
    </p:spTree>
    <p:extLst>
      <p:ext uri="{BB962C8B-B14F-4D97-AF65-F5344CB8AC3E}">
        <p14:creationId xmlns:p14="http://schemas.microsoft.com/office/powerpoint/2010/main" val="1059564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F141539-53C1-6494-BF7F-D609A79B1576}"/>
              </a:ext>
            </a:extLst>
          </p:cNvPr>
          <p:cNvSpPr>
            <a:spLocks noGrp="1"/>
          </p:cNvSpPr>
          <p:nvPr>
            <p:ph type="title"/>
          </p:nvPr>
        </p:nvSpPr>
        <p:spPr>
          <a:xfrm>
            <a:off x="612648" y="1716505"/>
            <a:ext cx="4621553" cy="711019"/>
          </a:xfrm>
        </p:spPr>
        <p:txBody>
          <a:bodyPr anchor="b">
            <a:normAutofit/>
          </a:bodyPr>
          <a:lstStyle/>
          <a:p>
            <a:r>
              <a:rPr lang="it-IT" dirty="0">
                <a:latin typeface="Aptos Narrow" panose="020B0004020202020204" pitchFamily="34" charset="0"/>
              </a:rPr>
              <a:t>RESULT 2</a:t>
            </a:r>
          </a:p>
        </p:txBody>
      </p:sp>
      <p:sp>
        <p:nvSpPr>
          <p:cNvPr id="3" name="Segnaposto contenuto 2">
            <a:extLst>
              <a:ext uri="{FF2B5EF4-FFF2-40B4-BE49-F238E27FC236}">
                <a16:creationId xmlns:a16="http://schemas.microsoft.com/office/drawing/2014/main" id="{FB0DB5AE-0A53-4B67-ABA6-83960DB63D1F}"/>
              </a:ext>
            </a:extLst>
          </p:cNvPr>
          <p:cNvSpPr>
            <a:spLocks noGrp="1"/>
          </p:cNvSpPr>
          <p:nvPr>
            <p:ph idx="1"/>
          </p:nvPr>
        </p:nvSpPr>
        <p:spPr>
          <a:xfrm>
            <a:off x="612648" y="2584058"/>
            <a:ext cx="4621553" cy="3159018"/>
          </a:xfrm>
        </p:spPr>
        <p:txBody>
          <a:bodyPr>
            <a:normAutofit/>
          </a:bodyPr>
          <a:lstStyle/>
          <a:p>
            <a:pPr marL="0" indent="0">
              <a:buNone/>
            </a:pPr>
            <a:r>
              <a:rPr lang="en-US" sz="2100" dirty="0">
                <a:latin typeface="Aptos Narrow" panose="020B0004020202020204" pitchFamily="34" charset="0"/>
              </a:rPr>
              <a:t>The following figure allows us to present the values of the </a:t>
            </a:r>
            <a:r>
              <a:rPr lang="en-US" sz="2100" b="1" dirty="0">
                <a:latin typeface="Aptos Narrow" panose="020B0004020202020204" pitchFamily="34" charset="0"/>
              </a:rPr>
              <a:t>objective function </a:t>
            </a:r>
            <a:r>
              <a:rPr lang="en-US" sz="2100" dirty="0">
                <a:latin typeface="Aptos Narrow" panose="020B0004020202020204" pitchFamily="34" charset="0"/>
              </a:rPr>
              <a:t>based on the length of the prediction horizon, using FPH-MPC</a:t>
            </a:r>
            <a:r>
              <a:rPr lang="en-US" sz="1800" dirty="0">
                <a:latin typeface="Aptos Narrow" panose="020B0004020202020204" pitchFamily="34" charset="0"/>
              </a:rPr>
              <a:t>.</a:t>
            </a:r>
          </a:p>
          <a:p>
            <a:endParaRPr lang="it-IT" sz="1800" dirty="0"/>
          </a:p>
        </p:txBody>
      </p:sp>
      <p:pic>
        <p:nvPicPr>
          <p:cNvPr id="5" name="Immagine 4" descr="Immagine che contiene testo, linea, Diagramma, diagramma&#10;&#10;Il contenuto generato dall'IA potrebbe non essere corretto.">
            <a:extLst>
              <a:ext uri="{FF2B5EF4-FFF2-40B4-BE49-F238E27FC236}">
                <a16:creationId xmlns:a16="http://schemas.microsoft.com/office/drawing/2014/main" id="{8E26599B-AF8A-0FCC-DFAB-207FB618A668}"/>
              </a:ext>
            </a:extLst>
          </p:cNvPr>
          <p:cNvPicPr>
            <a:picLocks noChangeAspect="1"/>
          </p:cNvPicPr>
          <p:nvPr/>
        </p:nvPicPr>
        <p:blipFill>
          <a:blip r:embed="rId2"/>
          <a:stretch>
            <a:fillRect/>
          </a:stretch>
        </p:blipFill>
        <p:spPr>
          <a:xfrm>
            <a:off x="5691261" y="1539017"/>
            <a:ext cx="6294548" cy="4075719"/>
          </a:xfrm>
          <a:prstGeom prst="rect">
            <a:avLst/>
          </a:prstGeom>
        </p:spPr>
      </p:pic>
    </p:spTree>
    <p:extLst>
      <p:ext uri="{BB962C8B-B14F-4D97-AF65-F5344CB8AC3E}">
        <p14:creationId xmlns:p14="http://schemas.microsoft.com/office/powerpoint/2010/main" val="3472155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462CF2E-63B3-9D18-B4C1-895447B3C9B3}"/>
              </a:ext>
            </a:extLst>
          </p:cNvPr>
          <p:cNvSpPr>
            <a:spLocks noGrp="1"/>
          </p:cNvSpPr>
          <p:nvPr>
            <p:ph type="title"/>
          </p:nvPr>
        </p:nvSpPr>
        <p:spPr/>
        <p:txBody>
          <a:bodyPr/>
          <a:lstStyle/>
          <a:p>
            <a:r>
              <a:rPr lang="it-IT" dirty="0">
                <a:latin typeface="Aptos Narrow" panose="020B0004020202020204" pitchFamily="34" charset="0"/>
              </a:rPr>
              <a:t>RESULT 2 - COMMENT</a:t>
            </a:r>
          </a:p>
        </p:txBody>
      </p:sp>
      <mc:AlternateContent xmlns:mc="http://schemas.openxmlformats.org/markup-compatibility/2006">
        <mc:Choice xmlns:a14="http://schemas.microsoft.com/office/drawing/2010/main" Requires="a14">
          <p:sp>
            <p:nvSpPr>
              <p:cNvPr id="3" name="Segnaposto contenuto 2">
                <a:extLst>
                  <a:ext uri="{FF2B5EF4-FFF2-40B4-BE49-F238E27FC236}">
                    <a16:creationId xmlns:a16="http://schemas.microsoft.com/office/drawing/2014/main" id="{64891074-EA9B-D2F1-7C62-F5BD3C6B59C2}"/>
                  </a:ext>
                </a:extLst>
              </p:cNvPr>
              <p:cNvSpPr>
                <a:spLocks noGrp="1"/>
              </p:cNvSpPr>
              <p:nvPr>
                <p:ph idx="1"/>
              </p:nvPr>
            </p:nvSpPr>
            <p:spPr/>
            <p:txBody>
              <a:bodyPr/>
              <a:lstStyle/>
              <a:p>
                <a:endParaRPr lang="it-IT" dirty="0"/>
              </a:p>
              <a:p>
                <a:r>
                  <a:rPr lang="en-US" sz="2100" dirty="0">
                    <a:latin typeface="Aptos Narrow" panose="020B0004020202020204" pitchFamily="34" charset="0"/>
                  </a:rPr>
                  <a:t>We can notice how the negative factor </a:t>
                </a:r>
                <a14:m>
                  <m:oMath xmlns:m="http://schemas.openxmlformats.org/officeDocument/2006/math">
                    <m:r>
                      <a:rPr lang="it-IT" sz="2100" i="1"/>
                      <m:t>−</m:t>
                    </m:r>
                    <m:r>
                      <a:rPr lang="it-IT" sz="2100" i="1"/>
                      <m:t>𝜌</m:t>
                    </m:r>
                    <m:r>
                      <a:rPr lang="it-IT" sz="2100" i="1"/>
                      <m:t>(</m:t>
                    </m:r>
                    <m:r>
                      <a:rPr lang="it-IT" sz="2100" i="1"/>
                      <m:t>𝑘</m:t>
                    </m:r>
                    <m:r>
                      <a:rPr lang="it-IT" sz="2100" i="1"/>
                      <m:t>,</m:t>
                    </m:r>
                    <m:r>
                      <a:rPr lang="it-IT" sz="2100" i="1"/>
                      <m:t>𝑗</m:t>
                    </m:r>
                    <m:r>
                      <a:rPr lang="it-IT" sz="2100" i="1"/>
                      <m:t>)</m:t>
                    </m:r>
                  </m:oMath>
                </a14:m>
                <a:r>
                  <a:rPr lang="it-IT" sz="2100" dirty="0">
                    <a:latin typeface="Aptos Narrow" panose="020B0004020202020204" pitchFamily="34" charset="0"/>
                  </a:rPr>
                  <a:t> </a:t>
                </a:r>
                <a:r>
                  <a:rPr lang="en-US" sz="2100" dirty="0">
                    <a:latin typeface="Aptos Narrow" panose="020B0004020202020204" pitchFamily="34" charset="0"/>
                  </a:rPr>
                  <a:t>benefits the objective function when considering longer prediction horizons.</a:t>
                </a:r>
                <a:endParaRPr lang="it-IT" sz="2100" dirty="0">
                  <a:latin typeface="Aptos Narrow" panose="020B0004020202020204" pitchFamily="34" charset="0"/>
                </a:endParaRPr>
              </a:p>
              <a:p>
                <a:r>
                  <a:rPr lang="en-US" sz="2100" dirty="0">
                    <a:latin typeface="Aptos Narrow" panose="020B0004020202020204" pitchFamily="34" charset="0"/>
                  </a:rPr>
                  <a:t>The prediction horizon is a fixed decision variable in FPH, and the largest available length gives the lowest value of the objective function. </a:t>
                </a:r>
              </a:p>
              <a:p>
                <a:r>
                  <a:rPr lang="en-US" sz="2100" dirty="0">
                    <a:latin typeface="Aptos Narrow" panose="020B0004020202020204" pitchFamily="34" charset="0"/>
                  </a:rPr>
                  <a:t>Therefore, the user is faced with a trade-off between the length of the prediction horizon and the value of the objective function, which leads us to talk about the </a:t>
                </a:r>
                <a:r>
                  <a:rPr lang="en-US" sz="2100" b="1" dirty="0">
                    <a:latin typeface="Aptos Narrow" panose="020B0004020202020204" pitchFamily="34" charset="0"/>
                  </a:rPr>
                  <a:t>"Pareto Front". </a:t>
                </a:r>
              </a:p>
            </p:txBody>
          </p:sp>
        </mc:Choice>
        <mc:Fallback>
          <p:sp>
            <p:nvSpPr>
              <p:cNvPr id="3" name="Segnaposto contenuto 2">
                <a:extLst>
                  <a:ext uri="{FF2B5EF4-FFF2-40B4-BE49-F238E27FC236}">
                    <a16:creationId xmlns:a16="http://schemas.microsoft.com/office/drawing/2014/main" id="{64891074-EA9B-D2F1-7C62-F5BD3C6B59C2}"/>
                  </a:ext>
                </a:extLst>
              </p:cNvPr>
              <p:cNvSpPr>
                <a:spLocks noGrp="1" noRot="1" noChangeAspect="1" noMove="1" noResize="1" noEditPoints="1" noAdjustHandles="1" noChangeArrowheads="1" noChangeShapeType="1" noTextEdit="1"/>
              </p:cNvSpPr>
              <p:nvPr>
                <p:ph idx="1"/>
              </p:nvPr>
            </p:nvSpPr>
            <p:spPr>
              <a:blipFill>
                <a:blip r:embed="rId2"/>
                <a:stretch>
                  <a:fillRect l="-515" r="-343"/>
                </a:stretch>
              </a:blipFill>
            </p:spPr>
            <p:txBody>
              <a:bodyPr/>
              <a:lstStyle/>
              <a:p>
                <a:r>
                  <a:rPr lang="it-IT">
                    <a:noFill/>
                  </a:rPr>
                  <a:t> </a:t>
                </a:r>
              </a:p>
            </p:txBody>
          </p:sp>
        </mc:Fallback>
      </mc:AlternateContent>
    </p:spTree>
    <p:extLst>
      <p:ext uri="{BB962C8B-B14F-4D97-AF65-F5344CB8AC3E}">
        <p14:creationId xmlns:p14="http://schemas.microsoft.com/office/powerpoint/2010/main" val="2555610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3150B2-320C-37DB-CF6E-8D31D1850589}"/>
              </a:ext>
            </a:extLst>
          </p:cNvPr>
          <p:cNvSpPr>
            <a:spLocks noGrp="1"/>
          </p:cNvSpPr>
          <p:nvPr>
            <p:ph type="title"/>
          </p:nvPr>
        </p:nvSpPr>
        <p:spPr/>
        <p:txBody>
          <a:bodyPr/>
          <a:lstStyle/>
          <a:p>
            <a:r>
              <a:rPr lang="it-IT" dirty="0">
                <a:latin typeface="Aptos Narrow" panose="020B0004020202020204" pitchFamily="34" charset="0"/>
              </a:rPr>
              <a:t>PARETO FRONT</a:t>
            </a:r>
          </a:p>
        </p:txBody>
      </p:sp>
      <p:sp>
        <p:nvSpPr>
          <p:cNvPr id="3" name="Segnaposto contenuto 2">
            <a:extLst>
              <a:ext uri="{FF2B5EF4-FFF2-40B4-BE49-F238E27FC236}">
                <a16:creationId xmlns:a16="http://schemas.microsoft.com/office/drawing/2014/main" id="{B4FEC791-0319-9047-AB08-A26FB0606DCA}"/>
              </a:ext>
            </a:extLst>
          </p:cNvPr>
          <p:cNvSpPr>
            <a:spLocks noGrp="1"/>
          </p:cNvSpPr>
          <p:nvPr>
            <p:ph idx="1"/>
          </p:nvPr>
        </p:nvSpPr>
        <p:spPr/>
        <p:txBody>
          <a:bodyPr>
            <a:normAutofit/>
          </a:bodyPr>
          <a:lstStyle/>
          <a:p>
            <a:pPr marL="0" indent="0">
              <a:buNone/>
            </a:pPr>
            <a:r>
              <a:rPr lang="en-US" sz="2100" dirty="0">
                <a:latin typeface="Aptos Narrow" panose="020B0004020202020204" pitchFamily="34" charset="0"/>
              </a:rPr>
              <a:t>A </a:t>
            </a:r>
            <a:r>
              <a:rPr lang="en-US" sz="2100" b="1" dirty="0">
                <a:latin typeface="Aptos Narrow" panose="020B0004020202020204" pitchFamily="34" charset="0"/>
              </a:rPr>
              <a:t>multi-objective problem </a:t>
            </a:r>
            <a:r>
              <a:rPr lang="en-US" sz="2100" dirty="0">
                <a:latin typeface="Aptos Narrow" panose="020B0004020202020204" pitchFamily="34" charset="0"/>
              </a:rPr>
              <a:t>such as the one studied by the authors generates a Pareto Front. Let's consider a graph with:</a:t>
            </a:r>
          </a:p>
          <a:p>
            <a:r>
              <a:rPr lang="en-US" sz="2100" b="1" dirty="0">
                <a:latin typeface="Aptos Narrow" panose="020B0004020202020204" pitchFamily="34" charset="0"/>
              </a:rPr>
              <a:t>X-axis</a:t>
            </a:r>
            <a:r>
              <a:rPr lang="en-US" sz="2100" dirty="0">
                <a:latin typeface="Aptos Narrow" panose="020B0004020202020204" pitchFamily="34" charset="0"/>
              </a:rPr>
              <a:t>: </a:t>
            </a:r>
            <a:r>
              <a:rPr lang="en-US" sz="2100" i="1" dirty="0">
                <a:latin typeface="Aptos Narrow" panose="020B0004020202020204" pitchFamily="34" charset="0"/>
              </a:rPr>
              <a:t>Execution Time </a:t>
            </a:r>
            <a:r>
              <a:rPr lang="en-US" sz="2100" dirty="0">
                <a:latin typeface="Aptos Narrow" panose="020B0004020202020204" pitchFamily="34" charset="0"/>
              </a:rPr>
              <a:t>(to be minimized)</a:t>
            </a:r>
          </a:p>
          <a:p>
            <a:r>
              <a:rPr lang="en-US" sz="2100" b="1" dirty="0">
                <a:latin typeface="Aptos Narrow" panose="020B0004020202020204" pitchFamily="34" charset="0"/>
              </a:rPr>
              <a:t>Y-axis</a:t>
            </a:r>
            <a:r>
              <a:rPr lang="en-US" sz="2100" dirty="0">
                <a:latin typeface="Aptos Narrow" panose="020B0004020202020204" pitchFamily="34" charset="0"/>
              </a:rPr>
              <a:t>: </a:t>
            </a:r>
            <a:r>
              <a:rPr lang="en-US" sz="2100" i="1" dirty="0">
                <a:latin typeface="Aptos Narrow" panose="020B0004020202020204" pitchFamily="34" charset="0"/>
              </a:rPr>
              <a:t>Value of the Cost Function </a:t>
            </a:r>
            <a:r>
              <a:rPr lang="en-US" sz="2100" dirty="0">
                <a:latin typeface="Aptos Narrow" panose="020B0004020202020204" pitchFamily="34" charset="0"/>
              </a:rPr>
              <a:t>(to be minimized); </a:t>
            </a:r>
          </a:p>
          <a:p>
            <a:pPr marL="0" indent="0">
              <a:buNone/>
            </a:pPr>
            <a:endParaRPr lang="en-US" sz="2100" dirty="0">
              <a:latin typeface="Aptos Narrow" panose="020B0004020202020204" pitchFamily="34" charset="0"/>
            </a:endParaRPr>
          </a:p>
          <a:p>
            <a:pPr marL="0" indent="0">
              <a:buNone/>
            </a:pPr>
            <a:r>
              <a:rPr lang="en-US" sz="2100" dirty="0">
                <a:latin typeface="Aptos Narrow" panose="020B0004020202020204" pitchFamily="34" charset="0"/>
              </a:rPr>
              <a:t>Therefore, the </a:t>
            </a:r>
            <a:r>
              <a:rPr lang="en-US" sz="2100" b="1" dirty="0">
                <a:latin typeface="Aptos Narrow" panose="020B0004020202020204" pitchFamily="34" charset="0"/>
              </a:rPr>
              <a:t>Pareto Front </a:t>
            </a:r>
            <a:r>
              <a:rPr lang="en-US" sz="2100" dirty="0">
                <a:latin typeface="Aptos Narrow" panose="020B0004020202020204" pitchFamily="34" charset="0"/>
              </a:rPr>
              <a:t>is that curve formed by all «non-dominated» solutions, that is, those solutions for which there is no other alternative that is better in all objectives at once.</a:t>
            </a:r>
          </a:p>
        </p:txBody>
      </p:sp>
    </p:spTree>
    <p:extLst>
      <p:ext uri="{BB962C8B-B14F-4D97-AF65-F5344CB8AC3E}">
        <p14:creationId xmlns:p14="http://schemas.microsoft.com/office/powerpoint/2010/main" val="28900500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EF8B9F1A-7198-E771-05FD-FA45FBE8C26E}"/>
              </a:ext>
            </a:extLst>
          </p:cNvPr>
          <p:cNvSpPr>
            <a:spLocks noGrp="1"/>
          </p:cNvSpPr>
          <p:nvPr>
            <p:ph type="title"/>
          </p:nvPr>
        </p:nvSpPr>
        <p:spPr>
          <a:xfrm>
            <a:off x="612648" y="1873478"/>
            <a:ext cx="4621553" cy="602173"/>
          </a:xfrm>
        </p:spPr>
        <p:txBody>
          <a:bodyPr anchor="b">
            <a:normAutofit/>
          </a:bodyPr>
          <a:lstStyle/>
          <a:p>
            <a:r>
              <a:rPr lang="it-IT" dirty="0"/>
              <a:t>RESULT 3</a:t>
            </a:r>
          </a:p>
        </p:txBody>
      </p:sp>
      <p:sp>
        <p:nvSpPr>
          <p:cNvPr id="3" name="Segnaposto contenuto 2">
            <a:extLst>
              <a:ext uri="{FF2B5EF4-FFF2-40B4-BE49-F238E27FC236}">
                <a16:creationId xmlns:a16="http://schemas.microsoft.com/office/drawing/2014/main" id="{CFE7813C-8F53-6386-08C8-B0952E1F7DE7}"/>
              </a:ext>
            </a:extLst>
          </p:cNvPr>
          <p:cNvSpPr>
            <a:spLocks noGrp="1"/>
          </p:cNvSpPr>
          <p:nvPr>
            <p:ph idx="1"/>
          </p:nvPr>
        </p:nvSpPr>
        <p:spPr>
          <a:xfrm>
            <a:off x="612648" y="2584058"/>
            <a:ext cx="4621553" cy="3159018"/>
          </a:xfrm>
        </p:spPr>
        <p:txBody>
          <a:bodyPr>
            <a:normAutofit/>
          </a:bodyPr>
          <a:lstStyle/>
          <a:p>
            <a:pPr marL="0" indent="0">
              <a:buNone/>
            </a:pPr>
            <a:r>
              <a:rPr lang="en-US" sz="2100" dirty="0">
                <a:latin typeface="Aptos Narrow" panose="020B0004020202020204" pitchFamily="34" charset="0"/>
              </a:rPr>
              <a:t>The figure in question allows us to analyze </a:t>
            </a:r>
            <a:r>
              <a:rPr lang="en-US" sz="2100" b="1" dirty="0">
                <a:latin typeface="Aptos Narrow" panose="020B0004020202020204" pitchFamily="34" charset="0"/>
              </a:rPr>
              <a:t>quadratic transaction costs</a:t>
            </a:r>
            <a:r>
              <a:rPr lang="en-US" sz="2100" dirty="0">
                <a:latin typeface="Aptos Narrow" panose="020B0004020202020204" pitchFamily="34" charset="0"/>
              </a:rPr>
              <a:t>. We can observe how, in general, the longer the prediction horizon, the higher the transaction cost involved will be.</a:t>
            </a:r>
          </a:p>
        </p:txBody>
      </p:sp>
      <p:pic>
        <p:nvPicPr>
          <p:cNvPr id="6" name="Immagine 5" descr="Immagine che contiene testo, Diagramma, diagramma, linea&#10;&#10;Il contenuto generato dall'IA potrebbe non essere corretto.">
            <a:extLst>
              <a:ext uri="{FF2B5EF4-FFF2-40B4-BE49-F238E27FC236}">
                <a16:creationId xmlns:a16="http://schemas.microsoft.com/office/drawing/2014/main" id="{3462A772-B73E-3F58-2A01-BEDDD03A724D}"/>
              </a:ext>
            </a:extLst>
          </p:cNvPr>
          <p:cNvPicPr>
            <a:picLocks noChangeAspect="1"/>
          </p:cNvPicPr>
          <p:nvPr/>
        </p:nvPicPr>
        <p:blipFill>
          <a:blip r:embed="rId2"/>
          <a:stretch>
            <a:fillRect/>
          </a:stretch>
        </p:blipFill>
        <p:spPr>
          <a:xfrm>
            <a:off x="5691261" y="1873478"/>
            <a:ext cx="6083644" cy="3242068"/>
          </a:xfrm>
          <a:prstGeom prst="rect">
            <a:avLst/>
          </a:prstGeom>
        </p:spPr>
      </p:pic>
    </p:spTree>
    <p:extLst>
      <p:ext uri="{BB962C8B-B14F-4D97-AF65-F5344CB8AC3E}">
        <p14:creationId xmlns:p14="http://schemas.microsoft.com/office/powerpoint/2010/main" val="3370780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F9810180-A69B-D88A-FD92-BF1B17903377}"/>
              </a:ext>
            </a:extLst>
          </p:cNvPr>
          <p:cNvSpPr>
            <a:spLocks noGrp="1"/>
          </p:cNvSpPr>
          <p:nvPr>
            <p:ph type="title"/>
          </p:nvPr>
        </p:nvSpPr>
        <p:spPr>
          <a:xfrm>
            <a:off x="612648" y="1764631"/>
            <a:ext cx="4621553" cy="711019"/>
          </a:xfrm>
        </p:spPr>
        <p:txBody>
          <a:bodyPr anchor="b">
            <a:normAutofit/>
          </a:bodyPr>
          <a:lstStyle/>
          <a:p>
            <a:r>
              <a:rPr lang="it-IT" dirty="0"/>
              <a:t>RESULT 4</a:t>
            </a:r>
          </a:p>
        </p:txBody>
      </p:sp>
      <p:sp>
        <p:nvSpPr>
          <p:cNvPr id="3" name="Segnaposto contenuto 2">
            <a:extLst>
              <a:ext uri="{FF2B5EF4-FFF2-40B4-BE49-F238E27FC236}">
                <a16:creationId xmlns:a16="http://schemas.microsoft.com/office/drawing/2014/main" id="{83256759-B7E5-BC62-9304-1991875B1C78}"/>
              </a:ext>
            </a:extLst>
          </p:cNvPr>
          <p:cNvSpPr>
            <a:spLocks noGrp="1"/>
          </p:cNvSpPr>
          <p:nvPr>
            <p:ph idx="1"/>
          </p:nvPr>
        </p:nvSpPr>
        <p:spPr>
          <a:xfrm>
            <a:off x="612648" y="2584058"/>
            <a:ext cx="4621553" cy="3159018"/>
          </a:xfrm>
        </p:spPr>
        <p:txBody>
          <a:bodyPr>
            <a:normAutofit/>
          </a:bodyPr>
          <a:lstStyle/>
          <a:p>
            <a:pPr marL="0" indent="0">
              <a:buNone/>
            </a:pPr>
            <a:r>
              <a:rPr lang="en-US" sz="2100" dirty="0">
                <a:latin typeface="Aptos Narrow" panose="020B0004020202020204" pitchFamily="34" charset="0"/>
              </a:rPr>
              <a:t>Now, however, we show the </a:t>
            </a:r>
            <a:r>
              <a:rPr lang="en-US" sz="2100" b="1" dirty="0">
                <a:latin typeface="Aptos Narrow" panose="020B0004020202020204" pitchFamily="34" charset="0"/>
              </a:rPr>
              <a:t>actual costs</a:t>
            </a:r>
            <a:r>
              <a:rPr lang="en-US" sz="2100" dirty="0">
                <a:latin typeface="Aptos Narrow" panose="020B0004020202020204" pitchFamily="34" charset="0"/>
              </a:rPr>
              <a:t>, discounted in portfolio rebalancing. Let's go, that is, to consider the real cost of the action carried out in the current state, what interests the MPC since it is based on RHC.</a:t>
            </a:r>
          </a:p>
        </p:txBody>
      </p:sp>
      <p:pic>
        <p:nvPicPr>
          <p:cNvPr id="6" name="Immagine 5" descr="Immagine che contiene testo, diagramma, Diagramma, linea&#10;&#10;Il contenuto generato dall'IA potrebbe non essere corretto.">
            <a:extLst>
              <a:ext uri="{FF2B5EF4-FFF2-40B4-BE49-F238E27FC236}">
                <a16:creationId xmlns:a16="http://schemas.microsoft.com/office/drawing/2014/main" id="{0D84C6B9-7BF1-14E5-2A53-3572204B16BA}"/>
              </a:ext>
            </a:extLst>
          </p:cNvPr>
          <p:cNvPicPr>
            <a:picLocks noChangeAspect="1"/>
          </p:cNvPicPr>
          <p:nvPr/>
        </p:nvPicPr>
        <p:blipFill>
          <a:blip r:embed="rId2"/>
          <a:stretch>
            <a:fillRect/>
          </a:stretch>
        </p:blipFill>
        <p:spPr>
          <a:xfrm>
            <a:off x="5465550" y="1764631"/>
            <a:ext cx="6495101" cy="3387016"/>
          </a:xfrm>
          <a:prstGeom prst="rect">
            <a:avLst/>
          </a:prstGeom>
        </p:spPr>
      </p:pic>
    </p:spTree>
    <p:extLst>
      <p:ext uri="{BB962C8B-B14F-4D97-AF65-F5344CB8AC3E}">
        <p14:creationId xmlns:p14="http://schemas.microsoft.com/office/powerpoint/2010/main" val="121161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14114756-EC44-CA65-038B-9C2DE7FF0FC9}"/>
              </a:ext>
            </a:extLst>
          </p:cNvPr>
          <p:cNvSpPr>
            <a:spLocks noGrp="1"/>
          </p:cNvSpPr>
          <p:nvPr>
            <p:ph type="title"/>
          </p:nvPr>
        </p:nvSpPr>
        <p:spPr>
          <a:xfrm>
            <a:off x="612648" y="1114923"/>
            <a:ext cx="4621553" cy="1360728"/>
          </a:xfrm>
        </p:spPr>
        <p:txBody>
          <a:bodyPr anchor="b">
            <a:normAutofit/>
          </a:bodyPr>
          <a:lstStyle/>
          <a:p>
            <a:r>
              <a:rPr lang="it-IT" dirty="0">
                <a:latin typeface="Aptos Narrow" panose="020B0004020202020204" pitchFamily="34" charset="0"/>
              </a:rPr>
              <a:t>RESULT 5</a:t>
            </a:r>
          </a:p>
        </p:txBody>
      </p:sp>
      <p:sp>
        <p:nvSpPr>
          <p:cNvPr id="3" name="Segnaposto contenuto 2">
            <a:extLst>
              <a:ext uri="{FF2B5EF4-FFF2-40B4-BE49-F238E27FC236}">
                <a16:creationId xmlns:a16="http://schemas.microsoft.com/office/drawing/2014/main" id="{F7A1361D-35DB-F4E5-DE58-B2ACA50ADAFE}"/>
              </a:ext>
            </a:extLst>
          </p:cNvPr>
          <p:cNvSpPr>
            <a:spLocks noGrp="1"/>
          </p:cNvSpPr>
          <p:nvPr>
            <p:ph idx="1"/>
          </p:nvPr>
        </p:nvSpPr>
        <p:spPr>
          <a:xfrm>
            <a:off x="612648" y="2584058"/>
            <a:ext cx="4621553" cy="3159018"/>
          </a:xfrm>
        </p:spPr>
        <p:txBody>
          <a:bodyPr>
            <a:normAutofit/>
          </a:bodyPr>
          <a:lstStyle/>
          <a:p>
            <a:pPr marL="0" indent="0">
              <a:buNone/>
            </a:pPr>
            <a:r>
              <a:rPr lang="en-US" sz="2100" dirty="0">
                <a:latin typeface="Aptos Narrow" panose="020B0004020202020204" pitchFamily="34" charset="0"/>
              </a:rPr>
              <a:t>We now show the reference and accumulated wealth curve for the VPH-MPC and FPH-MPC approaches. We will note that there is a gap, but it is due to the sample used and the market trend</a:t>
            </a:r>
          </a:p>
        </p:txBody>
      </p:sp>
      <p:pic>
        <p:nvPicPr>
          <p:cNvPr id="5" name="Immagine 4" descr="Immagine che contiene testo, linea, Diagramma, ricevuta&#10;&#10;Il contenuto generato dall'IA potrebbe non essere corretto.">
            <a:extLst>
              <a:ext uri="{FF2B5EF4-FFF2-40B4-BE49-F238E27FC236}">
                <a16:creationId xmlns:a16="http://schemas.microsoft.com/office/drawing/2014/main" id="{D1A67491-DAF7-05BE-DF9D-A6396EDDB722}"/>
              </a:ext>
            </a:extLst>
          </p:cNvPr>
          <p:cNvPicPr>
            <a:picLocks noChangeAspect="1"/>
          </p:cNvPicPr>
          <p:nvPr/>
        </p:nvPicPr>
        <p:blipFill>
          <a:blip r:embed="rId2"/>
          <a:stretch>
            <a:fillRect/>
          </a:stretch>
        </p:blipFill>
        <p:spPr>
          <a:xfrm>
            <a:off x="5691261" y="2319822"/>
            <a:ext cx="5837780" cy="2218355"/>
          </a:xfrm>
          <a:prstGeom prst="rect">
            <a:avLst/>
          </a:prstGeom>
        </p:spPr>
      </p:pic>
    </p:spTree>
    <p:extLst>
      <p:ext uri="{BB962C8B-B14F-4D97-AF65-F5344CB8AC3E}">
        <p14:creationId xmlns:p14="http://schemas.microsoft.com/office/powerpoint/2010/main" val="1627310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B3A98C-64B8-7918-A925-433A49FF971B}"/>
              </a:ext>
            </a:extLst>
          </p:cNvPr>
          <p:cNvSpPr>
            <a:spLocks noGrp="1"/>
          </p:cNvSpPr>
          <p:nvPr>
            <p:ph type="title"/>
          </p:nvPr>
        </p:nvSpPr>
        <p:spPr/>
        <p:txBody>
          <a:bodyPr/>
          <a:lstStyle/>
          <a:p>
            <a:r>
              <a:rPr lang="it-IT" dirty="0">
                <a:latin typeface="Aptos Narrow" panose="020B0004020202020204" pitchFamily="34" charset="0"/>
              </a:rPr>
              <a:t>RESULT 5 - COMMENT</a:t>
            </a:r>
          </a:p>
        </p:txBody>
      </p:sp>
      <p:sp>
        <p:nvSpPr>
          <p:cNvPr id="3" name="Segnaposto contenuto 2">
            <a:extLst>
              <a:ext uri="{FF2B5EF4-FFF2-40B4-BE49-F238E27FC236}">
                <a16:creationId xmlns:a16="http://schemas.microsoft.com/office/drawing/2014/main" id="{3D1C4102-14C0-D4A2-5001-0830A9C58F2E}"/>
              </a:ext>
            </a:extLst>
          </p:cNvPr>
          <p:cNvSpPr>
            <a:spLocks noGrp="1"/>
          </p:cNvSpPr>
          <p:nvPr>
            <p:ph idx="1"/>
          </p:nvPr>
        </p:nvSpPr>
        <p:spPr/>
        <p:txBody>
          <a:bodyPr>
            <a:normAutofit/>
          </a:bodyPr>
          <a:lstStyle/>
          <a:p>
            <a:r>
              <a:rPr lang="en-US" sz="2100" dirty="0">
                <a:latin typeface="Aptos Narrow" panose="020B0004020202020204" pitchFamily="34" charset="0"/>
              </a:rPr>
              <a:t>If we were to look at Figure 4B of the paper, which shows us a magnifying glass over 500 days, we would notice how the curves of the proposed strategies are not as overlapping as they seem.</a:t>
            </a:r>
          </a:p>
          <a:p>
            <a:r>
              <a:rPr lang="en-US" sz="2100" dirty="0">
                <a:latin typeface="Aptos Narrow" panose="020B0004020202020204" pitchFamily="34" charset="0"/>
              </a:rPr>
              <a:t>Furthermore, as shown by the authors in Figure 8, the </a:t>
            </a:r>
            <a:r>
              <a:rPr lang="en-US" sz="2100" b="1" dirty="0">
                <a:latin typeface="Aptos Narrow" panose="020B0004020202020204" pitchFamily="34" charset="0"/>
              </a:rPr>
              <a:t>trend of Ibovespa</a:t>
            </a:r>
            <a:r>
              <a:rPr lang="en-US" sz="2100" dirty="0">
                <a:latin typeface="Aptos Narrow" panose="020B0004020202020204" pitchFamily="34" charset="0"/>
              </a:rPr>
              <a:t>, in the period considered, i.e. in the first 100 days, was disastrous, </a:t>
            </a:r>
            <a:r>
              <a:rPr lang="en-US" sz="2100" b="1" dirty="0">
                <a:latin typeface="Aptos Narrow" panose="020B0004020202020204" pitchFamily="34" charset="0"/>
              </a:rPr>
              <a:t>losing 40% </a:t>
            </a:r>
            <a:r>
              <a:rPr lang="en-US" sz="2100" dirty="0">
                <a:latin typeface="Aptos Narrow" panose="020B0004020202020204" pitchFamily="34" charset="0"/>
              </a:rPr>
              <a:t>of its value. The Ibovespa is a reference index for the Brazilian Stock Exchange, the respective American S&amp;P500 </a:t>
            </a:r>
          </a:p>
        </p:txBody>
      </p:sp>
    </p:spTree>
    <p:extLst>
      <p:ext uri="{BB962C8B-B14F-4D97-AF65-F5344CB8AC3E}">
        <p14:creationId xmlns:p14="http://schemas.microsoft.com/office/powerpoint/2010/main" val="4505849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E3E5560-7A0D-2C11-BEE3-4EE969FBD9F9}"/>
              </a:ext>
            </a:extLst>
          </p:cNvPr>
          <p:cNvSpPr>
            <a:spLocks noGrp="1"/>
          </p:cNvSpPr>
          <p:nvPr>
            <p:ph type="title"/>
          </p:nvPr>
        </p:nvSpPr>
        <p:spPr>
          <a:xfrm>
            <a:off x="612648" y="1114923"/>
            <a:ext cx="4621553" cy="1360728"/>
          </a:xfrm>
        </p:spPr>
        <p:txBody>
          <a:bodyPr anchor="b">
            <a:normAutofit/>
          </a:bodyPr>
          <a:lstStyle/>
          <a:p>
            <a:r>
              <a:rPr lang="it-IT" dirty="0">
                <a:latin typeface="Aptos Narrow" panose="020B0004020202020204" pitchFamily="34" charset="0"/>
              </a:rPr>
              <a:t>RESULT 6</a:t>
            </a:r>
          </a:p>
        </p:txBody>
      </p:sp>
      <p:sp>
        <p:nvSpPr>
          <p:cNvPr id="3" name="Segnaposto contenuto 2">
            <a:extLst>
              <a:ext uri="{FF2B5EF4-FFF2-40B4-BE49-F238E27FC236}">
                <a16:creationId xmlns:a16="http://schemas.microsoft.com/office/drawing/2014/main" id="{5CBBA2AB-B6D0-9869-016A-0F78F0B5C396}"/>
              </a:ext>
            </a:extLst>
          </p:cNvPr>
          <p:cNvSpPr>
            <a:spLocks noGrp="1"/>
          </p:cNvSpPr>
          <p:nvPr>
            <p:ph idx="1"/>
          </p:nvPr>
        </p:nvSpPr>
        <p:spPr>
          <a:xfrm>
            <a:off x="612648" y="2584058"/>
            <a:ext cx="4621553" cy="3159018"/>
          </a:xfrm>
        </p:spPr>
        <p:txBody>
          <a:bodyPr>
            <a:normAutofit/>
          </a:bodyPr>
          <a:lstStyle/>
          <a:p>
            <a:pPr marL="0" indent="0">
              <a:buNone/>
            </a:pPr>
            <a:r>
              <a:rPr lang="en-US" sz="2100" dirty="0">
                <a:latin typeface="Aptos Narrow" panose="020B0004020202020204" pitchFamily="34" charset="0"/>
              </a:rPr>
              <a:t>This result shows us the </a:t>
            </a:r>
            <a:r>
              <a:rPr lang="en-US" sz="2100" b="1" dirty="0">
                <a:latin typeface="Aptos Narrow" panose="020B0004020202020204" pitchFamily="34" charset="0"/>
              </a:rPr>
              <a:t>RMSE (Root Mean Square Error) </a:t>
            </a:r>
            <a:r>
              <a:rPr lang="en-US" sz="2100" dirty="0">
                <a:latin typeface="Aptos Narrow" panose="020B0004020202020204" pitchFamily="34" charset="0"/>
              </a:rPr>
              <a:t>metric for the various fixed horizons. We note that the higher the predictive horizon, the worse the tracking performance of the FPH-MPC (as also noted by the authors)</a:t>
            </a:r>
          </a:p>
        </p:txBody>
      </p:sp>
      <p:pic>
        <p:nvPicPr>
          <p:cNvPr id="5" name="Immagine 4" descr="Immagine che contiene linea, Diagramma, diagramma, numero&#10;&#10;Il contenuto generato dall'IA potrebbe non essere corretto.">
            <a:extLst>
              <a:ext uri="{FF2B5EF4-FFF2-40B4-BE49-F238E27FC236}">
                <a16:creationId xmlns:a16="http://schemas.microsoft.com/office/drawing/2014/main" id="{0FB53974-CFA4-BDCF-2887-B80C72A566E9}"/>
              </a:ext>
            </a:extLst>
          </p:cNvPr>
          <p:cNvPicPr>
            <a:picLocks noChangeAspect="1"/>
          </p:cNvPicPr>
          <p:nvPr/>
        </p:nvPicPr>
        <p:blipFill>
          <a:blip r:embed="rId2"/>
          <a:stretch>
            <a:fillRect/>
          </a:stretch>
        </p:blipFill>
        <p:spPr>
          <a:xfrm>
            <a:off x="5691261" y="1393074"/>
            <a:ext cx="5837780" cy="4071851"/>
          </a:xfrm>
          <a:prstGeom prst="rect">
            <a:avLst/>
          </a:prstGeom>
        </p:spPr>
      </p:pic>
    </p:spTree>
    <p:extLst>
      <p:ext uri="{BB962C8B-B14F-4D97-AF65-F5344CB8AC3E}">
        <p14:creationId xmlns:p14="http://schemas.microsoft.com/office/powerpoint/2010/main" val="23940406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6235EB4-CDD4-9AC7-4DC7-5CAA3E2DF3BA}"/>
              </a:ext>
            </a:extLst>
          </p:cNvPr>
          <p:cNvSpPr>
            <a:spLocks noGrp="1"/>
          </p:cNvSpPr>
          <p:nvPr>
            <p:ph type="title"/>
          </p:nvPr>
        </p:nvSpPr>
        <p:spPr>
          <a:xfrm>
            <a:off x="5593079" y="1010964"/>
            <a:ext cx="5916169" cy="654678"/>
          </a:xfrm>
        </p:spPr>
        <p:txBody>
          <a:bodyPr anchor="b">
            <a:normAutofit/>
          </a:bodyPr>
          <a:lstStyle/>
          <a:p>
            <a:r>
              <a:rPr lang="it-IT" dirty="0">
                <a:latin typeface="Aptos Narrow" panose="020B0004020202020204" pitchFamily="34" charset="0"/>
              </a:rPr>
              <a:t>FINAL RESULT</a:t>
            </a:r>
          </a:p>
        </p:txBody>
      </p:sp>
      <p:pic>
        <p:nvPicPr>
          <p:cNvPr id="5" name="Picture 4" descr="Scale bianche con una freccia blu disegnata al centro rivolta verso l'alto">
            <a:extLst>
              <a:ext uri="{FF2B5EF4-FFF2-40B4-BE49-F238E27FC236}">
                <a16:creationId xmlns:a16="http://schemas.microsoft.com/office/drawing/2014/main" id="{BAE0B09E-7B6E-5C14-5EDC-FC8FC47C3FB4}"/>
              </a:ext>
            </a:extLst>
          </p:cNvPr>
          <p:cNvPicPr>
            <a:picLocks noChangeAspect="1"/>
          </p:cNvPicPr>
          <p:nvPr/>
        </p:nvPicPr>
        <p:blipFill>
          <a:blip r:embed="rId2"/>
          <a:srcRect l="5567" r="22834"/>
          <a:stretch>
            <a:fillRect/>
          </a:stretch>
        </p:blipFill>
        <p:spPr>
          <a:xfrm>
            <a:off x="20" y="10"/>
            <a:ext cx="4910308" cy="6857990"/>
          </a:xfrm>
          <a:prstGeom prst="rect">
            <a:avLst/>
          </a:prstGeom>
        </p:spPr>
      </p:pic>
      <p:sp>
        <p:nvSpPr>
          <p:cNvPr id="3" name="Segnaposto contenuto 2">
            <a:extLst>
              <a:ext uri="{FF2B5EF4-FFF2-40B4-BE49-F238E27FC236}">
                <a16:creationId xmlns:a16="http://schemas.microsoft.com/office/drawing/2014/main" id="{6EF2490F-07C1-A3E8-FA76-3FCEE74CD7A5}"/>
              </a:ext>
            </a:extLst>
          </p:cNvPr>
          <p:cNvSpPr>
            <a:spLocks noGrp="1"/>
          </p:cNvSpPr>
          <p:nvPr>
            <p:ph idx="1"/>
          </p:nvPr>
        </p:nvSpPr>
        <p:spPr>
          <a:xfrm>
            <a:off x="5568533" y="2214282"/>
            <a:ext cx="5916169" cy="4095078"/>
          </a:xfrm>
        </p:spPr>
        <p:txBody>
          <a:bodyPr>
            <a:normAutofit/>
          </a:bodyPr>
          <a:lstStyle/>
          <a:p>
            <a:r>
              <a:rPr lang="en-US" sz="1800">
                <a:latin typeface="Aptos Narrow" panose="020B0004020202020204" pitchFamily="34" charset="0"/>
              </a:rPr>
              <a:t>The authors also compared their strategy with other investment portfolio optimization strategies, such as the Markowitz curve and a Baseline curve. Going to demonstrate the validity of their work</a:t>
            </a:r>
          </a:p>
          <a:p>
            <a:endParaRPr lang="en-US" sz="1800">
              <a:latin typeface="Aptos Narrow" panose="020B0004020202020204" pitchFamily="34" charset="0"/>
            </a:endParaRPr>
          </a:p>
          <a:p>
            <a:r>
              <a:rPr lang="en-US" sz="1800">
                <a:latin typeface="Aptos Narrow" panose="020B0004020202020204" pitchFamily="34" charset="0"/>
              </a:rPr>
              <a:t>They then presented the CVaR, comparing it not only with the strategies mentioned above, but with the Ibovespa, highlighting significantly better performances than the comparisons made.</a:t>
            </a:r>
          </a:p>
        </p:txBody>
      </p:sp>
    </p:spTree>
    <p:extLst>
      <p:ext uri="{BB962C8B-B14F-4D97-AF65-F5344CB8AC3E}">
        <p14:creationId xmlns:p14="http://schemas.microsoft.com/office/powerpoint/2010/main" val="31756480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DFD56E2-8D35-0EBD-086E-D855CCE4A4E9}"/>
              </a:ext>
            </a:extLst>
          </p:cNvPr>
          <p:cNvSpPr>
            <a:spLocks noGrp="1"/>
          </p:cNvSpPr>
          <p:nvPr>
            <p:ph type="title"/>
          </p:nvPr>
        </p:nvSpPr>
        <p:spPr/>
        <p:txBody>
          <a:bodyPr/>
          <a:lstStyle/>
          <a:p>
            <a:r>
              <a:rPr lang="it-IT" dirty="0">
                <a:latin typeface="Aptos Narrow" panose="020B0004020202020204" pitchFamily="34" charset="0"/>
              </a:rPr>
              <a:t>OBSERVATION</a:t>
            </a:r>
          </a:p>
        </p:txBody>
      </p:sp>
      <p:sp>
        <p:nvSpPr>
          <p:cNvPr id="3" name="Segnaposto contenuto 2">
            <a:extLst>
              <a:ext uri="{FF2B5EF4-FFF2-40B4-BE49-F238E27FC236}">
                <a16:creationId xmlns:a16="http://schemas.microsoft.com/office/drawing/2014/main" id="{203C0E57-4C6E-3803-7484-B356024085E7}"/>
              </a:ext>
            </a:extLst>
          </p:cNvPr>
          <p:cNvSpPr>
            <a:spLocks noGrp="1"/>
          </p:cNvSpPr>
          <p:nvPr>
            <p:ph idx="1"/>
          </p:nvPr>
        </p:nvSpPr>
        <p:spPr/>
        <p:txBody>
          <a:bodyPr/>
          <a:lstStyle/>
          <a:p>
            <a:r>
              <a:rPr lang="en-US" dirty="0">
                <a:latin typeface="Aptos Narrow" panose="020B0004020202020204" pitchFamily="34" charset="0"/>
              </a:rPr>
              <a:t>Since we limited our problem to 100 days of simulation, we chose not to draw definitive conclusions about the results shown in the previous slide. </a:t>
            </a:r>
          </a:p>
          <a:p>
            <a:r>
              <a:rPr lang="en-US" dirty="0">
                <a:latin typeface="Aptos Narrow" panose="020B0004020202020204" pitchFamily="34" charset="0"/>
              </a:rPr>
              <a:t>In the results described, in fact, monthly returns were compared and a sample of 100 days is equivalent to 4 months of stock market (21 days): </a:t>
            </a:r>
            <a:r>
              <a:rPr lang="en-US" b="1" dirty="0">
                <a:latin typeface="Aptos Narrow" panose="020B0004020202020204" pitchFamily="34" charset="0"/>
              </a:rPr>
              <a:t>a number of samples statistically irrelevant</a:t>
            </a:r>
            <a:r>
              <a:rPr lang="en-US" dirty="0">
                <a:latin typeface="Aptos Narrow" panose="020B0004020202020204" pitchFamily="34" charset="0"/>
              </a:rPr>
              <a:t> to arrive at satisfactory results</a:t>
            </a:r>
          </a:p>
          <a:p>
            <a:endParaRPr lang="it-IT" dirty="0"/>
          </a:p>
          <a:p>
            <a:endParaRPr lang="it-IT" dirty="0"/>
          </a:p>
        </p:txBody>
      </p:sp>
    </p:spTree>
    <p:extLst>
      <p:ext uri="{BB962C8B-B14F-4D97-AF65-F5344CB8AC3E}">
        <p14:creationId xmlns:p14="http://schemas.microsoft.com/office/powerpoint/2010/main" val="4927724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69DE4E-F008-E93A-A782-B6DFA98D637B}"/>
              </a:ext>
            </a:extLst>
          </p:cNvPr>
          <p:cNvSpPr>
            <a:spLocks noGrp="1"/>
          </p:cNvSpPr>
          <p:nvPr>
            <p:ph type="title"/>
          </p:nvPr>
        </p:nvSpPr>
        <p:spPr/>
        <p:txBody>
          <a:bodyPr/>
          <a:lstStyle/>
          <a:p>
            <a:r>
              <a:rPr lang="it-IT" dirty="0">
                <a:latin typeface="Aptos Narrow" panose="020B0004020202020204" pitchFamily="34" charset="0"/>
              </a:rPr>
              <a:t>CONCLUSIONS: project</a:t>
            </a:r>
          </a:p>
        </p:txBody>
      </p:sp>
      <p:sp>
        <p:nvSpPr>
          <p:cNvPr id="3" name="Segnaposto contenuto 2">
            <a:extLst>
              <a:ext uri="{FF2B5EF4-FFF2-40B4-BE49-F238E27FC236}">
                <a16:creationId xmlns:a16="http://schemas.microsoft.com/office/drawing/2014/main" id="{25868D60-E2A2-FB78-430C-6D6EB16C7088}"/>
              </a:ext>
            </a:extLst>
          </p:cNvPr>
          <p:cNvSpPr>
            <a:spLocks noGrp="1"/>
          </p:cNvSpPr>
          <p:nvPr>
            <p:ph idx="1"/>
          </p:nvPr>
        </p:nvSpPr>
        <p:spPr/>
        <p:txBody>
          <a:bodyPr>
            <a:normAutofit/>
          </a:bodyPr>
          <a:lstStyle/>
          <a:p>
            <a:pPr marL="0" indent="0">
              <a:buNone/>
            </a:pPr>
            <a:r>
              <a:rPr lang="en-US" sz="2100" dirty="0">
                <a:latin typeface="Aptos Narrow" panose="020B0004020202020204" pitchFamily="34" charset="0"/>
              </a:rPr>
              <a:t>Despite using a small sample, the </a:t>
            </a:r>
            <a:r>
              <a:rPr lang="en-US" sz="2100" b="1" dirty="0">
                <a:latin typeface="Aptos Narrow" panose="020B0004020202020204" pitchFamily="34" charset="0"/>
              </a:rPr>
              <a:t>100-day simulation </a:t>
            </a:r>
            <a:r>
              <a:rPr lang="en-US" sz="2100" dirty="0">
                <a:latin typeface="Aptos Narrow" panose="020B0004020202020204" pitchFamily="34" charset="0"/>
              </a:rPr>
              <a:t>provided us with empirical evidence on the controller's behavior:</a:t>
            </a:r>
          </a:p>
          <a:p>
            <a:r>
              <a:rPr lang="en-US" sz="2100" dirty="0">
                <a:latin typeface="Aptos Narrow" panose="020B0004020202020204" pitchFamily="34" charset="0"/>
              </a:rPr>
              <a:t>The </a:t>
            </a:r>
            <a:r>
              <a:rPr lang="en-US" sz="2100" b="1" dirty="0">
                <a:latin typeface="Aptos Narrow" panose="020B0004020202020204" pitchFamily="34" charset="0"/>
              </a:rPr>
              <a:t>higher</a:t>
            </a:r>
            <a:r>
              <a:rPr lang="en-US" sz="2100" dirty="0">
                <a:latin typeface="Aptos Narrow" panose="020B0004020202020204" pitchFamily="34" charset="0"/>
              </a:rPr>
              <a:t> the value of </a:t>
            </a:r>
            <a:r>
              <a:rPr lang="en-US" sz="2100" b="1" dirty="0">
                <a:latin typeface="Aptos Narrow" panose="020B0004020202020204" pitchFamily="34" charset="0"/>
              </a:rPr>
              <a:t>N</a:t>
            </a:r>
            <a:r>
              <a:rPr lang="en-US" sz="2100" dirty="0">
                <a:latin typeface="Aptos Narrow" panose="020B0004020202020204" pitchFamily="34" charset="0"/>
              </a:rPr>
              <a:t>, the </a:t>
            </a:r>
            <a:r>
              <a:rPr lang="en-US" sz="2100" b="1" dirty="0">
                <a:latin typeface="Aptos Narrow" panose="020B0004020202020204" pitchFamily="34" charset="0"/>
              </a:rPr>
              <a:t>greater the gap </a:t>
            </a:r>
            <a:r>
              <a:rPr lang="en-US" sz="2100" dirty="0">
                <a:latin typeface="Aptos Narrow" panose="020B0004020202020204" pitchFamily="34" charset="0"/>
              </a:rPr>
              <a:t>from the reference</a:t>
            </a:r>
          </a:p>
          <a:p>
            <a:r>
              <a:rPr lang="en-US" sz="2100" dirty="0">
                <a:latin typeface="Aptos Narrow" panose="020B0004020202020204" pitchFamily="34" charset="0"/>
              </a:rPr>
              <a:t>Problem difficult to scale: </a:t>
            </a:r>
            <a:r>
              <a:rPr lang="en-US" sz="2100" b="1" dirty="0">
                <a:latin typeface="Aptos Narrow" panose="020B0004020202020204" pitchFamily="34" charset="0"/>
              </a:rPr>
              <a:t>trade-off necessary</a:t>
            </a:r>
          </a:p>
          <a:p>
            <a:r>
              <a:rPr lang="en-US" sz="2100" b="1" dirty="0">
                <a:latin typeface="Aptos Narrow" panose="020B0004020202020204" pitchFamily="34" charset="0"/>
              </a:rPr>
              <a:t>Exponential execution time growth</a:t>
            </a:r>
          </a:p>
          <a:p>
            <a:r>
              <a:rPr lang="en-US" sz="2100" b="1" dirty="0">
                <a:latin typeface="Aptos Narrow" panose="020B0004020202020204" pitchFamily="34" charset="0"/>
              </a:rPr>
              <a:t>Compatibility</a:t>
            </a:r>
            <a:r>
              <a:rPr lang="en-US" sz="2100" dirty="0">
                <a:latin typeface="Aptos Narrow" panose="020B0004020202020204" pitchFamily="34" charset="0"/>
              </a:rPr>
              <a:t> between MPC performance and the Brazilian market</a:t>
            </a:r>
          </a:p>
        </p:txBody>
      </p:sp>
    </p:spTree>
    <p:extLst>
      <p:ext uri="{BB962C8B-B14F-4D97-AF65-F5344CB8AC3E}">
        <p14:creationId xmlns:p14="http://schemas.microsoft.com/office/powerpoint/2010/main" val="38810299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7B5205-313C-5443-34CE-9138E86C07F8}"/>
              </a:ext>
            </a:extLst>
          </p:cNvPr>
          <p:cNvSpPr>
            <a:spLocks noGrp="1"/>
          </p:cNvSpPr>
          <p:nvPr>
            <p:ph type="title"/>
          </p:nvPr>
        </p:nvSpPr>
        <p:spPr/>
        <p:txBody>
          <a:bodyPr/>
          <a:lstStyle/>
          <a:p>
            <a:r>
              <a:rPr lang="it-IT" dirty="0">
                <a:latin typeface="Aptos Narrow" panose="020B0004020202020204" pitchFamily="34" charset="0"/>
              </a:rPr>
              <a:t>CONCLUSIONS: paper</a:t>
            </a:r>
          </a:p>
        </p:txBody>
      </p:sp>
      <p:sp>
        <p:nvSpPr>
          <p:cNvPr id="3" name="Segnaposto contenuto 2">
            <a:extLst>
              <a:ext uri="{FF2B5EF4-FFF2-40B4-BE49-F238E27FC236}">
                <a16:creationId xmlns:a16="http://schemas.microsoft.com/office/drawing/2014/main" id="{583B4D04-5548-242D-4D13-F1126EA93453}"/>
              </a:ext>
            </a:extLst>
          </p:cNvPr>
          <p:cNvSpPr>
            <a:spLocks noGrp="1"/>
          </p:cNvSpPr>
          <p:nvPr>
            <p:ph idx="1"/>
          </p:nvPr>
        </p:nvSpPr>
        <p:spPr/>
        <p:txBody>
          <a:bodyPr/>
          <a:lstStyle/>
          <a:p>
            <a:pPr marL="0" indent="0">
              <a:buNone/>
            </a:pPr>
            <a:r>
              <a:rPr lang="en-US" dirty="0">
                <a:latin typeface="Aptos Narrow" panose="020B0004020202020204" pitchFamily="34" charset="0"/>
              </a:rPr>
              <a:t>As highlighted by the authors, the main objective of the study conducted was to propose an MPC-based strategy capable of </a:t>
            </a:r>
            <a:r>
              <a:rPr lang="en-US" b="1" dirty="0">
                <a:latin typeface="Aptos Narrow" panose="020B0004020202020204" pitchFamily="34" charset="0"/>
              </a:rPr>
              <a:t>tracking a reference portfolio </a:t>
            </a:r>
            <a:r>
              <a:rPr lang="en-US" dirty="0">
                <a:latin typeface="Aptos Narrow" panose="020B0004020202020204" pitchFamily="34" charset="0"/>
              </a:rPr>
              <a:t>taking into account transaction costs. From this analysis it emerged:</a:t>
            </a:r>
          </a:p>
          <a:p>
            <a:r>
              <a:rPr lang="en-US" b="1" dirty="0">
                <a:latin typeface="Aptos Narrow" panose="020B0004020202020204" pitchFamily="34" charset="0"/>
              </a:rPr>
              <a:t>Tracking effectiveness</a:t>
            </a:r>
          </a:p>
          <a:p>
            <a:r>
              <a:rPr lang="en-US" b="1" dirty="0">
                <a:latin typeface="Aptos Narrow" panose="020B0004020202020204" pitchFamily="34" charset="0"/>
              </a:rPr>
              <a:t>Computational trade-off</a:t>
            </a:r>
          </a:p>
          <a:p>
            <a:r>
              <a:rPr lang="en-US" b="1" dirty="0">
                <a:latin typeface="Aptos Narrow" panose="020B0004020202020204" pitchFamily="34" charset="0"/>
              </a:rPr>
              <a:t>Effectiveness</a:t>
            </a:r>
            <a:r>
              <a:rPr lang="en-US" dirty="0">
                <a:latin typeface="Aptos Narrow" panose="020B0004020202020204" pitchFamily="34" charset="0"/>
              </a:rPr>
              <a:t> in using </a:t>
            </a:r>
            <a:r>
              <a:rPr lang="en-US" b="1" dirty="0">
                <a:latin typeface="Aptos Narrow" panose="020B0004020202020204" pitchFamily="34" charset="0"/>
              </a:rPr>
              <a:t>CVaR</a:t>
            </a:r>
          </a:p>
          <a:p>
            <a:r>
              <a:rPr lang="en-US" b="1" dirty="0">
                <a:latin typeface="Aptos Narrow" panose="020B0004020202020204" pitchFamily="34" charset="0"/>
              </a:rPr>
              <a:t>Advantage on classic benchmarks</a:t>
            </a:r>
          </a:p>
        </p:txBody>
      </p:sp>
    </p:spTree>
    <p:extLst>
      <p:ext uri="{BB962C8B-B14F-4D97-AF65-F5344CB8AC3E}">
        <p14:creationId xmlns:p14="http://schemas.microsoft.com/office/powerpoint/2010/main" val="23555697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C5F6424-DD70-C247-DD93-C0FEAB055C20}"/>
              </a:ext>
            </a:extLst>
          </p:cNvPr>
          <p:cNvSpPr>
            <a:spLocks noGrp="1"/>
          </p:cNvSpPr>
          <p:nvPr>
            <p:ph type="title"/>
          </p:nvPr>
        </p:nvSpPr>
        <p:spPr/>
        <p:txBody>
          <a:bodyPr/>
          <a:lstStyle/>
          <a:p>
            <a:r>
              <a:rPr lang="it-IT" dirty="0">
                <a:latin typeface="Aptos Narrow" panose="020B0004020202020204" pitchFamily="34" charset="0"/>
              </a:rPr>
              <a:t>CONCLUDING REMARKS</a:t>
            </a:r>
            <a:br>
              <a:rPr lang="it-IT" dirty="0"/>
            </a:br>
            <a:endParaRPr lang="it-IT" dirty="0"/>
          </a:p>
        </p:txBody>
      </p:sp>
      <p:sp>
        <p:nvSpPr>
          <p:cNvPr id="3" name="Segnaposto contenuto 2">
            <a:extLst>
              <a:ext uri="{FF2B5EF4-FFF2-40B4-BE49-F238E27FC236}">
                <a16:creationId xmlns:a16="http://schemas.microsoft.com/office/drawing/2014/main" id="{4FFEA833-D50D-3D22-CF38-39A3D70D998E}"/>
              </a:ext>
            </a:extLst>
          </p:cNvPr>
          <p:cNvSpPr>
            <a:spLocks noGrp="1"/>
          </p:cNvSpPr>
          <p:nvPr>
            <p:ph idx="1"/>
          </p:nvPr>
        </p:nvSpPr>
        <p:spPr/>
        <p:txBody>
          <a:bodyPr>
            <a:normAutofit/>
          </a:bodyPr>
          <a:lstStyle/>
          <a:p>
            <a:r>
              <a:rPr lang="en-US" sz="2100" dirty="0">
                <a:latin typeface="Aptos Narrow" panose="020B0004020202020204" pitchFamily="34" charset="0"/>
              </a:rPr>
              <a:t>In the model studied, the authors set the annual target return of 15%. Although it may seem like a financial utopia, when the risk-free rate offers returns that often travel between 8% and 13% per year just to counter inflation (as in the case of the Brazilian market), the stock market must offer a significantly higher risk premium to attract capital</a:t>
            </a:r>
          </a:p>
          <a:p>
            <a:endParaRPr lang="en-US" sz="2100" dirty="0">
              <a:latin typeface="Aptos Narrow" panose="020B0004020202020204" pitchFamily="34" charset="0"/>
            </a:endParaRPr>
          </a:p>
          <a:p>
            <a:r>
              <a:rPr lang="en-US" sz="2100" dirty="0">
                <a:latin typeface="Aptos Narrow" panose="020B0004020202020204" pitchFamily="34" charset="0"/>
              </a:rPr>
              <a:t>Therefore, if we went to consider this algorithm implemented within a context like the Italian or European one, the dynamics would be radically different</a:t>
            </a:r>
          </a:p>
        </p:txBody>
      </p:sp>
    </p:spTree>
    <p:extLst>
      <p:ext uri="{BB962C8B-B14F-4D97-AF65-F5344CB8AC3E}">
        <p14:creationId xmlns:p14="http://schemas.microsoft.com/office/powerpoint/2010/main" val="36322091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Grafico su documento con penna">
            <a:extLst>
              <a:ext uri="{FF2B5EF4-FFF2-40B4-BE49-F238E27FC236}">
                <a16:creationId xmlns:a16="http://schemas.microsoft.com/office/drawing/2014/main" id="{457A0578-78EA-9901-B18E-FA257B86C356}"/>
              </a:ext>
            </a:extLst>
          </p:cNvPr>
          <p:cNvPicPr>
            <a:picLocks noChangeAspect="1"/>
          </p:cNvPicPr>
          <p:nvPr/>
        </p:nvPicPr>
        <p:blipFill>
          <a:blip r:embed="rId2">
            <a:alphaModFix amt="60000"/>
          </a:blip>
          <a:srcRect t="1415" b="14315"/>
          <a:stretch>
            <a:fillRect/>
          </a:stretch>
        </p:blipFill>
        <p:spPr>
          <a:xfrm>
            <a:off x="0" y="-1"/>
            <a:ext cx="12192000" cy="6857999"/>
          </a:xfrm>
          <a:prstGeom prst="rect">
            <a:avLst/>
          </a:prstGeom>
        </p:spPr>
      </p:pic>
      <p:sp>
        <p:nvSpPr>
          <p:cNvPr id="2" name="Titolo 1">
            <a:extLst>
              <a:ext uri="{FF2B5EF4-FFF2-40B4-BE49-F238E27FC236}">
                <a16:creationId xmlns:a16="http://schemas.microsoft.com/office/drawing/2014/main" id="{B7108734-E588-E7A2-1AB8-1CB4DE22E871}"/>
              </a:ext>
            </a:extLst>
          </p:cNvPr>
          <p:cNvSpPr>
            <a:spLocks noGrp="1"/>
          </p:cNvSpPr>
          <p:nvPr>
            <p:ph type="title"/>
          </p:nvPr>
        </p:nvSpPr>
        <p:spPr>
          <a:xfrm>
            <a:off x="2301923" y="1482602"/>
            <a:ext cx="7588155" cy="2236264"/>
          </a:xfrm>
        </p:spPr>
        <p:txBody>
          <a:bodyPr vert="horz" lIns="91440" tIns="45720" rIns="91440" bIns="45720" rtlCol="0" anchor="b">
            <a:normAutofit/>
          </a:bodyPr>
          <a:lstStyle/>
          <a:p>
            <a:pPr algn="ctr"/>
            <a:r>
              <a:rPr lang="en-US" sz="5400">
                <a:solidFill>
                  <a:srgbClr val="FFFFFF"/>
                </a:solidFill>
              </a:rPr>
              <a:t>THANKS FOR THE ATTENTION</a:t>
            </a:r>
          </a:p>
        </p:txBody>
      </p:sp>
    </p:spTree>
    <p:extLst>
      <p:ext uri="{BB962C8B-B14F-4D97-AF65-F5344CB8AC3E}">
        <p14:creationId xmlns:p14="http://schemas.microsoft.com/office/powerpoint/2010/main" val="272962284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364</TotalTime>
  <Words>2641</Words>
  <Application>Microsoft Office PowerPoint</Application>
  <PresentationFormat>Widescreen</PresentationFormat>
  <Paragraphs>190</Paragraphs>
  <Slides>40</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40</vt:i4>
      </vt:variant>
    </vt:vector>
  </HeadingPairs>
  <TitlesOfParts>
    <vt:vector size="46" baseType="lpstr">
      <vt:lpstr>Aptos Narrow</vt:lpstr>
      <vt:lpstr>Arial</vt:lpstr>
      <vt:lpstr>Cambria Math</vt:lpstr>
      <vt:lpstr>Cascadia Code ExtraLight</vt:lpstr>
      <vt:lpstr>Neue Haas Grotesk Text Pro</vt:lpstr>
      <vt:lpstr>VanillaVTI</vt:lpstr>
      <vt:lpstr>Project based on:  INVESTMENT PORTFOLIO TRACKING USING MODEL PREDICTIVE CONTROL</vt:lpstr>
      <vt:lpstr>INTRODUCTION</vt:lpstr>
      <vt:lpstr>MODEL PREDICTIVE CONTROL</vt:lpstr>
      <vt:lpstr>KEY POINTS</vt:lpstr>
      <vt:lpstr>PORTFOLIO WEALTH </vt:lpstr>
      <vt:lpstr>CLOSING PRICE AS RETURN</vt:lpstr>
      <vt:lpstr>PORTFOLIO WEALTH</vt:lpstr>
      <vt:lpstr>PREDICTION MODEL </vt:lpstr>
      <vt:lpstr>TRACKING MPC: QUADRATIC STANDARD </vt:lpstr>
      <vt:lpstr>COST FUNCTION</vt:lpstr>
      <vt:lpstr>QUADRATIC COSTS</vt:lpstr>
      <vt:lpstr>OPTIMAL CONTROL PROBLEM (OCP) </vt:lpstr>
      <vt:lpstr>TRACKING MPC: AS LOSS FUNCTION OF CVaR </vt:lpstr>
      <vt:lpstr>CVaR</vt:lpstr>
      <vt:lpstr>MONTE CARLO</vt:lpstr>
      <vt:lpstr>LOSS FUNCTION</vt:lpstr>
      <vt:lpstr>MPC STANDARD vs MPC with CVaR</vt:lpstr>
      <vt:lpstr>NUMERICAL EXPERIMENTS - INTRODUCTION </vt:lpstr>
      <vt:lpstr>DATASET</vt:lpstr>
      <vt:lpstr>TICKER SYMBOL</vt:lpstr>
      <vt:lpstr>PERIOD EXAMINED</vt:lpstr>
      <vt:lpstr>SELIC RATE</vt:lpstr>
      <vt:lpstr>FPH-MPC vs VPH-MPC</vt:lpstr>
      <vt:lpstr>PREMISE </vt:lpstr>
      <vt:lpstr>RESULT 1</vt:lpstr>
      <vt:lpstr>RESULT 1 - COMMENT</vt:lpstr>
      <vt:lpstr>RESULT 2</vt:lpstr>
      <vt:lpstr>RESULT 2 - COMMENT</vt:lpstr>
      <vt:lpstr>PARETO FRONT</vt:lpstr>
      <vt:lpstr>RESULT 3</vt:lpstr>
      <vt:lpstr>RESULT 4</vt:lpstr>
      <vt:lpstr>RESULT 5</vt:lpstr>
      <vt:lpstr>RESULT 5 - COMMENT</vt:lpstr>
      <vt:lpstr>RESULT 6</vt:lpstr>
      <vt:lpstr>FINAL RESULT</vt:lpstr>
      <vt:lpstr>OBSERVATION</vt:lpstr>
      <vt:lpstr>CONCLUSIONS: project</vt:lpstr>
      <vt:lpstr>CONCLUSIONS: paper</vt:lpstr>
      <vt:lpstr>CONCLUDING REMARKS </vt:lpstr>
      <vt:lpstr>THANKS FOR THE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Alessandro Di Santo</dc:creator>
  <cp:lastModifiedBy>Alessandro Di Santo</cp:lastModifiedBy>
  <cp:revision>10</cp:revision>
  <dcterms:created xsi:type="dcterms:W3CDTF">2026-02-25T20:37:40Z</dcterms:created>
  <dcterms:modified xsi:type="dcterms:W3CDTF">2026-02-26T02:42:33Z</dcterms:modified>
</cp:coreProperties>
</file>